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893981" y="1486"/>
            <a:ext cx="2393586" cy="22362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1024" y="431831"/>
            <a:ext cx="15105950" cy="2301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478" y="2957214"/>
            <a:ext cx="10701020" cy="2387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4.jpg"/><Relationship Id="rId4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4.jpg"/><Relationship Id="rId4" Type="http://schemas.openxmlformats.org/officeDocument/2006/relationships/image" Target="../media/image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" y="8981554"/>
            <a:ext cx="2806699" cy="130544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71771" y="0"/>
            <a:ext cx="2806699" cy="1303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1262" y="3106783"/>
            <a:ext cx="12569190" cy="17208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18820" marR="5080" indent="-706755">
              <a:lnSpc>
                <a:spcPct val="115900"/>
              </a:lnSpc>
              <a:spcBef>
                <a:spcPts val="100"/>
              </a:spcBef>
            </a:pPr>
            <a:r>
              <a:rPr dirty="0" sz="4800" spc="-25"/>
              <a:t>HATE</a:t>
            </a:r>
            <a:r>
              <a:rPr dirty="0" sz="4800" spc="-160"/>
              <a:t> </a:t>
            </a:r>
            <a:r>
              <a:rPr dirty="0" sz="4800"/>
              <a:t>SPEECH</a:t>
            </a:r>
            <a:r>
              <a:rPr dirty="0" sz="4800" spc="-160"/>
              <a:t> </a:t>
            </a:r>
            <a:r>
              <a:rPr dirty="0" sz="4800"/>
              <a:t>DETECTION</a:t>
            </a:r>
            <a:r>
              <a:rPr dirty="0" sz="4800" spc="-160"/>
              <a:t> </a:t>
            </a:r>
            <a:r>
              <a:rPr dirty="0" sz="4800"/>
              <a:t>&amp;</a:t>
            </a:r>
            <a:r>
              <a:rPr dirty="0" sz="4800" spc="-315"/>
              <a:t> </a:t>
            </a:r>
            <a:r>
              <a:rPr dirty="0" sz="4800" spc="-30"/>
              <a:t>ANALYSIS</a:t>
            </a:r>
            <a:r>
              <a:rPr dirty="0" sz="4800" spc="-160"/>
              <a:t> </a:t>
            </a:r>
            <a:r>
              <a:rPr dirty="0" sz="4800" spc="-25"/>
              <a:t>IN </a:t>
            </a:r>
            <a:r>
              <a:rPr dirty="0" sz="4800"/>
              <a:t>ONLINE</a:t>
            </a:r>
            <a:r>
              <a:rPr dirty="0" sz="4800" spc="-190"/>
              <a:t> </a:t>
            </a:r>
            <a:r>
              <a:rPr dirty="0" sz="4800" spc="-20"/>
              <a:t>HEALTHCARE</a:t>
            </a:r>
            <a:r>
              <a:rPr dirty="0" sz="4800" spc="-185"/>
              <a:t> </a:t>
            </a:r>
            <a:r>
              <a:rPr dirty="0" sz="4800" spc="-10"/>
              <a:t>COMMUNITIES</a:t>
            </a:r>
            <a:endParaRPr sz="4800"/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75935" y="9531890"/>
            <a:ext cx="1514448" cy="7543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01910" y="0"/>
            <a:ext cx="1514474" cy="75819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5191376" y="9213896"/>
            <a:ext cx="3096895" cy="1071880"/>
          </a:xfrm>
          <a:custGeom>
            <a:avLst/>
            <a:gdLst/>
            <a:ahLst/>
            <a:cxnLst/>
            <a:rect l="l" t="t" r="r" b="b"/>
            <a:pathLst>
              <a:path w="3096894" h="1071879">
                <a:moveTo>
                  <a:pt x="40711" y="1071879"/>
                </a:moveTo>
                <a:lnTo>
                  <a:pt x="0" y="1071879"/>
                </a:lnTo>
                <a:lnTo>
                  <a:pt x="5621" y="1060449"/>
                </a:lnTo>
                <a:lnTo>
                  <a:pt x="25841" y="1019809"/>
                </a:lnTo>
                <a:lnTo>
                  <a:pt x="47010" y="979169"/>
                </a:lnTo>
                <a:lnTo>
                  <a:pt x="69112" y="939799"/>
                </a:lnTo>
                <a:lnTo>
                  <a:pt x="92133" y="901699"/>
                </a:lnTo>
                <a:lnTo>
                  <a:pt x="116058" y="863599"/>
                </a:lnTo>
                <a:lnTo>
                  <a:pt x="140872" y="825499"/>
                </a:lnTo>
                <a:lnTo>
                  <a:pt x="166561" y="788669"/>
                </a:lnTo>
                <a:lnTo>
                  <a:pt x="193110" y="751839"/>
                </a:lnTo>
                <a:lnTo>
                  <a:pt x="220503" y="716279"/>
                </a:lnTo>
                <a:lnTo>
                  <a:pt x="248727" y="680719"/>
                </a:lnTo>
                <a:lnTo>
                  <a:pt x="277765" y="646429"/>
                </a:lnTo>
                <a:lnTo>
                  <a:pt x="307604" y="613409"/>
                </a:lnTo>
                <a:lnTo>
                  <a:pt x="338229" y="580389"/>
                </a:lnTo>
                <a:lnTo>
                  <a:pt x="369624" y="548639"/>
                </a:lnTo>
                <a:lnTo>
                  <a:pt x="401776" y="516889"/>
                </a:lnTo>
                <a:lnTo>
                  <a:pt x="434669" y="486409"/>
                </a:lnTo>
                <a:lnTo>
                  <a:pt x="468287" y="455929"/>
                </a:lnTo>
                <a:lnTo>
                  <a:pt x="502618" y="427989"/>
                </a:lnTo>
                <a:lnTo>
                  <a:pt x="537645" y="398779"/>
                </a:lnTo>
                <a:lnTo>
                  <a:pt x="573354" y="372109"/>
                </a:lnTo>
                <a:lnTo>
                  <a:pt x="609730" y="345439"/>
                </a:lnTo>
                <a:lnTo>
                  <a:pt x="646759" y="320039"/>
                </a:lnTo>
                <a:lnTo>
                  <a:pt x="684424" y="294639"/>
                </a:lnTo>
                <a:lnTo>
                  <a:pt x="722713" y="270509"/>
                </a:lnTo>
                <a:lnTo>
                  <a:pt x="761609" y="247649"/>
                </a:lnTo>
                <a:lnTo>
                  <a:pt x="841166" y="204469"/>
                </a:lnTo>
                <a:lnTo>
                  <a:pt x="881797" y="184149"/>
                </a:lnTo>
                <a:lnTo>
                  <a:pt x="922977" y="165099"/>
                </a:lnTo>
                <a:lnTo>
                  <a:pt x="1006922" y="129539"/>
                </a:lnTo>
                <a:lnTo>
                  <a:pt x="1049658" y="113029"/>
                </a:lnTo>
                <a:lnTo>
                  <a:pt x="1092884" y="97789"/>
                </a:lnTo>
                <a:lnTo>
                  <a:pt x="1136584" y="83819"/>
                </a:lnTo>
                <a:lnTo>
                  <a:pt x="1225348" y="58419"/>
                </a:lnTo>
                <a:lnTo>
                  <a:pt x="1270383" y="46989"/>
                </a:lnTo>
                <a:lnTo>
                  <a:pt x="1361683" y="29209"/>
                </a:lnTo>
                <a:lnTo>
                  <a:pt x="1454526" y="13969"/>
                </a:lnTo>
                <a:lnTo>
                  <a:pt x="1501488" y="8889"/>
                </a:lnTo>
                <a:lnTo>
                  <a:pt x="1596423" y="1269"/>
                </a:lnTo>
                <a:lnTo>
                  <a:pt x="1644364" y="0"/>
                </a:lnTo>
                <a:lnTo>
                  <a:pt x="1740841" y="0"/>
                </a:lnTo>
                <a:lnTo>
                  <a:pt x="1788783" y="1269"/>
                </a:lnTo>
                <a:lnTo>
                  <a:pt x="1883716" y="8889"/>
                </a:lnTo>
                <a:lnTo>
                  <a:pt x="1930678" y="13969"/>
                </a:lnTo>
                <a:lnTo>
                  <a:pt x="2061727" y="35559"/>
                </a:lnTo>
                <a:lnTo>
                  <a:pt x="1692603" y="35559"/>
                </a:lnTo>
                <a:lnTo>
                  <a:pt x="1596827" y="38099"/>
                </a:lnTo>
                <a:lnTo>
                  <a:pt x="1502313" y="45719"/>
                </a:lnTo>
                <a:lnTo>
                  <a:pt x="1455568" y="50799"/>
                </a:lnTo>
                <a:lnTo>
                  <a:pt x="1363176" y="66039"/>
                </a:lnTo>
                <a:lnTo>
                  <a:pt x="1317560" y="74929"/>
                </a:lnTo>
                <a:lnTo>
                  <a:pt x="1227564" y="95249"/>
                </a:lnTo>
                <a:lnTo>
                  <a:pt x="1183215" y="107949"/>
                </a:lnTo>
                <a:lnTo>
                  <a:pt x="1095889" y="135889"/>
                </a:lnTo>
                <a:lnTo>
                  <a:pt x="1052943" y="151129"/>
                </a:lnTo>
                <a:lnTo>
                  <a:pt x="1010495" y="167639"/>
                </a:lnTo>
                <a:lnTo>
                  <a:pt x="927156" y="203199"/>
                </a:lnTo>
                <a:lnTo>
                  <a:pt x="845992" y="243839"/>
                </a:lnTo>
                <a:lnTo>
                  <a:pt x="806264" y="264159"/>
                </a:lnTo>
                <a:lnTo>
                  <a:pt x="728593" y="309879"/>
                </a:lnTo>
                <a:lnTo>
                  <a:pt x="690680" y="334009"/>
                </a:lnTo>
                <a:lnTo>
                  <a:pt x="653402" y="359409"/>
                </a:lnTo>
                <a:lnTo>
                  <a:pt x="616775" y="384809"/>
                </a:lnTo>
                <a:lnTo>
                  <a:pt x="580814" y="412749"/>
                </a:lnTo>
                <a:lnTo>
                  <a:pt x="545534" y="439419"/>
                </a:lnTo>
                <a:lnTo>
                  <a:pt x="510950" y="468629"/>
                </a:lnTo>
                <a:lnTo>
                  <a:pt x="477078" y="497839"/>
                </a:lnTo>
                <a:lnTo>
                  <a:pt x="443932" y="527049"/>
                </a:lnTo>
                <a:lnTo>
                  <a:pt x="411528" y="558799"/>
                </a:lnTo>
                <a:lnTo>
                  <a:pt x="379882" y="590549"/>
                </a:lnTo>
                <a:lnTo>
                  <a:pt x="349008" y="622299"/>
                </a:lnTo>
                <a:lnTo>
                  <a:pt x="318921" y="655319"/>
                </a:lnTo>
                <a:lnTo>
                  <a:pt x="289638" y="689609"/>
                </a:lnTo>
                <a:lnTo>
                  <a:pt x="261173" y="723899"/>
                </a:lnTo>
                <a:lnTo>
                  <a:pt x="233541" y="759459"/>
                </a:lnTo>
                <a:lnTo>
                  <a:pt x="206757" y="795019"/>
                </a:lnTo>
                <a:lnTo>
                  <a:pt x="180837" y="831849"/>
                </a:lnTo>
                <a:lnTo>
                  <a:pt x="155797" y="868679"/>
                </a:lnTo>
                <a:lnTo>
                  <a:pt x="131650" y="906779"/>
                </a:lnTo>
                <a:lnTo>
                  <a:pt x="108413" y="946149"/>
                </a:lnTo>
                <a:lnTo>
                  <a:pt x="86101" y="984249"/>
                </a:lnTo>
                <a:lnTo>
                  <a:pt x="64729" y="1024889"/>
                </a:lnTo>
                <a:lnTo>
                  <a:pt x="44312" y="1065529"/>
                </a:lnTo>
                <a:lnTo>
                  <a:pt x="40711" y="1071879"/>
                </a:lnTo>
                <a:close/>
              </a:path>
              <a:path w="3096894" h="1071879">
                <a:moveTo>
                  <a:pt x="3096623" y="690879"/>
                </a:moveTo>
                <a:lnTo>
                  <a:pt x="3095514" y="689609"/>
                </a:lnTo>
                <a:lnTo>
                  <a:pt x="3066233" y="655319"/>
                </a:lnTo>
                <a:lnTo>
                  <a:pt x="3036149" y="622299"/>
                </a:lnTo>
                <a:lnTo>
                  <a:pt x="3005277" y="590549"/>
                </a:lnTo>
                <a:lnTo>
                  <a:pt x="2973632" y="558799"/>
                </a:lnTo>
                <a:lnTo>
                  <a:pt x="2941231" y="527049"/>
                </a:lnTo>
                <a:lnTo>
                  <a:pt x="2908087" y="497839"/>
                </a:lnTo>
                <a:lnTo>
                  <a:pt x="2874217" y="468629"/>
                </a:lnTo>
                <a:lnTo>
                  <a:pt x="2839635" y="439419"/>
                </a:lnTo>
                <a:lnTo>
                  <a:pt x="2804357" y="412749"/>
                </a:lnTo>
                <a:lnTo>
                  <a:pt x="2768398" y="384809"/>
                </a:lnTo>
                <a:lnTo>
                  <a:pt x="2731773" y="359409"/>
                </a:lnTo>
                <a:lnTo>
                  <a:pt x="2694498" y="334009"/>
                </a:lnTo>
                <a:lnTo>
                  <a:pt x="2656587" y="309879"/>
                </a:lnTo>
                <a:lnTo>
                  <a:pt x="2578919" y="264159"/>
                </a:lnTo>
                <a:lnTo>
                  <a:pt x="2539194" y="243839"/>
                </a:lnTo>
                <a:lnTo>
                  <a:pt x="2458034" y="203199"/>
                </a:lnTo>
                <a:lnTo>
                  <a:pt x="2374697" y="167639"/>
                </a:lnTo>
                <a:lnTo>
                  <a:pt x="2332251" y="151129"/>
                </a:lnTo>
                <a:lnTo>
                  <a:pt x="2289307" y="135889"/>
                </a:lnTo>
                <a:lnTo>
                  <a:pt x="2201983" y="107949"/>
                </a:lnTo>
                <a:lnTo>
                  <a:pt x="2157635" y="95249"/>
                </a:lnTo>
                <a:lnTo>
                  <a:pt x="2067641" y="74929"/>
                </a:lnTo>
                <a:lnTo>
                  <a:pt x="2022026" y="66039"/>
                </a:lnTo>
                <a:lnTo>
                  <a:pt x="1929636" y="50799"/>
                </a:lnTo>
                <a:lnTo>
                  <a:pt x="1882891" y="45719"/>
                </a:lnTo>
                <a:lnTo>
                  <a:pt x="1788378" y="38099"/>
                </a:lnTo>
                <a:lnTo>
                  <a:pt x="1692603" y="35559"/>
                </a:lnTo>
                <a:lnTo>
                  <a:pt x="2061727" y="35559"/>
                </a:lnTo>
                <a:lnTo>
                  <a:pt x="2114818" y="46989"/>
                </a:lnTo>
                <a:lnTo>
                  <a:pt x="2159851" y="58419"/>
                </a:lnTo>
                <a:lnTo>
                  <a:pt x="2248613" y="83819"/>
                </a:lnTo>
                <a:lnTo>
                  <a:pt x="2292312" y="97789"/>
                </a:lnTo>
                <a:lnTo>
                  <a:pt x="2335536" y="113029"/>
                </a:lnTo>
                <a:lnTo>
                  <a:pt x="2378271" y="129539"/>
                </a:lnTo>
                <a:lnTo>
                  <a:pt x="2462213" y="165099"/>
                </a:lnTo>
                <a:lnTo>
                  <a:pt x="2503391" y="184149"/>
                </a:lnTo>
                <a:lnTo>
                  <a:pt x="2544020" y="204469"/>
                </a:lnTo>
                <a:lnTo>
                  <a:pt x="2623573" y="247649"/>
                </a:lnTo>
                <a:lnTo>
                  <a:pt x="2662468" y="270509"/>
                </a:lnTo>
                <a:lnTo>
                  <a:pt x="2700754" y="294639"/>
                </a:lnTo>
                <a:lnTo>
                  <a:pt x="2738418" y="320039"/>
                </a:lnTo>
                <a:lnTo>
                  <a:pt x="2775444" y="345439"/>
                </a:lnTo>
                <a:lnTo>
                  <a:pt x="2811818" y="372109"/>
                </a:lnTo>
                <a:lnTo>
                  <a:pt x="2847525" y="398779"/>
                </a:lnTo>
                <a:lnTo>
                  <a:pt x="2882550" y="426719"/>
                </a:lnTo>
                <a:lnTo>
                  <a:pt x="2916879" y="455929"/>
                </a:lnTo>
                <a:lnTo>
                  <a:pt x="2950495" y="486409"/>
                </a:lnTo>
                <a:lnTo>
                  <a:pt x="2983386" y="516889"/>
                </a:lnTo>
                <a:lnTo>
                  <a:pt x="3015535" y="548639"/>
                </a:lnTo>
                <a:lnTo>
                  <a:pt x="3046928" y="580389"/>
                </a:lnTo>
                <a:lnTo>
                  <a:pt x="3077551" y="613409"/>
                </a:lnTo>
                <a:lnTo>
                  <a:pt x="3096623" y="634999"/>
                </a:lnTo>
                <a:lnTo>
                  <a:pt x="3096623" y="690879"/>
                </a:lnTo>
                <a:close/>
              </a:path>
              <a:path w="3096894" h="1071879">
                <a:moveTo>
                  <a:pt x="474947" y="1071879"/>
                </a:moveTo>
                <a:lnTo>
                  <a:pt x="431140" y="1071879"/>
                </a:lnTo>
                <a:lnTo>
                  <a:pt x="451294" y="1041399"/>
                </a:lnTo>
                <a:lnTo>
                  <a:pt x="476989" y="1004569"/>
                </a:lnTo>
                <a:lnTo>
                  <a:pt x="503762" y="967739"/>
                </a:lnTo>
                <a:lnTo>
                  <a:pt x="531591" y="932179"/>
                </a:lnTo>
                <a:lnTo>
                  <a:pt x="560451" y="897889"/>
                </a:lnTo>
                <a:lnTo>
                  <a:pt x="590320" y="864869"/>
                </a:lnTo>
                <a:lnTo>
                  <a:pt x="621173" y="831849"/>
                </a:lnTo>
                <a:lnTo>
                  <a:pt x="652989" y="800099"/>
                </a:lnTo>
                <a:lnTo>
                  <a:pt x="685742" y="768349"/>
                </a:lnTo>
                <a:lnTo>
                  <a:pt x="719411" y="739139"/>
                </a:lnTo>
                <a:lnTo>
                  <a:pt x="753971" y="709929"/>
                </a:lnTo>
                <a:lnTo>
                  <a:pt x="789399" y="681989"/>
                </a:lnTo>
                <a:lnTo>
                  <a:pt x="825672" y="655319"/>
                </a:lnTo>
                <a:lnTo>
                  <a:pt x="862767" y="629919"/>
                </a:lnTo>
                <a:lnTo>
                  <a:pt x="900660" y="605789"/>
                </a:lnTo>
                <a:lnTo>
                  <a:pt x="939328" y="581659"/>
                </a:lnTo>
                <a:lnTo>
                  <a:pt x="1018894" y="538479"/>
                </a:lnTo>
                <a:lnTo>
                  <a:pt x="1059747" y="518159"/>
                </a:lnTo>
                <a:lnTo>
                  <a:pt x="1101280" y="499109"/>
                </a:lnTo>
                <a:lnTo>
                  <a:pt x="1186298" y="466089"/>
                </a:lnTo>
                <a:lnTo>
                  <a:pt x="1229736" y="450849"/>
                </a:lnTo>
                <a:lnTo>
                  <a:pt x="1273762" y="436879"/>
                </a:lnTo>
                <a:lnTo>
                  <a:pt x="1363484" y="414019"/>
                </a:lnTo>
                <a:lnTo>
                  <a:pt x="1455279" y="396239"/>
                </a:lnTo>
                <a:lnTo>
                  <a:pt x="1501894" y="389889"/>
                </a:lnTo>
                <a:lnTo>
                  <a:pt x="1548958" y="384809"/>
                </a:lnTo>
                <a:lnTo>
                  <a:pt x="1596446" y="380999"/>
                </a:lnTo>
                <a:lnTo>
                  <a:pt x="1644336" y="378459"/>
                </a:lnTo>
                <a:lnTo>
                  <a:pt x="1692603" y="377189"/>
                </a:lnTo>
                <a:lnTo>
                  <a:pt x="1740870" y="378459"/>
                </a:lnTo>
                <a:lnTo>
                  <a:pt x="1788759" y="380999"/>
                </a:lnTo>
                <a:lnTo>
                  <a:pt x="1836248" y="384809"/>
                </a:lnTo>
                <a:lnTo>
                  <a:pt x="1883311" y="389889"/>
                </a:lnTo>
                <a:lnTo>
                  <a:pt x="1929927" y="396239"/>
                </a:lnTo>
                <a:lnTo>
                  <a:pt x="2021721" y="414019"/>
                </a:lnTo>
                <a:lnTo>
                  <a:pt x="1692603" y="414019"/>
                </a:lnTo>
                <a:lnTo>
                  <a:pt x="1644587" y="415289"/>
                </a:lnTo>
                <a:lnTo>
                  <a:pt x="1596956" y="417829"/>
                </a:lnTo>
                <a:lnTo>
                  <a:pt x="1549732" y="421639"/>
                </a:lnTo>
                <a:lnTo>
                  <a:pt x="1502940" y="426719"/>
                </a:lnTo>
                <a:lnTo>
                  <a:pt x="1456605" y="433069"/>
                </a:lnTo>
                <a:lnTo>
                  <a:pt x="1365399" y="450849"/>
                </a:lnTo>
                <a:lnTo>
                  <a:pt x="1320578" y="462279"/>
                </a:lnTo>
                <a:lnTo>
                  <a:pt x="1276309" y="474979"/>
                </a:lnTo>
                <a:lnTo>
                  <a:pt x="1232618" y="488949"/>
                </a:lnTo>
                <a:lnTo>
                  <a:pt x="1189528" y="504189"/>
                </a:lnTo>
                <a:lnTo>
                  <a:pt x="1147063" y="520699"/>
                </a:lnTo>
                <a:lnTo>
                  <a:pt x="1105249" y="538479"/>
                </a:lnTo>
                <a:lnTo>
                  <a:pt x="1064108" y="557529"/>
                </a:lnTo>
                <a:lnTo>
                  <a:pt x="983944" y="598169"/>
                </a:lnTo>
                <a:lnTo>
                  <a:pt x="944970" y="621029"/>
                </a:lnTo>
                <a:lnTo>
                  <a:pt x="906766" y="645159"/>
                </a:lnTo>
                <a:lnTo>
                  <a:pt x="869357" y="669289"/>
                </a:lnTo>
                <a:lnTo>
                  <a:pt x="832767" y="695959"/>
                </a:lnTo>
                <a:lnTo>
                  <a:pt x="797020" y="722629"/>
                </a:lnTo>
                <a:lnTo>
                  <a:pt x="762141" y="750569"/>
                </a:lnTo>
                <a:lnTo>
                  <a:pt x="728153" y="779779"/>
                </a:lnTo>
                <a:lnTo>
                  <a:pt x="695080" y="810259"/>
                </a:lnTo>
                <a:lnTo>
                  <a:pt x="662947" y="842009"/>
                </a:lnTo>
                <a:lnTo>
                  <a:pt x="631779" y="873759"/>
                </a:lnTo>
                <a:lnTo>
                  <a:pt x="601598" y="906779"/>
                </a:lnTo>
                <a:lnTo>
                  <a:pt x="572430" y="941069"/>
                </a:lnTo>
                <a:lnTo>
                  <a:pt x="544298" y="975359"/>
                </a:lnTo>
                <a:lnTo>
                  <a:pt x="517227" y="1010919"/>
                </a:lnTo>
                <a:lnTo>
                  <a:pt x="491241" y="1047749"/>
                </a:lnTo>
                <a:lnTo>
                  <a:pt x="474947" y="1071879"/>
                </a:lnTo>
                <a:close/>
              </a:path>
              <a:path w="3096894" h="1071879">
                <a:moveTo>
                  <a:pt x="2954092" y="1071879"/>
                </a:moveTo>
                <a:lnTo>
                  <a:pt x="2910208" y="1071879"/>
                </a:lnTo>
                <a:lnTo>
                  <a:pt x="2893940" y="1047749"/>
                </a:lnTo>
                <a:lnTo>
                  <a:pt x="2867952" y="1010919"/>
                </a:lnTo>
                <a:lnTo>
                  <a:pt x="2840879" y="975359"/>
                </a:lnTo>
                <a:lnTo>
                  <a:pt x="2812746" y="941069"/>
                </a:lnTo>
                <a:lnTo>
                  <a:pt x="2783576" y="906779"/>
                </a:lnTo>
                <a:lnTo>
                  <a:pt x="2753394" y="873759"/>
                </a:lnTo>
                <a:lnTo>
                  <a:pt x="2722224" y="842009"/>
                </a:lnTo>
                <a:lnTo>
                  <a:pt x="2690090" y="810259"/>
                </a:lnTo>
                <a:lnTo>
                  <a:pt x="2657016" y="779779"/>
                </a:lnTo>
                <a:lnTo>
                  <a:pt x="2623027" y="750569"/>
                </a:lnTo>
                <a:lnTo>
                  <a:pt x="2588146" y="722629"/>
                </a:lnTo>
                <a:lnTo>
                  <a:pt x="2552399" y="695959"/>
                </a:lnTo>
                <a:lnTo>
                  <a:pt x="2515808" y="669289"/>
                </a:lnTo>
                <a:lnTo>
                  <a:pt x="2478399" y="645159"/>
                </a:lnTo>
                <a:lnTo>
                  <a:pt x="2440195" y="621029"/>
                </a:lnTo>
                <a:lnTo>
                  <a:pt x="2401221" y="598169"/>
                </a:lnTo>
                <a:lnTo>
                  <a:pt x="2321058" y="557529"/>
                </a:lnTo>
                <a:lnTo>
                  <a:pt x="2279918" y="538479"/>
                </a:lnTo>
                <a:lnTo>
                  <a:pt x="2238104" y="520699"/>
                </a:lnTo>
                <a:lnTo>
                  <a:pt x="2195641" y="504189"/>
                </a:lnTo>
                <a:lnTo>
                  <a:pt x="2152552" y="488949"/>
                </a:lnTo>
                <a:lnTo>
                  <a:pt x="2108863" y="474979"/>
                </a:lnTo>
                <a:lnTo>
                  <a:pt x="2064597" y="462279"/>
                </a:lnTo>
                <a:lnTo>
                  <a:pt x="2019778" y="450849"/>
                </a:lnTo>
                <a:lnTo>
                  <a:pt x="1928579" y="433069"/>
                </a:lnTo>
                <a:lnTo>
                  <a:pt x="1882247" y="426719"/>
                </a:lnTo>
                <a:lnTo>
                  <a:pt x="1835459" y="421639"/>
                </a:lnTo>
                <a:lnTo>
                  <a:pt x="1788240" y="417829"/>
                </a:lnTo>
                <a:lnTo>
                  <a:pt x="1740613" y="415289"/>
                </a:lnTo>
                <a:lnTo>
                  <a:pt x="1692603" y="414019"/>
                </a:lnTo>
                <a:lnTo>
                  <a:pt x="2021721" y="414019"/>
                </a:lnTo>
                <a:lnTo>
                  <a:pt x="2111444" y="436879"/>
                </a:lnTo>
                <a:lnTo>
                  <a:pt x="2155469" y="450849"/>
                </a:lnTo>
                <a:lnTo>
                  <a:pt x="2198907" y="466089"/>
                </a:lnTo>
                <a:lnTo>
                  <a:pt x="2283925" y="499109"/>
                </a:lnTo>
                <a:lnTo>
                  <a:pt x="2325459" y="518159"/>
                </a:lnTo>
                <a:lnTo>
                  <a:pt x="2366311" y="538479"/>
                </a:lnTo>
                <a:lnTo>
                  <a:pt x="2445878" y="581659"/>
                </a:lnTo>
                <a:lnTo>
                  <a:pt x="2484546" y="605789"/>
                </a:lnTo>
                <a:lnTo>
                  <a:pt x="2522438" y="629919"/>
                </a:lnTo>
                <a:lnTo>
                  <a:pt x="2559533" y="655319"/>
                </a:lnTo>
                <a:lnTo>
                  <a:pt x="2595806" y="681989"/>
                </a:lnTo>
                <a:lnTo>
                  <a:pt x="2631235" y="709929"/>
                </a:lnTo>
                <a:lnTo>
                  <a:pt x="2665795" y="739139"/>
                </a:lnTo>
                <a:lnTo>
                  <a:pt x="2699463" y="768349"/>
                </a:lnTo>
                <a:lnTo>
                  <a:pt x="2732217" y="800099"/>
                </a:lnTo>
                <a:lnTo>
                  <a:pt x="2764032" y="831849"/>
                </a:lnTo>
                <a:lnTo>
                  <a:pt x="2794886" y="864869"/>
                </a:lnTo>
                <a:lnTo>
                  <a:pt x="2824754" y="897889"/>
                </a:lnTo>
                <a:lnTo>
                  <a:pt x="2853615" y="932179"/>
                </a:lnTo>
                <a:lnTo>
                  <a:pt x="2881443" y="967739"/>
                </a:lnTo>
                <a:lnTo>
                  <a:pt x="2908217" y="1004569"/>
                </a:lnTo>
                <a:lnTo>
                  <a:pt x="2933912" y="1041399"/>
                </a:lnTo>
                <a:lnTo>
                  <a:pt x="2954092" y="1071879"/>
                </a:lnTo>
                <a:close/>
              </a:path>
              <a:path w="3096894" h="1071879">
                <a:moveTo>
                  <a:pt x="1733596" y="756919"/>
                </a:moveTo>
                <a:lnTo>
                  <a:pt x="1651488" y="756919"/>
                </a:lnTo>
                <a:lnTo>
                  <a:pt x="1665168" y="755649"/>
                </a:lnTo>
                <a:lnTo>
                  <a:pt x="1719915" y="755649"/>
                </a:lnTo>
                <a:lnTo>
                  <a:pt x="1733596" y="756919"/>
                </a:lnTo>
                <a:close/>
              </a:path>
              <a:path w="3096894" h="1071879">
                <a:moveTo>
                  <a:pt x="1760941" y="758189"/>
                </a:moveTo>
                <a:lnTo>
                  <a:pt x="1624143" y="758189"/>
                </a:lnTo>
                <a:lnTo>
                  <a:pt x="1637811" y="756919"/>
                </a:lnTo>
                <a:lnTo>
                  <a:pt x="1747272" y="756919"/>
                </a:lnTo>
                <a:lnTo>
                  <a:pt x="1760941" y="758189"/>
                </a:lnTo>
                <a:close/>
              </a:path>
              <a:path w="3096894" h="1071879">
                <a:moveTo>
                  <a:pt x="967638" y="1071879"/>
                </a:moveTo>
                <a:lnTo>
                  <a:pt x="913918" y="1071879"/>
                </a:lnTo>
                <a:lnTo>
                  <a:pt x="923417" y="1062989"/>
                </a:lnTo>
                <a:lnTo>
                  <a:pt x="933387" y="1054099"/>
                </a:lnTo>
                <a:lnTo>
                  <a:pt x="943474" y="1045209"/>
                </a:lnTo>
                <a:lnTo>
                  <a:pt x="953673" y="1035049"/>
                </a:lnTo>
                <a:lnTo>
                  <a:pt x="963982" y="1026159"/>
                </a:lnTo>
                <a:lnTo>
                  <a:pt x="984929" y="1008379"/>
                </a:lnTo>
                <a:lnTo>
                  <a:pt x="995564" y="1000759"/>
                </a:lnTo>
                <a:lnTo>
                  <a:pt x="1017144" y="982979"/>
                </a:lnTo>
                <a:lnTo>
                  <a:pt x="1039134" y="967739"/>
                </a:lnTo>
                <a:lnTo>
                  <a:pt x="1050276" y="958849"/>
                </a:lnTo>
                <a:lnTo>
                  <a:pt x="1061514" y="951229"/>
                </a:lnTo>
                <a:lnTo>
                  <a:pt x="1095797" y="928369"/>
                </a:lnTo>
                <a:lnTo>
                  <a:pt x="1107405" y="922019"/>
                </a:lnTo>
                <a:lnTo>
                  <a:pt x="1119103" y="914399"/>
                </a:lnTo>
                <a:lnTo>
                  <a:pt x="1130888" y="908049"/>
                </a:lnTo>
                <a:lnTo>
                  <a:pt x="1142755" y="900429"/>
                </a:lnTo>
                <a:lnTo>
                  <a:pt x="1154705" y="894079"/>
                </a:lnTo>
                <a:lnTo>
                  <a:pt x="1215640" y="862329"/>
                </a:lnTo>
                <a:lnTo>
                  <a:pt x="1228050" y="857249"/>
                </a:lnTo>
                <a:lnTo>
                  <a:pt x="1240529" y="850899"/>
                </a:lnTo>
                <a:lnTo>
                  <a:pt x="1316770" y="820419"/>
                </a:lnTo>
                <a:lnTo>
                  <a:pt x="1329687" y="816609"/>
                </a:lnTo>
                <a:lnTo>
                  <a:pt x="1342656" y="811529"/>
                </a:lnTo>
                <a:lnTo>
                  <a:pt x="1421518" y="788669"/>
                </a:lnTo>
                <a:lnTo>
                  <a:pt x="1434817" y="786129"/>
                </a:lnTo>
                <a:lnTo>
                  <a:pt x="1448153" y="782319"/>
                </a:lnTo>
                <a:lnTo>
                  <a:pt x="1515348" y="769619"/>
                </a:lnTo>
                <a:lnTo>
                  <a:pt x="1528877" y="768349"/>
                </a:lnTo>
                <a:lnTo>
                  <a:pt x="1542430" y="765809"/>
                </a:lnTo>
                <a:lnTo>
                  <a:pt x="1556003" y="764539"/>
                </a:lnTo>
                <a:lnTo>
                  <a:pt x="1569597" y="761999"/>
                </a:lnTo>
                <a:lnTo>
                  <a:pt x="1610487" y="758189"/>
                </a:lnTo>
                <a:lnTo>
                  <a:pt x="1774596" y="758189"/>
                </a:lnTo>
                <a:lnTo>
                  <a:pt x="1815486" y="761999"/>
                </a:lnTo>
                <a:lnTo>
                  <a:pt x="1829080" y="764539"/>
                </a:lnTo>
                <a:lnTo>
                  <a:pt x="1842653" y="765809"/>
                </a:lnTo>
                <a:lnTo>
                  <a:pt x="1856206" y="768349"/>
                </a:lnTo>
                <a:lnTo>
                  <a:pt x="1869735" y="769619"/>
                </a:lnTo>
                <a:lnTo>
                  <a:pt x="1936929" y="782319"/>
                </a:lnTo>
                <a:lnTo>
                  <a:pt x="1950265" y="786129"/>
                </a:lnTo>
                <a:lnTo>
                  <a:pt x="1963564" y="788669"/>
                </a:lnTo>
                <a:lnTo>
                  <a:pt x="1976777" y="792479"/>
                </a:lnTo>
                <a:lnTo>
                  <a:pt x="1666131" y="792479"/>
                </a:lnTo>
                <a:lnTo>
                  <a:pt x="1652902" y="793749"/>
                </a:lnTo>
                <a:lnTo>
                  <a:pt x="1639676" y="793749"/>
                </a:lnTo>
                <a:lnTo>
                  <a:pt x="1626458" y="795019"/>
                </a:lnTo>
                <a:lnTo>
                  <a:pt x="1613252" y="795019"/>
                </a:lnTo>
                <a:lnTo>
                  <a:pt x="1560564" y="800099"/>
                </a:lnTo>
                <a:lnTo>
                  <a:pt x="1547438" y="802639"/>
                </a:lnTo>
                <a:lnTo>
                  <a:pt x="1534331" y="803909"/>
                </a:lnTo>
                <a:lnTo>
                  <a:pt x="1508194" y="808989"/>
                </a:lnTo>
                <a:lnTo>
                  <a:pt x="1495166" y="810259"/>
                </a:lnTo>
                <a:lnTo>
                  <a:pt x="1469199" y="815339"/>
                </a:lnTo>
                <a:lnTo>
                  <a:pt x="1456267" y="819149"/>
                </a:lnTo>
                <a:lnTo>
                  <a:pt x="1443371" y="821689"/>
                </a:lnTo>
                <a:lnTo>
                  <a:pt x="1430510" y="825499"/>
                </a:lnTo>
                <a:lnTo>
                  <a:pt x="1417688" y="828039"/>
                </a:lnTo>
                <a:lnTo>
                  <a:pt x="1341704" y="850899"/>
                </a:lnTo>
                <a:lnTo>
                  <a:pt x="1329212" y="855979"/>
                </a:lnTo>
                <a:lnTo>
                  <a:pt x="1316775" y="859789"/>
                </a:lnTo>
                <a:lnTo>
                  <a:pt x="1243415" y="890269"/>
                </a:lnTo>
                <a:lnTo>
                  <a:pt x="1231413" y="896619"/>
                </a:lnTo>
                <a:lnTo>
                  <a:pt x="1219480" y="901699"/>
                </a:lnTo>
                <a:lnTo>
                  <a:pt x="1207621" y="908049"/>
                </a:lnTo>
                <a:lnTo>
                  <a:pt x="1195835" y="913129"/>
                </a:lnTo>
                <a:lnTo>
                  <a:pt x="1160928" y="932179"/>
                </a:lnTo>
                <a:lnTo>
                  <a:pt x="1149451" y="939799"/>
                </a:lnTo>
                <a:lnTo>
                  <a:pt x="1126742" y="952499"/>
                </a:lnTo>
                <a:lnTo>
                  <a:pt x="1115515" y="960119"/>
                </a:lnTo>
                <a:lnTo>
                  <a:pt x="1104376" y="966469"/>
                </a:lnTo>
                <a:lnTo>
                  <a:pt x="1071493" y="989329"/>
                </a:lnTo>
                <a:lnTo>
                  <a:pt x="1039451" y="1012189"/>
                </a:lnTo>
                <a:lnTo>
                  <a:pt x="1028966" y="1021079"/>
                </a:lnTo>
                <a:lnTo>
                  <a:pt x="1018582" y="1028699"/>
                </a:lnTo>
                <a:lnTo>
                  <a:pt x="1008297" y="1037589"/>
                </a:lnTo>
                <a:lnTo>
                  <a:pt x="998115" y="1045209"/>
                </a:lnTo>
                <a:lnTo>
                  <a:pt x="978069" y="1062989"/>
                </a:lnTo>
                <a:lnTo>
                  <a:pt x="967638" y="1071879"/>
                </a:lnTo>
                <a:close/>
              </a:path>
              <a:path w="3096894" h="1071879">
                <a:moveTo>
                  <a:pt x="2471103" y="1071879"/>
                </a:moveTo>
                <a:lnTo>
                  <a:pt x="2416573" y="1071879"/>
                </a:lnTo>
                <a:lnTo>
                  <a:pt x="2406715" y="1062989"/>
                </a:lnTo>
                <a:lnTo>
                  <a:pt x="2396751" y="1055369"/>
                </a:lnTo>
                <a:lnTo>
                  <a:pt x="2376505" y="1037589"/>
                </a:lnTo>
                <a:lnTo>
                  <a:pt x="2366226" y="1029969"/>
                </a:lnTo>
                <a:lnTo>
                  <a:pt x="2355847" y="1021079"/>
                </a:lnTo>
                <a:lnTo>
                  <a:pt x="2334791" y="1005839"/>
                </a:lnTo>
                <a:lnTo>
                  <a:pt x="2324116" y="996949"/>
                </a:lnTo>
                <a:lnTo>
                  <a:pt x="2302486" y="981709"/>
                </a:lnTo>
                <a:lnTo>
                  <a:pt x="2291531" y="975359"/>
                </a:lnTo>
                <a:lnTo>
                  <a:pt x="2269353" y="960119"/>
                </a:lnTo>
                <a:lnTo>
                  <a:pt x="2258134" y="953769"/>
                </a:lnTo>
                <a:lnTo>
                  <a:pt x="2246829" y="946149"/>
                </a:lnTo>
                <a:lnTo>
                  <a:pt x="2223971" y="933449"/>
                </a:lnTo>
                <a:lnTo>
                  <a:pt x="2165457" y="901699"/>
                </a:lnTo>
                <a:lnTo>
                  <a:pt x="2141539" y="891539"/>
                </a:lnTo>
                <a:lnTo>
                  <a:pt x="2129479" y="885189"/>
                </a:lnTo>
                <a:lnTo>
                  <a:pt x="2080597" y="864869"/>
                </a:lnTo>
                <a:lnTo>
                  <a:pt x="2068227" y="861059"/>
                </a:lnTo>
                <a:lnTo>
                  <a:pt x="2055798" y="855979"/>
                </a:lnTo>
                <a:lnTo>
                  <a:pt x="2043315" y="852169"/>
                </a:lnTo>
                <a:lnTo>
                  <a:pt x="2030780" y="847089"/>
                </a:lnTo>
                <a:lnTo>
                  <a:pt x="1967378" y="828039"/>
                </a:lnTo>
                <a:lnTo>
                  <a:pt x="1954564" y="825499"/>
                </a:lnTo>
                <a:lnTo>
                  <a:pt x="1941711" y="821689"/>
                </a:lnTo>
                <a:lnTo>
                  <a:pt x="1850802" y="803909"/>
                </a:lnTo>
                <a:lnTo>
                  <a:pt x="1824583" y="801369"/>
                </a:lnTo>
                <a:lnTo>
                  <a:pt x="1811443" y="798829"/>
                </a:lnTo>
                <a:lnTo>
                  <a:pt x="1771920" y="795019"/>
                </a:lnTo>
                <a:lnTo>
                  <a:pt x="1758720" y="795019"/>
                </a:lnTo>
                <a:lnTo>
                  <a:pt x="1745508" y="793749"/>
                </a:lnTo>
                <a:lnTo>
                  <a:pt x="1732288" y="793749"/>
                </a:lnTo>
                <a:lnTo>
                  <a:pt x="1719064" y="792479"/>
                </a:lnTo>
                <a:lnTo>
                  <a:pt x="1976777" y="792479"/>
                </a:lnTo>
                <a:lnTo>
                  <a:pt x="2042424" y="811529"/>
                </a:lnTo>
                <a:lnTo>
                  <a:pt x="2055394" y="816609"/>
                </a:lnTo>
                <a:lnTo>
                  <a:pt x="2068311" y="820419"/>
                </a:lnTo>
                <a:lnTo>
                  <a:pt x="2144550" y="850899"/>
                </a:lnTo>
                <a:lnTo>
                  <a:pt x="2157028" y="857249"/>
                </a:lnTo>
                <a:lnTo>
                  <a:pt x="2169438" y="862329"/>
                </a:lnTo>
                <a:lnTo>
                  <a:pt x="2230371" y="894079"/>
                </a:lnTo>
                <a:lnTo>
                  <a:pt x="2242321" y="900429"/>
                </a:lnTo>
                <a:lnTo>
                  <a:pt x="2254188" y="908049"/>
                </a:lnTo>
                <a:lnTo>
                  <a:pt x="2265972" y="914399"/>
                </a:lnTo>
                <a:lnTo>
                  <a:pt x="2277670" y="922019"/>
                </a:lnTo>
                <a:lnTo>
                  <a:pt x="2289278" y="928369"/>
                </a:lnTo>
                <a:lnTo>
                  <a:pt x="2323559" y="951229"/>
                </a:lnTo>
                <a:lnTo>
                  <a:pt x="2334797" y="958849"/>
                </a:lnTo>
                <a:lnTo>
                  <a:pt x="2345939" y="967739"/>
                </a:lnTo>
                <a:lnTo>
                  <a:pt x="2367928" y="982979"/>
                </a:lnTo>
                <a:lnTo>
                  <a:pt x="2389507" y="1000759"/>
                </a:lnTo>
                <a:lnTo>
                  <a:pt x="2400141" y="1008379"/>
                </a:lnTo>
                <a:lnTo>
                  <a:pt x="2421087" y="1026159"/>
                </a:lnTo>
                <a:lnTo>
                  <a:pt x="2431395" y="1035049"/>
                </a:lnTo>
                <a:lnTo>
                  <a:pt x="2441594" y="1045209"/>
                </a:lnTo>
                <a:lnTo>
                  <a:pt x="2451680" y="1054099"/>
                </a:lnTo>
                <a:lnTo>
                  <a:pt x="2461650" y="1062989"/>
                </a:lnTo>
                <a:lnTo>
                  <a:pt x="2471103" y="1071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-1"/>
            <a:ext cx="3093720" cy="1069340"/>
          </a:xfrm>
          <a:custGeom>
            <a:avLst/>
            <a:gdLst/>
            <a:ahLst/>
            <a:cxnLst/>
            <a:rect l="l" t="t" r="r" b="b"/>
            <a:pathLst>
              <a:path w="3093720" h="1069340">
                <a:moveTo>
                  <a:pt x="1450520" y="690879"/>
                </a:moveTo>
                <a:lnTo>
                  <a:pt x="1353991" y="690879"/>
                </a:lnTo>
                <a:lnTo>
                  <a:pt x="1306101" y="688339"/>
                </a:lnTo>
                <a:lnTo>
                  <a:pt x="1258613" y="684529"/>
                </a:lnTo>
                <a:lnTo>
                  <a:pt x="1211550" y="679449"/>
                </a:lnTo>
                <a:lnTo>
                  <a:pt x="1164934" y="673099"/>
                </a:lnTo>
                <a:lnTo>
                  <a:pt x="1073140" y="655319"/>
                </a:lnTo>
                <a:lnTo>
                  <a:pt x="1028008" y="643889"/>
                </a:lnTo>
                <a:lnTo>
                  <a:pt x="939391" y="618489"/>
                </a:lnTo>
                <a:lnTo>
                  <a:pt x="895954" y="603249"/>
                </a:lnTo>
                <a:lnTo>
                  <a:pt x="853127" y="586739"/>
                </a:lnTo>
                <a:lnTo>
                  <a:pt x="769402" y="551179"/>
                </a:lnTo>
                <a:lnTo>
                  <a:pt x="728550" y="530859"/>
                </a:lnTo>
                <a:lnTo>
                  <a:pt x="648983" y="487679"/>
                </a:lnTo>
                <a:lnTo>
                  <a:pt x="610315" y="463549"/>
                </a:lnTo>
                <a:lnTo>
                  <a:pt x="572422" y="439419"/>
                </a:lnTo>
                <a:lnTo>
                  <a:pt x="535328" y="414019"/>
                </a:lnTo>
                <a:lnTo>
                  <a:pt x="499054" y="386079"/>
                </a:lnTo>
                <a:lnTo>
                  <a:pt x="463626" y="359409"/>
                </a:lnTo>
                <a:lnTo>
                  <a:pt x="429066" y="330199"/>
                </a:lnTo>
                <a:lnTo>
                  <a:pt x="395398" y="299719"/>
                </a:lnTo>
                <a:lnTo>
                  <a:pt x="362644" y="269239"/>
                </a:lnTo>
                <a:lnTo>
                  <a:pt x="330829" y="237489"/>
                </a:lnTo>
                <a:lnTo>
                  <a:pt x="299975" y="204469"/>
                </a:lnTo>
                <a:lnTo>
                  <a:pt x="270106" y="171449"/>
                </a:lnTo>
                <a:lnTo>
                  <a:pt x="213418" y="101599"/>
                </a:lnTo>
                <a:lnTo>
                  <a:pt x="186644" y="64769"/>
                </a:lnTo>
                <a:lnTo>
                  <a:pt x="160949" y="27939"/>
                </a:lnTo>
                <a:lnTo>
                  <a:pt x="142621" y="0"/>
                </a:lnTo>
                <a:lnTo>
                  <a:pt x="186472" y="0"/>
                </a:lnTo>
                <a:lnTo>
                  <a:pt x="200896" y="21589"/>
                </a:lnTo>
                <a:lnTo>
                  <a:pt x="253954" y="93979"/>
                </a:lnTo>
                <a:lnTo>
                  <a:pt x="282085" y="128269"/>
                </a:lnTo>
                <a:lnTo>
                  <a:pt x="311253" y="162559"/>
                </a:lnTo>
                <a:lnTo>
                  <a:pt x="341434" y="195579"/>
                </a:lnTo>
                <a:lnTo>
                  <a:pt x="372603" y="227329"/>
                </a:lnTo>
                <a:lnTo>
                  <a:pt x="404735" y="259079"/>
                </a:lnTo>
                <a:lnTo>
                  <a:pt x="437808" y="288289"/>
                </a:lnTo>
                <a:lnTo>
                  <a:pt x="471796" y="317499"/>
                </a:lnTo>
                <a:lnTo>
                  <a:pt x="506676" y="346709"/>
                </a:lnTo>
                <a:lnTo>
                  <a:pt x="542423" y="373379"/>
                </a:lnTo>
                <a:lnTo>
                  <a:pt x="579013" y="398779"/>
                </a:lnTo>
                <a:lnTo>
                  <a:pt x="616422" y="424179"/>
                </a:lnTo>
                <a:lnTo>
                  <a:pt x="654625" y="448309"/>
                </a:lnTo>
                <a:lnTo>
                  <a:pt x="693599" y="469899"/>
                </a:lnTo>
                <a:lnTo>
                  <a:pt x="733320" y="491489"/>
                </a:lnTo>
                <a:lnTo>
                  <a:pt x="773763" y="511809"/>
                </a:lnTo>
                <a:lnTo>
                  <a:pt x="814904" y="530859"/>
                </a:lnTo>
                <a:lnTo>
                  <a:pt x="856719" y="548639"/>
                </a:lnTo>
                <a:lnTo>
                  <a:pt x="899183" y="565149"/>
                </a:lnTo>
                <a:lnTo>
                  <a:pt x="942273" y="580389"/>
                </a:lnTo>
                <a:lnTo>
                  <a:pt x="985965" y="594359"/>
                </a:lnTo>
                <a:lnTo>
                  <a:pt x="1030233" y="607059"/>
                </a:lnTo>
                <a:lnTo>
                  <a:pt x="1120405" y="627379"/>
                </a:lnTo>
                <a:lnTo>
                  <a:pt x="1212595" y="642619"/>
                </a:lnTo>
                <a:lnTo>
                  <a:pt x="1259387" y="647699"/>
                </a:lnTo>
                <a:lnTo>
                  <a:pt x="1306611" y="651509"/>
                </a:lnTo>
                <a:lnTo>
                  <a:pt x="1354243" y="654049"/>
                </a:lnTo>
                <a:lnTo>
                  <a:pt x="1736363" y="654049"/>
                </a:lnTo>
                <a:lnTo>
                  <a:pt x="1731348" y="655319"/>
                </a:lnTo>
                <a:lnTo>
                  <a:pt x="1639560" y="673099"/>
                </a:lnTo>
                <a:lnTo>
                  <a:pt x="1592948" y="679449"/>
                </a:lnTo>
                <a:lnTo>
                  <a:pt x="1545889" y="684529"/>
                </a:lnTo>
                <a:lnTo>
                  <a:pt x="1498405" y="688339"/>
                </a:lnTo>
                <a:lnTo>
                  <a:pt x="1450520" y="690879"/>
                </a:lnTo>
                <a:close/>
              </a:path>
              <a:path w="3093720" h="1069340">
                <a:moveTo>
                  <a:pt x="1470625" y="311149"/>
                </a:moveTo>
                <a:lnTo>
                  <a:pt x="1333859" y="311149"/>
                </a:lnTo>
                <a:lnTo>
                  <a:pt x="1252146" y="303529"/>
                </a:lnTo>
                <a:lnTo>
                  <a:pt x="1225064" y="298449"/>
                </a:lnTo>
                <a:lnTo>
                  <a:pt x="1211564" y="297179"/>
                </a:lnTo>
                <a:lnTo>
                  <a:pt x="1184650" y="292099"/>
                </a:lnTo>
                <a:lnTo>
                  <a:pt x="1171241" y="288289"/>
                </a:lnTo>
                <a:lnTo>
                  <a:pt x="1144532" y="283209"/>
                </a:lnTo>
                <a:lnTo>
                  <a:pt x="1131233" y="279399"/>
                </a:lnTo>
                <a:lnTo>
                  <a:pt x="1117974" y="276859"/>
                </a:lnTo>
                <a:lnTo>
                  <a:pt x="1065392" y="261619"/>
                </a:lnTo>
                <a:lnTo>
                  <a:pt x="1052370" y="256539"/>
                </a:lnTo>
                <a:lnTo>
                  <a:pt x="1039400" y="252729"/>
                </a:lnTo>
                <a:lnTo>
                  <a:pt x="1026482" y="247649"/>
                </a:lnTo>
                <a:lnTo>
                  <a:pt x="1013622" y="243839"/>
                </a:lnTo>
                <a:lnTo>
                  <a:pt x="962787" y="223519"/>
                </a:lnTo>
                <a:lnTo>
                  <a:pt x="950240" y="217169"/>
                </a:lnTo>
                <a:lnTo>
                  <a:pt x="937761" y="212089"/>
                </a:lnTo>
                <a:lnTo>
                  <a:pt x="925350" y="205739"/>
                </a:lnTo>
                <a:lnTo>
                  <a:pt x="913011" y="200659"/>
                </a:lnTo>
                <a:lnTo>
                  <a:pt x="864414" y="175259"/>
                </a:lnTo>
                <a:lnTo>
                  <a:pt x="852463" y="167639"/>
                </a:lnTo>
                <a:lnTo>
                  <a:pt x="828811" y="154939"/>
                </a:lnTo>
                <a:lnTo>
                  <a:pt x="793985" y="132079"/>
                </a:lnTo>
                <a:lnTo>
                  <a:pt x="782555" y="125729"/>
                </a:lnTo>
                <a:lnTo>
                  <a:pt x="771220" y="118109"/>
                </a:lnTo>
                <a:lnTo>
                  <a:pt x="759981" y="109219"/>
                </a:lnTo>
                <a:lnTo>
                  <a:pt x="737793" y="93979"/>
                </a:lnTo>
                <a:lnTo>
                  <a:pt x="726848" y="85089"/>
                </a:lnTo>
                <a:lnTo>
                  <a:pt x="716006" y="77469"/>
                </a:lnTo>
                <a:lnTo>
                  <a:pt x="705267" y="68579"/>
                </a:lnTo>
                <a:lnTo>
                  <a:pt x="684103" y="50799"/>
                </a:lnTo>
                <a:lnTo>
                  <a:pt x="663374" y="33019"/>
                </a:lnTo>
                <a:lnTo>
                  <a:pt x="643087" y="15239"/>
                </a:lnTo>
                <a:lnTo>
                  <a:pt x="633116" y="5079"/>
                </a:lnTo>
                <a:lnTo>
                  <a:pt x="626681" y="0"/>
                </a:lnTo>
                <a:lnTo>
                  <a:pt x="680422" y="0"/>
                </a:lnTo>
                <a:lnTo>
                  <a:pt x="687632" y="6349"/>
                </a:lnTo>
                <a:lnTo>
                  <a:pt x="697601" y="13969"/>
                </a:lnTo>
                <a:lnTo>
                  <a:pt x="717857" y="31749"/>
                </a:lnTo>
                <a:lnTo>
                  <a:pt x="728141" y="39369"/>
                </a:lnTo>
                <a:lnTo>
                  <a:pt x="738525" y="48259"/>
                </a:lnTo>
                <a:lnTo>
                  <a:pt x="749009" y="55879"/>
                </a:lnTo>
                <a:lnTo>
                  <a:pt x="759593" y="64769"/>
                </a:lnTo>
                <a:lnTo>
                  <a:pt x="791916" y="87629"/>
                </a:lnTo>
                <a:lnTo>
                  <a:pt x="802877" y="95249"/>
                </a:lnTo>
                <a:lnTo>
                  <a:pt x="813928" y="101599"/>
                </a:lnTo>
                <a:lnTo>
                  <a:pt x="825067" y="109219"/>
                </a:lnTo>
                <a:lnTo>
                  <a:pt x="836292" y="115569"/>
                </a:lnTo>
                <a:lnTo>
                  <a:pt x="847605" y="123189"/>
                </a:lnTo>
                <a:lnTo>
                  <a:pt x="905381" y="154939"/>
                </a:lnTo>
                <a:lnTo>
                  <a:pt x="929025" y="167639"/>
                </a:lnTo>
                <a:lnTo>
                  <a:pt x="940957" y="172719"/>
                </a:lnTo>
                <a:lnTo>
                  <a:pt x="952958" y="179069"/>
                </a:lnTo>
                <a:lnTo>
                  <a:pt x="1013937" y="204469"/>
                </a:lnTo>
                <a:lnTo>
                  <a:pt x="1026315" y="208279"/>
                </a:lnTo>
                <a:lnTo>
                  <a:pt x="1038752" y="213359"/>
                </a:lnTo>
                <a:lnTo>
                  <a:pt x="1051243" y="217169"/>
                </a:lnTo>
                <a:lnTo>
                  <a:pt x="1063785" y="222249"/>
                </a:lnTo>
                <a:lnTo>
                  <a:pt x="1127225" y="241299"/>
                </a:lnTo>
                <a:lnTo>
                  <a:pt x="1140046" y="243839"/>
                </a:lnTo>
                <a:lnTo>
                  <a:pt x="1152906" y="247649"/>
                </a:lnTo>
                <a:lnTo>
                  <a:pt x="1230782" y="262889"/>
                </a:lnTo>
                <a:lnTo>
                  <a:pt x="1243865" y="264159"/>
                </a:lnTo>
                <a:lnTo>
                  <a:pt x="1256971" y="266699"/>
                </a:lnTo>
                <a:lnTo>
                  <a:pt x="1283243" y="269239"/>
                </a:lnTo>
                <a:lnTo>
                  <a:pt x="1296409" y="271779"/>
                </a:lnTo>
                <a:lnTo>
                  <a:pt x="1309591" y="273049"/>
                </a:lnTo>
                <a:lnTo>
                  <a:pt x="1322785" y="273049"/>
                </a:lnTo>
                <a:lnTo>
                  <a:pt x="1349208" y="275589"/>
                </a:lnTo>
                <a:lnTo>
                  <a:pt x="1375664" y="275589"/>
                </a:lnTo>
                <a:lnTo>
                  <a:pt x="1388897" y="276859"/>
                </a:lnTo>
                <a:lnTo>
                  <a:pt x="1681960" y="276859"/>
                </a:lnTo>
                <a:lnTo>
                  <a:pt x="1659843" y="283209"/>
                </a:lnTo>
                <a:lnTo>
                  <a:pt x="1619749" y="290829"/>
                </a:lnTo>
                <a:lnTo>
                  <a:pt x="1606315" y="294639"/>
                </a:lnTo>
                <a:lnTo>
                  <a:pt x="1592852" y="295909"/>
                </a:lnTo>
                <a:lnTo>
                  <a:pt x="1565840" y="300989"/>
                </a:lnTo>
                <a:lnTo>
                  <a:pt x="1552295" y="302259"/>
                </a:lnTo>
                <a:lnTo>
                  <a:pt x="1538729" y="304799"/>
                </a:lnTo>
                <a:lnTo>
                  <a:pt x="1470625" y="311149"/>
                </a:lnTo>
                <a:close/>
              </a:path>
              <a:path w="3093720" h="1069340">
                <a:moveTo>
                  <a:pt x="1681960" y="276859"/>
                </a:moveTo>
                <a:lnTo>
                  <a:pt x="1415373" y="276859"/>
                </a:lnTo>
                <a:lnTo>
                  <a:pt x="1428606" y="275589"/>
                </a:lnTo>
                <a:lnTo>
                  <a:pt x="1455062" y="275589"/>
                </a:lnTo>
                <a:lnTo>
                  <a:pt x="1481486" y="273049"/>
                </a:lnTo>
                <a:lnTo>
                  <a:pt x="1494679" y="273049"/>
                </a:lnTo>
                <a:lnTo>
                  <a:pt x="1507861" y="271779"/>
                </a:lnTo>
                <a:lnTo>
                  <a:pt x="1521027" y="269239"/>
                </a:lnTo>
                <a:lnTo>
                  <a:pt x="1547300" y="266699"/>
                </a:lnTo>
                <a:lnTo>
                  <a:pt x="1560406" y="264159"/>
                </a:lnTo>
                <a:lnTo>
                  <a:pt x="1573488" y="262889"/>
                </a:lnTo>
                <a:lnTo>
                  <a:pt x="1651365" y="247649"/>
                </a:lnTo>
                <a:lnTo>
                  <a:pt x="1664226" y="243839"/>
                </a:lnTo>
                <a:lnTo>
                  <a:pt x="1677047" y="241299"/>
                </a:lnTo>
                <a:lnTo>
                  <a:pt x="1740489" y="222249"/>
                </a:lnTo>
                <a:lnTo>
                  <a:pt x="1753031" y="217169"/>
                </a:lnTo>
                <a:lnTo>
                  <a:pt x="1765522" y="213359"/>
                </a:lnTo>
                <a:lnTo>
                  <a:pt x="1777959" y="208279"/>
                </a:lnTo>
                <a:lnTo>
                  <a:pt x="1790337" y="204469"/>
                </a:lnTo>
                <a:lnTo>
                  <a:pt x="1851318" y="179069"/>
                </a:lnTo>
                <a:lnTo>
                  <a:pt x="1863319" y="172719"/>
                </a:lnTo>
                <a:lnTo>
                  <a:pt x="1875251" y="167639"/>
                </a:lnTo>
                <a:lnTo>
                  <a:pt x="1898896" y="154939"/>
                </a:lnTo>
                <a:lnTo>
                  <a:pt x="1956675" y="123189"/>
                </a:lnTo>
                <a:lnTo>
                  <a:pt x="1967987" y="115569"/>
                </a:lnTo>
                <a:lnTo>
                  <a:pt x="1979213" y="109219"/>
                </a:lnTo>
                <a:lnTo>
                  <a:pt x="1990352" y="101599"/>
                </a:lnTo>
                <a:lnTo>
                  <a:pt x="2001404" y="95249"/>
                </a:lnTo>
                <a:lnTo>
                  <a:pt x="2012366" y="87629"/>
                </a:lnTo>
                <a:lnTo>
                  <a:pt x="2044690" y="64769"/>
                </a:lnTo>
                <a:lnTo>
                  <a:pt x="2055274" y="55879"/>
                </a:lnTo>
                <a:lnTo>
                  <a:pt x="2065758" y="48259"/>
                </a:lnTo>
                <a:lnTo>
                  <a:pt x="2076143" y="39369"/>
                </a:lnTo>
                <a:lnTo>
                  <a:pt x="2086427" y="31749"/>
                </a:lnTo>
                <a:lnTo>
                  <a:pt x="2106684" y="13969"/>
                </a:lnTo>
                <a:lnTo>
                  <a:pt x="2116653" y="6349"/>
                </a:lnTo>
                <a:lnTo>
                  <a:pt x="2123910" y="0"/>
                </a:lnTo>
                <a:lnTo>
                  <a:pt x="2176940" y="0"/>
                </a:lnTo>
                <a:lnTo>
                  <a:pt x="2170920" y="5079"/>
                </a:lnTo>
                <a:lnTo>
                  <a:pt x="2160954" y="13969"/>
                </a:lnTo>
                <a:lnTo>
                  <a:pt x="2150873" y="24129"/>
                </a:lnTo>
                <a:lnTo>
                  <a:pt x="2130375" y="41909"/>
                </a:lnTo>
                <a:lnTo>
                  <a:pt x="2109439" y="59689"/>
                </a:lnTo>
                <a:lnTo>
                  <a:pt x="2098810" y="68579"/>
                </a:lnTo>
                <a:lnTo>
                  <a:pt x="2088078" y="76199"/>
                </a:lnTo>
                <a:lnTo>
                  <a:pt x="2077243" y="85089"/>
                </a:lnTo>
                <a:lnTo>
                  <a:pt x="2066304" y="92709"/>
                </a:lnTo>
                <a:lnTo>
                  <a:pt x="2055266" y="101599"/>
                </a:lnTo>
                <a:lnTo>
                  <a:pt x="2021571" y="124459"/>
                </a:lnTo>
                <a:lnTo>
                  <a:pt x="1987038" y="147319"/>
                </a:lnTo>
                <a:lnTo>
                  <a:pt x="1975347" y="153669"/>
                </a:lnTo>
                <a:lnTo>
                  <a:pt x="1963570" y="161289"/>
                </a:lnTo>
                <a:lnTo>
                  <a:pt x="1939769" y="173989"/>
                </a:lnTo>
                <a:lnTo>
                  <a:pt x="1927744" y="181609"/>
                </a:lnTo>
                <a:lnTo>
                  <a:pt x="1915640" y="187959"/>
                </a:lnTo>
                <a:lnTo>
                  <a:pt x="1903460" y="193039"/>
                </a:lnTo>
                <a:lnTo>
                  <a:pt x="1878875" y="205739"/>
                </a:lnTo>
                <a:lnTo>
                  <a:pt x="1866473" y="210819"/>
                </a:lnTo>
                <a:lnTo>
                  <a:pt x="1854002" y="217169"/>
                </a:lnTo>
                <a:lnTo>
                  <a:pt x="1764905" y="252729"/>
                </a:lnTo>
                <a:lnTo>
                  <a:pt x="1725864" y="264159"/>
                </a:lnTo>
                <a:lnTo>
                  <a:pt x="1712748" y="269239"/>
                </a:lnTo>
                <a:lnTo>
                  <a:pt x="1699588" y="273049"/>
                </a:lnTo>
                <a:lnTo>
                  <a:pt x="1686383" y="275589"/>
                </a:lnTo>
                <a:lnTo>
                  <a:pt x="1681960" y="276859"/>
                </a:lnTo>
                <a:close/>
              </a:path>
              <a:path w="3093720" h="1069340">
                <a:moveTo>
                  <a:pt x="1736363" y="654049"/>
                </a:moveTo>
                <a:lnTo>
                  <a:pt x="1450274" y="654049"/>
                </a:lnTo>
                <a:lnTo>
                  <a:pt x="1497905" y="651509"/>
                </a:lnTo>
                <a:lnTo>
                  <a:pt x="1545129" y="647699"/>
                </a:lnTo>
                <a:lnTo>
                  <a:pt x="1591921" y="642619"/>
                </a:lnTo>
                <a:lnTo>
                  <a:pt x="1684111" y="627379"/>
                </a:lnTo>
                <a:lnTo>
                  <a:pt x="1774283" y="607059"/>
                </a:lnTo>
                <a:lnTo>
                  <a:pt x="1818552" y="594359"/>
                </a:lnTo>
                <a:lnTo>
                  <a:pt x="1862243" y="580389"/>
                </a:lnTo>
                <a:lnTo>
                  <a:pt x="1905333" y="565149"/>
                </a:lnTo>
                <a:lnTo>
                  <a:pt x="1947797" y="548639"/>
                </a:lnTo>
                <a:lnTo>
                  <a:pt x="1989612" y="530859"/>
                </a:lnTo>
                <a:lnTo>
                  <a:pt x="2030753" y="511809"/>
                </a:lnTo>
                <a:lnTo>
                  <a:pt x="2071196" y="491489"/>
                </a:lnTo>
                <a:lnTo>
                  <a:pt x="2110917" y="469899"/>
                </a:lnTo>
                <a:lnTo>
                  <a:pt x="2149891" y="448309"/>
                </a:lnTo>
                <a:lnTo>
                  <a:pt x="2188095" y="424179"/>
                </a:lnTo>
                <a:lnTo>
                  <a:pt x="2225504" y="398779"/>
                </a:lnTo>
                <a:lnTo>
                  <a:pt x="2262094" y="373379"/>
                </a:lnTo>
                <a:lnTo>
                  <a:pt x="2297840" y="346709"/>
                </a:lnTo>
                <a:lnTo>
                  <a:pt x="2332720" y="317499"/>
                </a:lnTo>
                <a:lnTo>
                  <a:pt x="2366708" y="288289"/>
                </a:lnTo>
                <a:lnTo>
                  <a:pt x="2399781" y="259079"/>
                </a:lnTo>
                <a:lnTo>
                  <a:pt x="2431913" y="227329"/>
                </a:lnTo>
                <a:lnTo>
                  <a:pt x="2463082" y="195579"/>
                </a:lnTo>
                <a:lnTo>
                  <a:pt x="2493263" y="162559"/>
                </a:lnTo>
                <a:lnTo>
                  <a:pt x="2522431" y="128269"/>
                </a:lnTo>
                <a:lnTo>
                  <a:pt x="2550563" y="93979"/>
                </a:lnTo>
                <a:lnTo>
                  <a:pt x="2603620" y="21589"/>
                </a:lnTo>
                <a:lnTo>
                  <a:pt x="2618017" y="0"/>
                </a:lnTo>
                <a:lnTo>
                  <a:pt x="2661899" y="0"/>
                </a:lnTo>
                <a:lnTo>
                  <a:pt x="2617846" y="64769"/>
                </a:lnTo>
                <a:lnTo>
                  <a:pt x="2591071" y="101599"/>
                </a:lnTo>
                <a:lnTo>
                  <a:pt x="2534379" y="171449"/>
                </a:lnTo>
                <a:lnTo>
                  <a:pt x="2504509" y="204469"/>
                </a:lnTo>
                <a:lnTo>
                  <a:pt x="2473654" y="237489"/>
                </a:lnTo>
                <a:lnTo>
                  <a:pt x="2441837" y="269239"/>
                </a:lnTo>
                <a:lnTo>
                  <a:pt x="2409082" y="299719"/>
                </a:lnTo>
                <a:lnTo>
                  <a:pt x="2375413" y="330199"/>
                </a:lnTo>
                <a:lnTo>
                  <a:pt x="2340852" y="359409"/>
                </a:lnTo>
                <a:lnTo>
                  <a:pt x="2305423" y="386079"/>
                </a:lnTo>
                <a:lnTo>
                  <a:pt x="2269149" y="414019"/>
                </a:lnTo>
                <a:lnTo>
                  <a:pt x="2232053" y="439419"/>
                </a:lnTo>
                <a:lnTo>
                  <a:pt x="2194160" y="463549"/>
                </a:lnTo>
                <a:lnTo>
                  <a:pt x="2155492" y="487679"/>
                </a:lnTo>
                <a:lnTo>
                  <a:pt x="2075926" y="530859"/>
                </a:lnTo>
                <a:lnTo>
                  <a:pt x="2035074" y="551179"/>
                </a:lnTo>
                <a:lnTo>
                  <a:pt x="1951351" y="586739"/>
                </a:lnTo>
                <a:lnTo>
                  <a:pt x="1908526" y="603249"/>
                </a:lnTo>
                <a:lnTo>
                  <a:pt x="1865090" y="618489"/>
                </a:lnTo>
                <a:lnTo>
                  <a:pt x="1776478" y="643889"/>
                </a:lnTo>
                <a:lnTo>
                  <a:pt x="1736363" y="654049"/>
                </a:lnTo>
                <a:close/>
              </a:path>
              <a:path w="3093720" h="1069340">
                <a:moveTo>
                  <a:pt x="1772448" y="1032509"/>
                </a:moveTo>
                <a:lnTo>
                  <a:pt x="1450296" y="1032509"/>
                </a:lnTo>
                <a:lnTo>
                  <a:pt x="1545455" y="1027429"/>
                </a:lnTo>
                <a:lnTo>
                  <a:pt x="1592546" y="1023619"/>
                </a:lnTo>
                <a:lnTo>
                  <a:pt x="1685675" y="1010919"/>
                </a:lnTo>
                <a:lnTo>
                  <a:pt x="1731682" y="1003299"/>
                </a:lnTo>
                <a:lnTo>
                  <a:pt x="1777297" y="994409"/>
                </a:lnTo>
                <a:lnTo>
                  <a:pt x="1822505" y="984249"/>
                </a:lnTo>
                <a:lnTo>
                  <a:pt x="1911639" y="961389"/>
                </a:lnTo>
                <a:lnTo>
                  <a:pt x="1998962" y="933449"/>
                </a:lnTo>
                <a:lnTo>
                  <a:pt x="2041906" y="918209"/>
                </a:lnTo>
                <a:lnTo>
                  <a:pt x="2084353" y="901699"/>
                </a:lnTo>
                <a:lnTo>
                  <a:pt x="2126285" y="883919"/>
                </a:lnTo>
                <a:lnTo>
                  <a:pt x="2208548" y="845819"/>
                </a:lnTo>
                <a:lnTo>
                  <a:pt x="2248849" y="825499"/>
                </a:lnTo>
                <a:lnTo>
                  <a:pt x="2327711" y="782319"/>
                </a:lnTo>
                <a:lnTo>
                  <a:pt x="2366242" y="758189"/>
                </a:lnTo>
                <a:lnTo>
                  <a:pt x="2404153" y="734059"/>
                </a:lnTo>
                <a:lnTo>
                  <a:pt x="2441429" y="709929"/>
                </a:lnTo>
                <a:lnTo>
                  <a:pt x="2478053" y="683259"/>
                </a:lnTo>
                <a:lnTo>
                  <a:pt x="2514013" y="656589"/>
                </a:lnTo>
                <a:lnTo>
                  <a:pt x="2549291" y="628649"/>
                </a:lnTo>
                <a:lnTo>
                  <a:pt x="2583872" y="600709"/>
                </a:lnTo>
                <a:lnTo>
                  <a:pt x="2617743" y="571499"/>
                </a:lnTo>
                <a:lnTo>
                  <a:pt x="2650886" y="541019"/>
                </a:lnTo>
                <a:lnTo>
                  <a:pt x="2683288" y="510539"/>
                </a:lnTo>
                <a:lnTo>
                  <a:pt x="2714932" y="478789"/>
                </a:lnTo>
                <a:lnTo>
                  <a:pt x="2745804" y="447039"/>
                </a:lnTo>
                <a:lnTo>
                  <a:pt x="2775888" y="412749"/>
                </a:lnTo>
                <a:lnTo>
                  <a:pt x="2805169" y="379729"/>
                </a:lnTo>
                <a:lnTo>
                  <a:pt x="2833633" y="345439"/>
                </a:lnTo>
                <a:lnTo>
                  <a:pt x="2861262" y="309879"/>
                </a:lnTo>
                <a:lnTo>
                  <a:pt x="2913961" y="237489"/>
                </a:lnTo>
                <a:lnTo>
                  <a:pt x="2939000" y="199389"/>
                </a:lnTo>
                <a:lnTo>
                  <a:pt x="2963144" y="161289"/>
                </a:lnTo>
                <a:lnTo>
                  <a:pt x="2986379" y="123189"/>
                </a:lnTo>
                <a:lnTo>
                  <a:pt x="3008690" y="83819"/>
                </a:lnTo>
                <a:lnTo>
                  <a:pt x="3030060" y="44449"/>
                </a:lnTo>
                <a:lnTo>
                  <a:pt x="3050475" y="3809"/>
                </a:lnTo>
                <a:lnTo>
                  <a:pt x="3052729" y="0"/>
                </a:lnTo>
                <a:lnTo>
                  <a:pt x="3093467" y="0"/>
                </a:lnTo>
                <a:lnTo>
                  <a:pt x="3089149" y="8889"/>
                </a:lnTo>
                <a:lnTo>
                  <a:pt x="3068930" y="49529"/>
                </a:lnTo>
                <a:lnTo>
                  <a:pt x="3047762" y="88899"/>
                </a:lnTo>
                <a:lnTo>
                  <a:pt x="3025660" y="128269"/>
                </a:lnTo>
                <a:lnTo>
                  <a:pt x="3002640" y="167639"/>
                </a:lnTo>
                <a:lnTo>
                  <a:pt x="2978715" y="205739"/>
                </a:lnTo>
                <a:lnTo>
                  <a:pt x="2953902" y="243839"/>
                </a:lnTo>
                <a:lnTo>
                  <a:pt x="2928213" y="280669"/>
                </a:lnTo>
                <a:lnTo>
                  <a:pt x="2901665" y="317499"/>
                </a:lnTo>
                <a:lnTo>
                  <a:pt x="2874273" y="353059"/>
                </a:lnTo>
                <a:lnTo>
                  <a:pt x="2846050" y="387349"/>
                </a:lnTo>
                <a:lnTo>
                  <a:pt x="2817012" y="421639"/>
                </a:lnTo>
                <a:lnTo>
                  <a:pt x="2787174" y="455929"/>
                </a:lnTo>
                <a:lnTo>
                  <a:pt x="2756550" y="488949"/>
                </a:lnTo>
                <a:lnTo>
                  <a:pt x="2725156" y="520699"/>
                </a:lnTo>
                <a:lnTo>
                  <a:pt x="2693006" y="552449"/>
                </a:lnTo>
                <a:lnTo>
                  <a:pt x="2660114" y="582929"/>
                </a:lnTo>
                <a:lnTo>
                  <a:pt x="2626497" y="612139"/>
                </a:lnTo>
                <a:lnTo>
                  <a:pt x="2592167" y="641349"/>
                </a:lnTo>
                <a:lnTo>
                  <a:pt x="2557142" y="669289"/>
                </a:lnTo>
                <a:lnTo>
                  <a:pt x="2521434" y="697229"/>
                </a:lnTo>
                <a:lnTo>
                  <a:pt x="2485059" y="723899"/>
                </a:lnTo>
                <a:lnTo>
                  <a:pt x="2448033" y="749299"/>
                </a:lnTo>
                <a:lnTo>
                  <a:pt x="2410369" y="774699"/>
                </a:lnTo>
                <a:lnTo>
                  <a:pt x="2372082" y="798829"/>
                </a:lnTo>
                <a:lnTo>
                  <a:pt x="2333188" y="821689"/>
                </a:lnTo>
                <a:lnTo>
                  <a:pt x="2253635" y="864869"/>
                </a:lnTo>
                <a:lnTo>
                  <a:pt x="2213006" y="885189"/>
                </a:lnTo>
                <a:lnTo>
                  <a:pt x="2171829" y="904239"/>
                </a:lnTo>
                <a:lnTo>
                  <a:pt x="2087888" y="939799"/>
                </a:lnTo>
                <a:lnTo>
                  <a:pt x="2045155" y="956309"/>
                </a:lnTo>
                <a:lnTo>
                  <a:pt x="2001932" y="971549"/>
                </a:lnTo>
                <a:lnTo>
                  <a:pt x="1958234" y="985519"/>
                </a:lnTo>
                <a:lnTo>
                  <a:pt x="1869476" y="1010919"/>
                </a:lnTo>
                <a:lnTo>
                  <a:pt x="1778998" y="1031239"/>
                </a:lnTo>
                <a:lnTo>
                  <a:pt x="1772448" y="1032509"/>
                </a:lnTo>
                <a:close/>
              </a:path>
              <a:path w="3093720" h="1069340">
                <a:moveTo>
                  <a:pt x="1443294" y="312419"/>
                </a:moveTo>
                <a:lnTo>
                  <a:pt x="1361204" y="312419"/>
                </a:lnTo>
                <a:lnTo>
                  <a:pt x="1347527" y="311149"/>
                </a:lnTo>
                <a:lnTo>
                  <a:pt x="1456964" y="311149"/>
                </a:lnTo>
                <a:lnTo>
                  <a:pt x="1443294" y="312419"/>
                </a:lnTo>
                <a:close/>
              </a:path>
              <a:path w="3093720" h="1069340">
                <a:moveTo>
                  <a:pt x="1450492" y="1069339"/>
                </a:moveTo>
                <a:lnTo>
                  <a:pt x="1354020" y="1069339"/>
                </a:lnTo>
                <a:lnTo>
                  <a:pt x="1258448" y="1064259"/>
                </a:lnTo>
                <a:lnTo>
                  <a:pt x="1211144" y="1060449"/>
                </a:lnTo>
                <a:lnTo>
                  <a:pt x="1117574" y="1047749"/>
                </a:lnTo>
                <a:lnTo>
                  <a:pt x="1071338" y="1040129"/>
                </a:lnTo>
                <a:lnTo>
                  <a:pt x="1025488" y="1031239"/>
                </a:lnTo>
                <a:lnTo>
                  <a:pt x="935004" y="1010919"/>
                </a:lnTo>
                <a:lnTo>
                  <a:pt x="846239" y="985519"/>
                </a:lnTo>
                <a:lnTo>
                  <a:pt x="802539" y="971549"/>
                </a:lnTo>
                <a:lnTo>
                  <a:pt x="759313" y="956309"/>
                </a:lnTo>
                <a:lnTo>
                  <a:pt x="716577" y="939799"/>
                </a:lnTo>
                <a:lnTo>
                  <a:pt x="632632" y="904239"/>
                </a:lnTo>
                <a:lnTo>
                  <a:pt x="591452" y="885189"/>
                </a:lnTo>
                <a:lnTo>
                  <a:pt x="550822" y="864869"/>
                </a:lnTo>
                <a:lnTo>
                  <a:pt x="471265" y="821689"/>
                </a:lnTo>
                <a:lnTo>
                  <a:pt x="432368" y="797559"/>
                </a:lnTo>
                <a:lnTo>
                  <a:pt x="394080" y="774699"/>
                </a:lnTo>
                <a:lnTo>
                  <a:pt x="356414" y="749299"/>
                </a:lnTo>
                <a:lnTo>
                  <a:pt x="319386" y="723899"/>
                </a:lnTo>
                <a:lnTo>
                  <a:pt x="283009" y="697229"/>
                </a:lnTo>
                <a:lnTo>
                  <a:pt x="247300" y="669289"/>
                </a:lnTo>
                <a:lnTo>
                  <a:pt x="212273" y="641349"/>
                </a:lnTo>
                <a:lnTo>
                  <a:pt x="177943" y="612139"/>
                </a:lnTo>
                <a:lnTo>
                  <a:pt x="144324" y="582929"/>
                </a:lnTo>
                <a:lnTo>
                  <a:pt x="111431" y="552449"/>
                </a:lnTo>
                <a:lnTo>
                  <a:pt x="79280" y="520699"/>
                </a:lnTo>
                <a:lnTo>
                  <a:pt x="47884" y="488949"/>
                </a:lnTo>
                <a:lnTo>
                  <a:pt x="17260" y="455929"/>
                </a:lnTo>
                <a:lnTo>
                  <a:pt x="0" y="435609"/>
                </a:lnTo>
                <a:lnTo>
                  <a:pt x="0" y="379729"/>
                </a:lnTo>
                <a:lnTo>
                  <a:pt x="28577" y="412749"/>
                </a:lnTo>
                <a:lnTo>
                  <a:pt x="58663" y="447039"/>
                </a:lnTo>
                <a:lnTo>
                  <a:pt x="89537" y="478789"/>
                </a:lnTo>
                <a:lnTo>
                  <a:pt x="121184" y="510539"/>
                </a:lnTo>
                <a:lnTo>
                  <a:pt x="153588" y="541019"/>
                </a:lnTo>
                <a:lnTo>
                  <a:pt x="186733" y="571499"/>
                </a:lnTo>
                <a:lnTo>
                  <a:pt x="220606" y="600709"/>
                </a:lnTo>
                <a:lnTo>
                  <a:pt x="255189" y="628649"/>
                </a:lnTo>
                <a:lnTo>
                  <a:pt x="290470" y="656589"/>
                </a:lnTo>
                <a:lnTo>
                  <a:pt x="326431" y="683259"/>
                </a:lnTo>
                <a:lnTo>
                  <a:pt x="363058" y="709929"/>
                </a:lnTo>
                <a:lnTo>
                  <a:pt x="400336" y="734059"/>
                </a:lnTo>
                <a:lnTo>
                  <a:pt x="438249" y="758189"/>
                </a:lnTo>
                <a:lnTo>
                  <a:pt x="476782" y="782319"/>
                </a:lnTo>
                <a:lnTo>
                  <a:pt x="555647" y="825499"/>
                </a:lnTo>
                <a:lnTo>
                  <a:pt x="595950" y="845819"/>
                </a:lnTo>
                <a:lnTo>
                  <a:pt x="678216" y="883919"/>
                </a:lnTo>
                <a:lnTo>
                  <a:pt x="720151" y="901699"/>
                </a:lnTo>
                <a:lnTo>
                  <a:pt x="762598" y="918209"/>
                </a:lnTo>
                <a:lnTo>
                  <a:pt x="805544" y="933449"/>
                </a:lnTo>
                <a:lnTo>
                  <a:pt x="892870" y="961389"/>
                </a:lnTo>
                <a:lnTo>
                  <a:pt x="982007" y="984249"/>
                </a:lnTo>
                <a:lnTo>
                  <a:pt x="1027216" y="994409"/>
                </a:lnTo>
                <a:lnTo>
                  <a:pt x="1072832" y="1003299"/>
                </a:lnTo>
                <a:lnTo>
                  <a:pt x="1118839" y="1010919"/>
                </a:lnTo>
                <a:lnTo>
                  <a:pt x="1211969" y="1023619"/>
                </a:lnTo>
                <a:lnTo>
                  <a:pt x="1259060" y="1027429"/>
                </a:lnTo>
                <a:lnTo>
                  <a:pt x="1354220" y="1032509"/>
                </a:lnTo>
                <a:lnTo>
                  <a:pt x="1772448" y="1032509"/>
                </a:lnTo>
                <a:lnTo>
                  <a:pt x="1733151" y="1040129"/>
                </a:lnTo>
                <a:lnTo>
                  <a:pt x="1686918" y="1047749"/>
                </a:lnTo>
                <a:lnTo>
                  <a:pt x="1593356" y="1060449"/>
                </a:lnTo>
                <a:lnTo>
                  <a:pt x="1546056" y="1064259"/>
                </a:lnTo>
                <a:lnTo>
                  <a:pt x="1450492" y="1069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-1345" y="2197455"/>
            <a:ext cx="18308955" cy="3274060"/>
            <a:chOff x="-1345" y="2197455"/>
            <a:chExt cx="18308955" cy="3274060"/>
          </a:xfrm>
        </p:grpSpPr>
        <p:sp>
          <p:nvSpPr>
            <p:cNvPr id="10" name="object 10" descr=""/>
            <p:cNvSpPr/>
            <p:nvPr/>
          </p:nvSpPr>
          <p:spPr>
            <a:xfrm>
              <a:off x="17704" y="2216505"/>
              <a:ext cx="15466694" cy="2412365"/>
            </a:xfrm>
            <a:custGeom>
              <a:avLst/>
              <a:gdLst/>
              <a:ahLst/>
              <a:cxnLst/>
              <a:rect l="l" t="t" r="r" b="b"/>
              <a:pathLst>
                <a:path w="15466694" h="2412365">
                  <a:moveTo>
                    <a:pt x="0" y="0"/>
                  </a:moveTo>
                  <a:lnTo>
                    <a:pt x="15237893" y="0"/>
                  </a:lnTo>
                  <a:lnTo>
                    <a:pt x="15283964" y="4644"/>
                  </a:lnTo>
                  <a:lnTo>
                    <a:pt x="15326874" y="17964"/>
                  </a:lnTo>
                  <a:lnTo>
                    <a:pt x="15365705" y="39041"/>
                  </a:lnTo>
                  <a:lnTo>
                    <a:pt x="15399537" y="66955"/>
                  </a:lnTo>
                  <a:lnTo>
                    <a:pt x="15427451" y="100787"/>
                  </a:lnTo>
                  <a:lnTo>
                    <a:pt x="15448528" y="139618"/>
                  </a:lnTo>
                  <a:lnTo>
                    <a:pt x="15461848" y="182529"/>
                  </a:lnTo>
                  <a:lnTo>
                    <a:pt x="15466493" y="228599"/>
                  </a:lnTo>
                  <a:lnTo>
                    <a:pt x="15466493" y="241225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28112" y="4056028"/>
              <a:ext cx="15860394" cy="1397000"/>
            </a:xfrm>
            <a:custGeom>
              <a:avLst/>
              <a:gdLst/>
              <a:ahLst/>
              <a:cxnLst/>
              <a:rect l="l" t="t" r="r" b="b"/>
              <a:pathLst>
                <a:path w="15860394" h="1397000">
                  <a:moveTo>
                    <a:pt x="0" y="0"/>
                  </a:moveTo>
                  <a:lnTo>
                    <a:pt x="0" y="1167783"/>
                  </a:lnTo>
                  <a:lnTo>
                    <a:pt x="4644" y="1213854"/>
                  </a:lnTo>
                  <a:lnTo>
                    <a:pt x="17964" y="1256765"/>
                  </a:lnTo>
                  <a:lnTo>
                    <a:pt x="39041" y="1295596"/>
                  </a:lnTo>
                  <a:lnTo>
                    <a:pt x="66955" y="1329428"/>
                  </a:lnTo>
                  <a:lnTo>
                    <a:pt x="100787" y="1357342"/>
                  </a:lnTo>
                  <a:lnTo>
                    <a:pt x="139618" y="1378419"/>
                  </a:lnTo>
                  <a:lnTo>
                    <a:pt x="182529" y="1391739"/>
                  </a:lnTo>
                  <a:lnTo>
                    <a:pt x="228599" y="1396383"/>
                  </a:lnTo>
                  <a:lnTo>
                    <a:pt x="15859886" y="139638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22195" y="7210745"/>
            <a:ext cx="95250" cy="952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22195" y="7677469"/>
            <a:ext cx="95250" cy="9524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22195" y="8144194"/>
            <a:ext cx="95250" cy="952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22195" y="8610919"/>
            <a:ext cx="95250" cy="9524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3263166" y="6024514"/>
            <a:ext cx="7661909" cy="280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2915" algn="l"/>
              </a:tabLst>
            </a:pPr>
            <a:r>
              <a:rPr dirty="0" sz="3900" b="1">
                <a:latin typeface="Arial"/>
                <a:cs typeface="Arial"/>
              </a:rPr>
              <a:t>GROUP</a:t>
            </a:r>
            <a:r>
              <a:rPr dirty="0" sz="3900" spc="-75" b="1">
                <a:latin typeface="Arial"/>
                <a:cs typeface="Arial"/>
              </a:rPr>
              <a:t> </a:t>
            </a:r>
            <a:r>
              <a:rPr dirty="0" sz="3900" spc="-25" b="1">
                <a:latin typeface="Arial"/>
                <a:cs typeface="Arial"/>
              </a:rPr>
              <a:t>NO:</a:t>
            </a:r>
            <a:r>
              <a:rPr dirty="0" sz="3900" b="1">
                <a:latin typeface="Arial"/>
                <a:cs typeface="Arial"/>
              </a:rPr>
              <a:t>	</a:t>
            </a:r>
            <a:r>
              <a:rPr dirty="0" sz="3900" spc="-25" b="1">
                <a:latin typeface="Arial"/>
                <a:cs typeface="Arial"/>
              </a:rPr>
              <a:t>17</a:t>
            </a:r>
            <a:endParaRPr sz="3900">
              <a:latin typeface="Arial"/>
              <a:cs typeface="Arial"/>
            </a:endParaRPr>
          </a:p>
          <a:p>
            <a:pPr marL="410845">
              <a:lnSpc>
                <a:spcPct val="100000"/>
              </a:lnSpc>
              <a:spcBef>
                <a:spcPts val="3085"/>
              </a:spcBef>
            </a:pPr>
            <a:r>
              <a:rPr dirty="0" sz="2600" b="1">
                <a:latin typeface="Arial"/>
                <a:cs typeface="Arial"/>
              </a:rPr>
              <a:t>2023BCS0237</a:t>
            </a:r>
            <a:r>
              <a:rPr dirty="0" sz="2600" spc="8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SIDHAARTH</a:t>
            </a:r>
            <a:r>
              <a:rPr dirty="0" sz="2600" spc="8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MOHANDAS</a:t>
            </a:r>
            <a:endParaRPr sz="2600">
              <a:latin typeface="Arial"/>
              <a:cs typeface="Arial"/>
            </a:endParaRPr>
          </a:p>
          <a:p>
            <a:pPr marL="410845">
              <a:lnSpc>
                <a:spcPct val="100000"/>
              </a:lnSpc>
              <a:spcBef>
                <a:spcPts val="555"/>
              </a:spcBef>
            </a:pPr>
            <a:r>
              <a:rPr dirty="0" sz="2600" b="1">
                <a:latin typeface="Arial"/>
                <a:cs typeface="Arial"/>
              </a:rPr>
              <a:t>2023BCS0231</a:t>
            </a:r>
            <a:r>
              <a:rPr dirty="0" sz="2600" spc="9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KUNAMALLA</a:t>
            </a:r>
            <a:r>
              <a:rPr dirty="0" sz="2600" spc="-1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THARUN</a:t>
            </a:r>
            <a:endParaRPr sz="2600">
              <a:latin typeface="Arial"/>
              <a:cs typeface="Arial"/>
            </a:endParaRPr>
          </a:p>
          <a:p>
            <a:pPr marL="410845">
              <a:lnSpc>
                <a:spcPct val="100000"/>
              </a:lnSpc>
              <a:spcBef>
                <a:spcPts val="555"/>
              </a:spcBef>
            </a:pPr>
            <a:r>
              <a:rPr dirty="0" sz="2600" b="1">
                <a:latin typeface="Arial"/>
                <a:cs typeface="Arial"/>
              </a:rPr>
              <a:t>2023BCD0066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VENKAT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CHIRANJEEVI</a:t>
            </a:r>
            <a:r>
              <a:rPr dirty="0" sz="2600" spc="-50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REDDY</a:t>
            </a:r>
            <a:endParaRPr sz="2600">
              <a:latin typeface="Arial"/>
              <a:cs typeface="Arial"/>
            </a:endParaRPr>
          </a:p>
          <a:p>
            <a:pPr marL="410845">
              <a:lnSpc>
                <a:spcPct val="100000"/>
              </a:lnSpc>
              <a:spcBef>
                <a:spcPts val="555"/>
              </a:spcBef>
            </a:pPr>
            <a:r>
              <a:rPr dirty="0" sz="2600" b="1">
                <a:latin typeface="Arial"/>
                <a:cs typeface="Arial"/>
              </a:rPr>
              <a:t>2023BCS0039</a:t>
            </a:r>
            <a:r>
              <a:rPr dirty="0" sz="2600" spc="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GANGIREDDY</a:t>
            </a:r>
            <a:r>
              <a:rPr dirty="0" sz="2600" spc="-45" b="1">
                <a:latin typeface="Arial"/>
                <a:cs typeface="Arial"/>
              </a:rPr>
              <a:t> </a:t>
            </a:r>
            <a:r>
              <a:rPr dirty="0" sz="2600" b="1">
                <a:latin typeface="Arial"/>
                <a:cs typeface="Arial"/>
              </a:rPr>
              <a:t>VISHNU</a:t>
            </a:r>
            <a:r>
              <a:rPr dirty="0" sz="2600" spc="5" b="1">
                <a:latin typeface="Arial"/>
                <a:cs typeface="Arial"/>
              </a:rPr>
              <a:t> </a:t>
            </a:r>
            <a:r>
              <a:rPr dirty="0" sz="2600" spc="-10" b="1">
                <a:latin typeface="Arial"/>
                <a:cs typeface="Arial"/>
              </a:rPr>
              <a:t>REDDY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58924"/>
            <a:ext cx="7898130" cy="38100"/>
          </a:xfrm>
          <a:custGeom>
            <a:avLst/>
            <a:gdLst/>
            <a:ahLst/>
            <a:cxnLst/>
            <a:rect l="l" t="t" r="r" b="b"/>
            <a:pathLst>
              <a:path w="7898130" h="38100">
                <a:moveTo>
                  <a:pt x="7897668" y="38099"/>
                </a:moveTo>
                <a:lnTo>
                  <a:pt x="0" y="38099"/>
                </a:lnTo>
                <a:lnTo>
                  <a:pt x="0" y="0"/>
                </a:lnTo>
                <a:lnTo>
                  <a:pt x="7897668" y="0"/>
                </a:lnTo>
                <a:lnTo>
                  <a:pt x="789766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76245" y="981106"/>
            <a:ext cx="6840220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-10"/>
              <a:t>INTRODUCTION</a:t>
            </a:r>
            <a:endParaRPr sz="7000"/>
          </a:p>
        </p:txBody>
      </p:sp>
      <p:sp>
        <p:nvSpPr>
          <p:cNvPr id="5" name="object 5" descr=""/>
          <p:cNvSpPr/>
          <p:nvPr/>
        </p:nvSpPr>
        <p:spPr>
          <a:xfrm>
            <a:off x="458610" y="2573041"/>
            <a:ext cx="16860520" cy="1585595"/>
          </a:xfrm>
          <a:custGeom>
            <a:avLst/>
            <a:gdLst/>
            <a:ahLst/>
            <a:cxnLst/>
            <a:rect l="l" t="t" r="r" b="b"/>
            <a:pathLst>
              <a:path w="16860520" h="1585595">
                <a:moveTo>
                  <a:pt x="14973804" y="1585350"/>
                </a:moveTo>
                <a:lnTo>
                  <a:pt x="1886702" y="1585350"/>
                </a:lnTo>
                <a:lnTo>
                  <a:pt x="1842716" y="1578256"/>
                </a:lnTo>
                <a:lnTo>
                  <a:pt x="1804514" y="1558500"/>
                </a:lnTo>
                <a:lnTo>
                  <a:pt x="1774389" y="1528375"/>
                </a:lnTo>
                <a:lnTo>
                  <a:pt x="1754634" y="1490174"/>
                </a:lnTo>
                <a:lnTo>
                  <a:pt x="1747539" y="1446188"/>
                </a:lnTo>
                <a:lnTo>
                  <a:pt x="1747539" y="1210163"/>
                </a:lnTo>
                <a:lnTo>
                  <a:pt x="1740445" y="1166177"/>
                </a:lnTo>
                <a:lnTo>
                  <a:pt x="1720689" y="1127975"/>
                </a:lnTo>
                <a:lnTo>
                  <a:pt x="1690564" y="1097851"/>
                </a:lnTo>
                <a:lnTo>
                  <a:pt x="1652363" y="1078095"/>
                </a:lnTo>
                <a:lnTo>
                  <a:pt x="1608376" y="1071000"/>
                </a:lnTo>
                <a:lnTo>
                  <a:pt x="139162" y="1071000"/>
                </a:lnTo>
                <a:lnTo>
                  <a:pt x="95176" y="1063906"/>
                </a:lnTo>
                <a:lnTo>
                  <a:pt x="56975" y="1044150"/>
                </a:lnTo>
                <a:lnTo>
                  <a:pt x="26850" y="1014025"/>
                </a:lnTo>
                <a:lnTo>
                  <a:pt x="7094" y="975824"/>
                </a:lnTo>
                <a:lnTo>
                  <a:pt x="0" y="931838"/>
                </a:lnTo>
                <a:lnTo>
                  <a:pt x="0" y="617768"/>
                </a:lnTo>
                <a:lnTo>
                  <a:pt x="6845" y="580549"/>
                </a:lnTo>
                <a:lnTo>
                  <a:pt x="25790" y="549084"/>
                </a:lnTo>
                <a:lnTo>
                  <a:pt x="54442" y="526106"/>
                </a:lnTo>
                <a:lnTo>
                  <a:pt x="126383" y="502593"/>
                </a:lnTo>
                <a:lnTo>
                  <a:pt x="155035" y="479615"/>
                </a:lnTo>
                <a:lnTo>
                  <a:pt x="173980" y="448150"/>
                </a:lnTo>
                <a:lnTo>
                  <a:pt x="180826" y="410931"/>
                </a:lnTo>
                <a:lnTo>
                  <a:pt x="180826" y="139162"/>
                </a:lnTo>
                <a:lnTo>
                  <a:pt x="187920" y="95176"/>
                </a:lnTo>
                <a:lnTo>
                  <a:pt x="207676" y="56975"/>
                </a:lnTo>
                <a:lnTo>
                  <a:pt x="237801" y="26850"/>
                </a:lnTo>
                <a:lnTo>
                  <a:pt x="276002" y="7094"/>
                </a:lnTo>
                <a:lnTo>
                  <a:pt x="319988" y="0"/>
                </a:lnTo>
                <a:lnTo>
                  <a:pt x="16540666" y="0"/>
                </a:lnTo>
                <a:lnTo>
                  <a:pt x="16584652" y="7094"/>
                </a:lnTo>
                <a:lnTo>
                  <a:pt x="16622854" y="26850"/>
                </a:lnTo>
                <a:lnTo>
                  <a:pt x="16652979" y="56975"/>
                </a:lnTo>
                <a:lnTo>
                  <a:pt x="16672735" y="95176"/>
                </a:lnTo>
                <a:lnTo>
                  <a:pt x="16679829" y="139162"/>
                </a:lnTo>
                <a:lnTo>
                  <a:pt x="16679829" y="410984"/>
                </a:lnTo>
                <a:lnTo>
                  <a:pt x="16686669" y="448177"/>
                </a:lnTo>
                <a:lnTo>
                  <a:pt x="16705596" y="479623"/>
                </a:lnTo>
                <a:lnTo>
                  <a:pt x="16734225" y="502591"/>
                </a:lnTo>
                <a:lnTo>
                  <a:pt x="16806110" y="526108"/>
                </a:lnTo>
                <a:lnTo>
                  <a:pt x="16834739" y="549076"/>
                </a:lnTo>
                <a:lnTo>
                  <a:pt x="16853666" y="580522"/>
                </a:lnTo>
                <a:lnTo>
                  <a:pt x="16860506" y="617715"/>
                </a:lnTo>
                <a:lnTo>
                  <a:pt x="16860506" y="931838"/>
                </a:lnTo>
                <a:lnTo>
                  <a:pt x="16853412" y="975824"/>
                </a:lnTo>
                <a:lnTo>
                  <a:pt x="16833656" y="1014025"/>
                </a:lnTo>
                <a:lnTo>
                  <a:pt x="16803531" y="1044150"/>
                </a:lnTo>
                <a:lnTo>
                  <a:pt x="16765330" y="1063906"/>
                </a:lnTo>
                <a:lnTo>
                  <a:pt x="16721344" y="1071000"/>
                </a:lnTo>
                <a:lnTo>
                  <a:pt x="15252129" y="1071000"/>
                </a:lnTo>
                <a:lnTo>
                  <a:pt x="15208143" y="1078095"/>
                </a:lnTo>
                <a:lnTo>
                  <a:pt x="15169942" y="1097851"/>
                </a:lnTo>
                <a:lnTo>
                  <a:pt x="15139817" y="1127975"/>
                </a:lnTo>
                <a:lnTo>
                  <a:pt x="15120061" y="1166177"/>
                </a:lnTo>
                <a:lnTo>
                  <a:pt x="15112967" y="1210163"/>
                </a:lnTo>
                <a:lnTo>
                  <a:pt x="15112967" y="1446188"/>
                </a:lnTo>
                <a:lnTo>
                  <a:pt x="15105872" y="1490174"/>
                </a:lnTo>
                <a:lnTo>
                  <a:pt x="15086116" y="1528375"/>
                </a:lnTo>
                <a:lnTo>
                  <a:pt x="15055992" y="1558500"/>
                </a:lnTo>
                <a:lnTo>
                  <a:pt x="15017790" y="1578256"/>
                </a:lnTo>
                <a:lnTo>
                  <a:pt x="14973804" y="1585350"/>
                </a:lnTo>
                <a:close/>
              </a:path>
            </a:pathLst>
          </a:custGeom>
          <a:solidFill>
            <a:srgbClr val="FFE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92986" y="2516913"/>
            <a:ext cx="16591915" cy="565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2900" b="1">
                <a:latin typeface="Arial"/>
                <a:cs typeface="Arial"/>
              </a:rPr>
              <a:t>A</a:t>
            </a:r>
            <a:r>
              <a:rPr dirty="0" sz="2900" spc="-18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2020</a:t>
            </a:r>
            <a:r>
              <a:rPr dirty="0" sz="2900" spc="-9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JMIR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Mental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Health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paper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found</a:t>
            </a:r>
            <a:r>
              <a:rPr dirty="0" sz="2900" spc="-9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that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members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of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online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depression</a:t>
            </a:r>
            <a:r>
              <a:rPr dirty="0" sz="2900" spc="-95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forums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who</a:t>
            </a:r>
            <a:r>
              <a:rPr dirty="0" sz="2900" spc="-90" b="1">
                <a:latin typeface="Arial"/>
                <a:cs typeface="Arial"/>
              </a:rPr>
              <a:t> </a:t>
            </a:r>
            <a:r>
              <a:rPr dirty="0" sz="2900" spc="-20" b="1">
                <a:latin typeface="Arial"/>
                <a:cs typeface="Arial"/>
              </a:rPr>
              <a:t>were </a:t>
            </a:r>
            <a:r>
              <a:rPr dirty="0" sz="2900" b="1">
                <a:latin typeface="Arial"/>
                <a:cs typeface="Arial"/>
              </a:rPr>
              <a:t>exposed</a:t>
            </a:r>
            <a:r>
              <a:rPr dirty="0" sz="2900" spc="-12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to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highly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negative,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hopeless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content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showed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worsened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depression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scores</a:t>
            </a:r>
            <a:r>
              <a:rPr dirty="0" sz="2900" spc="-114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at</a:t>
            </a:r>
            <a:r>
              <a:rPr dirty="0" sz="2900" spc="-120" b="1">
                <a:latin typeface="Arial"/>
                <a:cs typeface="Arial"/>
              </a:rPr>
              <a:t> </a:t>
            </a:r>
            <a:r>
              <a:rPr dirty="0" sz="2900" spc="-20" b="1">
                <a:latin typeface="Arial"/>
                <a:cs typeface="Arial"/>
              </a:rPr>
              <a:t>3-month follow-</a:t>
            </a:r>
            <a:r>
              <a:rPr dirty="0" sz="2900" b="1">
                <a:latin typeface="Arial"/>
                <a:cs typeface="Arial"/>
              </a:rPr>
              <a:t>up</a:t>
            </a:r>
            <a:r>
              <a:rPr dirty="0" sz="2900" spc="-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compared</a:t>
            </a:r>
            <a:r>
              <a:rPr dirty="0" sz="2900" spc="-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to</a:t>
            </a:r>
            <a:r>
              <a:rPr dirty="0" sz="2900" spc="-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those</a:t>
            </a:r>
            <a:r>
              <a:rPr dirty="0" sz="2900" spc="-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in</a:t>
            </a:r>
            <a:r>
              <a:rPr dirty="0" sz="2900" spc="-80" b="1">
                <a:latin typeface="Arial"/>
                <a:cs typeface="Arial"/>
              </a:rPr>
              <a:t> </a:t>
            </a:r>
            <a:r>
              <a:rPr dirty="0" sz="2900" b="1">
                <a:latin typeface="Arial"/>
                <a:cs typeface="Arial"/>
              </a:rPr>
              <a:t>moderated,</a:t>
            </a:r>
            <a:r>
              <a:rPr dirty="0" sz="2900" spc="-80" b="1">
                <a:latin typeface="Arial"/>
                <a:cs typeface="Arial"/>
              </a:rPr>
              <a:t> </a:t>
            </a:r>
            <a:r>
              <a:rPr dirty="0" sz="2900" spc="-20" b="1">
                <a:latin typeface="Arial"/>
                <a:cs typeface="Arial"/>
              </a:rPr>
              <a:t>solution-</a:t>
            </a:r>
            <a:r>
              <a:rPr dirty="0" sz="2900" b="1">
                <a:latin typeface="Arial"/>
                <a:cs typeface="Arial"/>
              </a:rPr>
              <a:t>focused</a:t>
            </a:r>
            <a:r>
              <a:rPr dirty="0" sz="2900" spc="-80" b="1">
                <a:latin typeface="Arial"/>
                <a:cs typeface="Arial"/>
              </a:rPr>
              <a:t> </a:t>
            </a:r>
            <a:r>
              <a:rPr dirty="0" sz="2900" spc="-10" b="1">
                <a:latin typeface="Arial"/>
                <a:cs typeface="Arial"/>
              </a:rPr>
              <a:t>communities.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900">
              <a:latin typeface="Arial"/>
              <a:cs typeface="Arial"/>
            </a:endParaRPr>
          </a:p>
          <a:p>
            <a:pPr algn="just" marL="1392555" marR="4515485">
              <a:lnSpc>
                <a:spcPct val="114599"/>
              </a:lnSpc>
            </a:pPr>
            <a:r>
              <a:rPr dirty="0" sz="2400" spc="-10">
                <a:latin typeface="Trebuchet MS"/>
                <a:cs typeface="Trebuchet MS"/>
              </a:rPr>
              <a:t>Thus,</a:t>
            </a:r>
            <a:r>
              <a:rPr dirty="0" sz="2400" spc="3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Online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Health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Communities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(OHCs)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have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become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important</a:t>
            </a:r>
            <a:r>
              <a:rPr dirty="0" sz="2400" spc="34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space </a:t>
            </a:r>
            <a:r>
              <a:rPr dirty="0" sz="2400">
                <a:latin typeface="Trebuchet MS"/>
                <a:cs typeface="Trebuchet MS"/>
              </a:rPr>
              <a:t>where</a:t>
            </a:r>
            <a:r>
              <a:rPr dirty="0" sz="2400" spc="6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patients,</a:t>
            </a:r>
            <a:r>
              <a:rPr dirty="0" sz="2400" spc="6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caregivers,</a:t>
            </a:r>
            <a:r>
              <a:rPr dirty="0" sz="2400" spc="6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6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healthcare</a:t>
            </a:r>
            <a:r>
              <a:rPr dirty="0" sz="2400" spc="6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professionals</a:t>
            </a:r>
            <a:r>
              <a:rPr dirty="0" sz="2400" spc="6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interact,</a:t>
            </a:r>
            <a:r>
              <a:rPr dirty="0" sz="2400" spc="65">
                <a:latin typeface="Trebuchet MS"/>
                <a:cs typeface="Trebuchet MS"/>
              </a:rPr>
              <a:t>  </a:t>
            </a:r>
            <a:r>
              <a:rPr dirty="0" sz="2400" spc="-10">
                <a:latin typeface="Trebuchet MS"/>
                <a:cs typeface="Trebuchet MS"/>
              </a:rPr>
              <a:t>share </a:t>
            </a:r>
            <a:r>
              <a:rPr dirty="0" sz="2400" spc="-75">
                <a:latin typeface="Trebuchet MS"/>
                <a:cs typeface="Trebuchet MS"/>
              </a:rPr>
              <a:t>experiences,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seek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support.</a:t>
            </a:r>
            <a:endParaRPr sz="2400">
              <a:latin typeface="Trebuchet MS"/>
              <a:cs typeface="Trebuchet MS"/>
            </a:endParaRPr>
          </a:p>
          <a:p>
            <a:pPr algn="just" marL="1392555" marR="4515485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These</a:t>
            </a:r>
            <a:r>
              <a:rPr dirty="0" sz="2400" spc="3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platforms</a:t>
            </a:r>
            <a:r>
              <a:rPr dirty="0" sz="2400" spc="30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play</a:t>
            </a:r>
            <a:r>
              <a:rPr dirty="0" sz="2400" spc="30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30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major</a:t>
            </a:r>
            <a:r>
              <a:rPr dirty="0" sz="2400" spc="30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role</a:t>
            </a:r>
            <a:r>
              <a:rPr dirty="0" sz="2400" spc="30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in</a:t>
            </a:r>
            <a:r>
              <a:rPr dirty="0" sz="2400" spc="305">
                <a:latin typeface="Trebuchet MS"/>
                <a:cs typeface="Trebuchet MS"/>
              </a:rPr>
              <a:t> </a:t>
            </a:r>
            <a:r>
              <a:rPr dirty="0" sz="2400" spc="55" b="1">
                <a:latin typeface="Trebuchet MS"/>
                <a:cs typeface="Trebuchet MS"/>
              </a:rPr>
              <a:t>spreading</a:t>
            </a:r>
            <a:r>
              <a:rPr dirty="0" sz="2400" spc="265" b="1">
                <a:latin typeface="Trebuchet MS"/>
                <a:cs typeface="Trebuchet MS"/>
              </a:rPr>
              <a:t> </a:t>
            </a:r>
            <a:r>
              <a:rPr dirty="0" sz="2400" spc="50" b="1">
                <a:latin typeface="Trebuchet MS"/>
                <a:cs typeface="Trebuchet MS"/>
              </a:rPr>
              <a:t>awareness</a:t>
            </a:r>
            <a:r>
              <a:rPr dirty="0" sz="2400" spc="265" b="1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305">
                <a:latin typeface="Trebuchet MS"/>
                <a:cs typeface="Trebuchet MS"/>
              </a:rPr>
              <a:t> </a:t>
            </a:r>
            <a:r>
              <a:rPr dirty="0" sz="2400" spc="-10" b="1">
                <a:latin typeface="Trebuchet MS"/>
                <a:cs typeface="Trebuchet MS"/>
              </a:rPr>
              <a:t>emotional support</a:t>
            </a:r>
            <a:r>
              <a:rPr dirty="0" sz="2400" spc="-1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algn="just" marL="1370330" marR="4537710">
              <a:lnSpc>
                <a:spcPct val="114599"/>
              </a:lnSpc>
              <a:spcBef>
                <a:spcPts val="1985"/>
              </a:spcBef>
            </a:pPr>
            <a:r>
              <a:rPr dirty="0" sz="2400" spc="-80">
                <a:latin typeface="Trebuchet MS"/>
                <a:cs typeface="Trebuchet MS"/>
              </a:rPr>
              <a:t>However,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presence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hate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speech</a:t>
            </a:r>
            <a:r>
              <a:rPr dirty="0" sz="2400" spc="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toxic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language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is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increasing,</a:t>
            </a:r>
            <a:r>
              <a:rPr dirty="0" sz="2400" spc="5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which negatively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impacts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purpose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these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communities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creates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21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stressful </a:t>
            </a:r>
            <a:r>
              <a:rPr dirty="0" sz="2400" spc="-100">
                <a:latin typeface="Trebuchet MS"/>
                <a:cs typeface="Trebuchet MS"/>
              </a:rPr>
              <a:t>environment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for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users.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418009" y="3661225"/>
            <a:ext cx="7666990" cy="2032000"/>
            <a:chOff x="4418009" y="3661225"/>
            <a:chExt cx="7666990" cy="2032000"/>
          </a:xfrm>
        </p:grpSpPr>
        <p:sp>
          <p:nvSpPr>
            <p:cNvPr id="3" name="object 3" descr=""/>
            <p:cNvSpPr/>
            <p:nvPr/>
          </p:nvSpPr>
          <p:spPr>
            <a:xfrm>
              <a:off x="4494209" y="3804100"/>
              <a:ext cx="7571740" cy="1870075"/>
            </a:xfrm>
            <a:custGeom>
              <a:avLst/>
              <a:gdLst/>
              <a:ahLst/>
              <a:cxnLst/>
              <a:rect l="l" t="t" r="r" b="b"/>
              <a:pathLst>
                <a:path w="7571740" h="1870075">
                  <a:moveTo>
                    <a:pt x="0" y="0"/>
                  </a:moveTo>
                  <a:lnTo>
                    <a:pt x="0" y="404475"/>
                  </a:lnTo>
                  <a:lnTo>
                    <a:pt x="4644" y="450546"/>
                  </a:lnTo>
                  <a:lnTo>
                    <a:pt x="17964" y="493456"/>
                  </a:lnTo>
                  <a:lnTo>
                    <a:pt x="39041" y="532287"/>
                  </a:lnTo>
                  <a:lnTo>
                    <a:pt x="66955" y="566120"/>
                  </a:lnTo>
                  <a:lnTo>
                    <a:pt x="100787" y="594034"/>
                  </a:lnTo>
                  <a:lnTo>
                    <a:pt x="139618" y="615110"/>
                  </a:lnTo>
                  <a:lnTo>
                    <a:pt x="182529" y="628431"/>
                  </a:lnTo>
                  <a:lnTo>
                    <a:pt x="228599" y="633075"/>
                  </a:lnTo>
                  <a:lnTo>
                    <a:pt x="7343037" y="633075"/>
                  </a:lnTo>
                  <a:lnTo>
                    <a:pt x="7389108" y="637719"/>
                  </a:lnTo>
                  <a:lnTo>
                    <a:pt x="7432019" y="651039"/>
                  </a:lnTo>
                  <a:lnTo>
                    <a:pt x="7470850" y="672116"/>
                  </a:lnTo>
                  <a:lnTo>
                    <a:pt x="7504682" y="700030"/>
                  </a:lnTo>
                  <a:lnTo>
                    <a:pt x="7532596" y="733863"/>
                  </a:lnTo>
                  <a:lnTo>
                    <a:pt x="7553673" y="772694"/>
                  </a:lnTo>
                  <a:lnTo>
                    <a:pt x="7566993" y="815604"/>
                  </a:lnTo>
                  <a:lnTo>
                    <a:pt x="7571637" y="861675"/>
                  </a:lnTo>
                  <a:lnTo>
                    <a:pt x="7571637" y="186962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8009" y="3661225"/>
              <a:ext cx="152399" cy="15239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72075" y="1918508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20271" y="1690543"/>
            <a:ext cx="5981065" cy="2120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0">
                <a:latin typeface="Trebuchet MS"/>
                <a:cs typeface="Trebuchet MS"/>
              </a:rPr>
              <a:t>Hate</a:t>
            </a:r>
            <a:r>
              <a:rPr dirty="0" sz="2400" spc="-4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speech</a:t>
            </a:r>
            <a:r>
              <a:rPr dirty="0" sz="2400" spc="-40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is</a:t>
            </a:r>
            <a:r>
              <a:rPr dirty="0" sz="2400" spc="-40" b="0">
                <a:latin typeface="Trebuchet MS"/>
                <a:cs typeface="Trebuchet MS"/>
              </a:rPr>
              <a:t> increasingly </a:t>
            </a:r>
            <a:r>
              <a:rPr dirty="0" sz="2400" spc="-25" b="0">
                <a:latin typeface="Trebuchet MS"/>
                <a:cs typeface="Trebuchet MS"/>
              </a:rPr>
              <a:t>present</a:t>
            </a:r>
            <a:r>
              <a:rPr dirty="0" sz="2400" spc="-4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in</a:t>
            </a:r>
            <a:r>
              <a:rPr dirty="0" sz="2400" spc="-40" b="0">
                <a:latin typeface="Trebuchet MS"/>
                <a:cs typeface="Trebuchet MS"/>
              </a:rPr>
              <a:t> </a:t>
            </a:r>
            <a:r>
              <a:rPr dirty="0" sz="2400" spc="-65" b="0">
                <a:latin typeface="Trebuchet MS"/>
                <a:cs typeface="Trebuchet MS"/>
              </a:rPr>
              <a:t>online </a:t>
            </a:r>
            <a:r>
              <a:rPr dirty="0" sz="2400" spc="-50" b="0">
                <a:latin typeface="Trebuchet MS"/>
                <a:cs typeface="Trebuchet MS"/>
              </a:rPr>
              <a:t>health</a:t>
            </a:r>
            <a:r>
              <a:rPr dirty="0" sz="2400" spc="-105" b="0">
                <a:latin typeface="Trebuchet MS"/>
                <a:cs typeface="Trebuchet MS"/>
              </a:rPr>
              <a:t> </a:t>
            </a:r>
            <a:r>
              <a:rPr dirty="0" sz="2400" spc="-75" b="0">
                <a:latin typeface="Trebuchet MS"/>
                <a:cs typeface="Trebuchet MS"/>
              </a:rPr>
              <a:t>communities</a:t>
            </a:r>
            <a:r>
              <a:rPr dirty="0" sz="2400" spc="-100" b="0">
                <a:latin typeface="Trebuchet MS"/>
                <a:cs typeface="Trebuchet MS"/>
              </a:rPr>
              <a:t> </a:t>
            </a:r>
            <a:r>
              <a:rPr dirty="0" sz="2400" spc="-35" b="0">
                <a:latin typeface="Trebuchet MS"/>
                <a:cs typeface="Trebuchet MS"/>
              </a:rPr>
              <a:t>where</a:t>
            </a:r>
            <a:r>
              <a:rPr dirty="0" sz="2400" spc="-100" b="0">
                <a:latin typeface="Trebuchet MS"/>
                <a:cs typeface="Trebuchet MS"/>
              </a:rPr>
              <a:t> </a:t>
            </a:r>
            <a:r>
              <a:rPr dirty="0" sz="2400" spc="-35" b="0">
                <a:latin typeface="Trebuchet MS"/>
                <a:cs typeface="Trebuchet MS"/>
              </a:rPr>
              <a:t>patients</a:t>
            </a:r>
            <a:r>
              <a:rPr dirty="0" sz="2400" spc="-105" b="0">
                <a:latin typeface="Trebuchet MS"/>
                <a:cs typeface="Trebuchet MS"/>
              </a:rPr>
              <a:t> </a:t>
            </a:r>
            <a:r>
              <a:rPr dirty="0" sz="2400" spc="-10" b="0">
                <a:latin typeface="Trebuchet MS"/>
                <a:cs typeface="Trebuchet MS"/>
              </a:rPr>
              <a:t>seek</a:t>
            </a:r>
            <a:r>
              <a:rPr dirty="0" sz="2400" spc="-100" b="0">
                <a:latin typeface="Trebuchet MS"/>
                <a:cs typeface="Trebuchet MS"/>
              </a:rPr>
              <a:t> </a:t>
            </a:r>
            <a:r>
              <a:rPr dirty="0" sz="2400" spc="-40" b="0">
                <a:latin typeface="Trebuchet MS"/>
                <a:cs typeface="Trebuchet MS"/>
              </a:rPr>
              <a:t>help </a:t>
            </a:r>
            <a:r>
              <a:rPr dirty="0" sz="2400" b="0">
                <a:latin typeface="Trebuchet MS"/>
                <a:cs typeface="Trebuchet MS"/>
              </a:rPr>
              <a:t>and</a:t>
            </a:r>
            <a:r>
              <a:rPr dirty="0" sz="2400" spc="229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share</a:t>
            </a:r>
            <a:r>
              <a:rPr dirty="0" sz="2400" spc="235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experiences.</a:t>
            </a:r>
            <a:r>
              <a:rPr dirty="0" sz="2400" spc="235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This</a:t>
            </a:r>
            <a:r>
              <a:rPr dirty="0" sz="2400" spc="229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creates</a:t>
            </a:r>
            <a:r>
              <a:rPr dirty="0" sz="2400" spc="235" b="0">
                <a:latin typeface="Trebuchet MS"/>
                <a:cs typeface="Trebuchet MS"/>
              </a:rPr>
              <a:t>  </a:t>
            </a:r>
            <a:r>
              <a:rPr dirty="0" sz="2400" spc="-50" b="0">
                <a:latin typeface="Trebuchet MS"/>
                <a:cs typeface="Trebuchet MS"/>
              </a:rPr>
              <a:t>a </a:t>
            </a:r>
            <a:r>
              <a:rPr dirty="0" sz="2400" b="0">
                <a:latin typeface="Trebuchet MS"/>
                <a:cs typeface="Trebuchet MS"/>
              </a:rPr>
              <a:t>negative</a:t>
            </a:r>
            <a:r>
              <a:rPr dirty="0" sz="2400" spc="484" b="0">
                <a:latin typeface="Trebuchet MS"/>
                <a:cs typeface="Trebuchet MS"/>
              </a:rPr>
              <a:t>   </a:t>
            </a:r>
            <a:r>
              <a:rPr dirty="0" sz="2400" b="0">
                <a:latin typeface="Trebuchet MS"/>
                <a:cs typeface="Trebuchet MS"/>
              </a:rPr>
              <a:t>and</a:t>
            </a:r>
            <a:r>
              <a:rPr dirty="0" sz="2400" spc="490" b="0">
                <a:latin typeface="Trebuchet MS"/>
                <a:cs typeface="Trebuchet MS"/>
              </a:rPr>
              <a:t>   </a:t>
            </a:r>
            <a:r>
              <a:rPr dirty="0" sz="2400" b="0">
                <a:latin typeface="Trebuchet MS"/>
                <a:cs typeface="Trebuchet MS"/>
              </a:rPr>
              <a:t>unsafe</a:t>
            </a:r>
            <a:r>
              <a:rPr dirty="0" sz="2400" spc="490" b="0">
                <a:latin typeface="Trebuchet MS"/>
                <a:cs typeface="Trebuchet MS"/>
              </a:rPr>
              <a:t>   </a:t>
            </a:r>
            <a:r>
              <a:rPr dirty="0" sz="2400" spc="-60" b="0">
                <a:latin typeface="Trebuchet MS"/>
                <a:cs typeface="Trebuchet MS"/>
              </a:rPr>
              <a:t>communication </a:t>
            </a:r>
            <a:r>
              <a:rPr dirty="0" sz="2400" spc="-35" b="0">
                <a:latin typeface="Trebuchet MS"/>
                <a:cs typeface="Trebuchet MS"/>
              </a:rPr>
              <a:t>environment.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08775" y="4546631"/>
            <a:ext cx="4470400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-10" b="1">
                <a:latin typeface="Arial"/>
                <a:cs typeface="Arial"/>
              </a:rPr>
              <a:t>PROBLEM</a:t>
            </a:r>
            <a:endParaRPr sz="70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81600" y="7034259"/>
            <a:ext cx="95250" cy="952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429796" y="6806294"/>
            <a:ext cx="5430520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rebuchet MS"/>
                <a:cs typeface="Trebuchet MS"/>
              </a:rPr>
              <a:t>Continuous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exposure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harmful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content </a:t>
            </a:r>
            <a:r>
              <a:rPr dirty="0" sz="2400" b="1">
                <a:solidFill>
                  <a:srgbClr val="FF66C3"/>
                </a:solidFill>
                <a:latin typeface="Trebuchet MS"/>
                <a:cs typeface="Trebuchet MS"/>
              </a:rPr>
              <a:t>reduces</a:t>
            </a:r>
            <a:r>
              <a:rPr dirty="0" sz="2400" spc="195" b="1">
                <a:solidFill>
                  <a:srgbClr val="FF66C3"/>
                </a:solidFill>
                <a:latin typeface="Trebuchet MS"/>
                <a:cs typeface="Trebuchet MS"/>
              </a:rPr>
              <a:t>  </a:t>
            </a:r>
            <a:r>
              <a:rPr dirty="0" sz="2400" b="1">
                <a:solidFill>
                  <a:srgbClr val="FF66C3"/>
                </a:solidFill>
                <a:latin typeface="Trebuchet MS"/>
                <a:cs typeface="Trebuchet MS"/>
              </a:rPr>
              <a:t>empathy</a:t>
            </a:r>
            <a:r>
              <a:rPr dirty="0" sz="2400" spc="200" b="1">
                <a:solidFill>
                  <a:srgbClr val="FF66C3"/>
                </a:solidFill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among</a:t>
            </a:r>
            <a:r>
              <a:rPr dirty="0" sz="2400" spc="225">
                <a:latin typeface="Trebuchet MS"/>
                <a:cs typeface="Trebuchet MS"/>
              </a:rPr>
              <a:t>  </a:t>
            </a:r>
            <a:r>
              <a:rPr dirty="0" sz="2400" spc="-60">
                <a:latin typeface="Trebuchet MS"/>
                <a:cs typeface="Trebuchet MS"/>
              </a:rPr>
              <a:t>caregivers, </a:t>
            </a:r>
            <a:r>
              <a:rPr dirty="0" sz="2400">
                <a:latin typeface="Trebuchet MS"/>
                <a:cs typeface="Trebuchet MS"/>
              </a:rPr>
              <a:t>bystanders,</a:t>
            </a:r>
            <a:r>
              <a:rPr dirty="0" sz="2400" spc="-2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1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community</a:t>
            </a:r>
            <a:r>
              <a:rPr dirty="0" sz="2400" spc="-15">
                <a:latin typeface="Trebuchet MS"/>
                <a:cs typeface="Trebuchet MS"/>
              </a:rPr>
              <a:t>  </a:t>
            </a:r>
            <a:r>
              <a:rPr dirty="0" sz="2400" spc="-105">
                <a:latin typeface="Trebuchet MS"/>
                <a:cs typeface="Trebuchet MS"/>
              </a:rPr>
              <a:t>members, </a:t>
            </a:r>
            <a:r>
              <a:rPr dirty="0" sz="2400" spc="-35">
                <a:latin typeface="Trebuchet MS"/>
                <a:cs typeface="Trebuchet MS"/>
              </a:rPr>
              <a:t>weakening</a:t>
            </a:r>
            <a:r>
              <a:rPr dirty="0" sz="2400" spc="-90">
                <a:latin typeface="Trebuchet MS"/>
                <a:cs typeface="Trebuchet MS"/>
              </a:rPr>
              <a:t> the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overall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support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system.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6287" y="1919239"/>
            <a:ext cx="95250" cy="9524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1594482" y="1691274"/>
            <a:ext cx="3271520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1472565" algn="l"/>
                <a:tab pos="1897380" algn="l"/>
                <a:tab pos="2990215" algn="l"/>
              </a:tabLst>
            </a:pPr>
            <a:r>
              <a:rPr dirty="0" sz="2400" spc="-10">
                <a:latin typeface="Trebuchet MS"/>
                <a:cs typeface="Trebuchet MS"/>
              </a:rPr>
              <a:t>Patients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10">
                <a:latin typeface="Trebuchet MS"/>
                <a:cs typeface="Trebuchet MS"/>
              </a:rPr>
              <a:t>exposed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90">
                <a:latin typeface="Trebuchet MS"/>
                <a:cs typeface="Trebuchet MS"/>
              </a:rPr>
              <a:t>to </a:t>
            </a:r>
            <a:r>
              <a:rPr dirty="0" sz="2400" spc="-10">
                <a:latin typeface="Trebuchet MS"/>
                <a:cs typeface="Trebuchet MS"/>
              </a:rPr>
              <a:t>stigmatizing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10">
                <a:latin typeface="Trebuchet MS"/>
                <a:cs typeface="Trebuchet MS"/>
              </a:rPr>
              <a:t>language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022535" y="1691274"/>
            <a:ext cx="156146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9235">
              <a:lnSpc>
                <a:spcPct val="114599"/>
              </a:lnSpc>
              <a:spcBef>
                <a:spcPts val="100"/>
              </a:spcBef>
              <a:tabLst>
                <a:tab pos="1006475" algn="l"/>
                <a:tab pos="1285875" algn="l"/>
              </a:tabLst>
            </a:pPr>
            <a:r>
              <a:rPr dirty="0" sz="2400" spc="-10">
                <a:latin typeface="Trebuchet MS"/>
                <a:cs typeface="Trebuchet MS"/>
              </a:rPr>
              <a:t>toxic</a:t>
            </a:r>
            <a:r>
              <a:rPr dirty="0" sz="2400">
                <a:latin typeface="Trebuchet MS"/>
                <a:cs typeface="Trebuchet MS"/>
              </a:rPr>
              <a:t>		</a:t>
            </a:r>
            <a:r>
              <a:rPr dirty="0" sz="2400" spc="-105">
                <a:latin typeface="Trebuchet MS"/>
                <a:cs typeface="Trebuchet MS"/>
              </a:rPr>
              <a:t>or </a:t>
            </a:r>
            <a:r>
              <a:rPr dirty="0" sz="2400" spc="-10">
                <a:latin typeface="Trebuchet MS"/>
                <a:cs typeface="Trebuchet MS"/>
              </a:rPr>
              <a:t>often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50" b="1" i="1">
                <a:latin typeface="Trebuchet MS"/>
                <a:cs typeface="Trebuchet MS"/>
              </a:rPr>
              <a:t>feel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594482" y="2529474"/>
            <a:ext cx="498983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 i="1">
                <a:latin typeface="Trebuchet MS"/>
                <a:cs typeface="Trebuchet MS"/>
              </a:rPr>
              <a:t>discouraged</a:t>
            </a:r>
            <a:r>
              <a:rPr dirty="0" sz="2400" spc="229" b="1" i="1">
                <a:latin typeface="Trebuchet MS"/>
                <a:cs typeface="Trebuchet MS"/>
              </a:rPr>
              <a:t>  </a:t>
            </a:r>
            <a:r>
              <a:rPr dirty="0" sz="2400" b="1" i="1">
                <a:latin typeface="Trebuchet MS"/>
                <a:cs typeface="Trebuchet MS"/>
              </a:rPr>
              <a:t>and</a:t>
            </a:r>
            <a:r>
              <a:rPr dirty="0" sz="2400" spc="235" b="1" i="1">
                <a:latin typeface="Trebuchet MS"/>
                <a:cs typeface="Trebuchet MS"/>
              </a:rPr>
              <a:t> 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may</a:t>
            </a:r>
            <a:r>
              <a:rPr dirty="0" sz="2400" spc="229" b="1" i="1">
                <a:solidFill>
                  <a:srgbClr val="FF66C3"/>
                </a:solidFill>
                <a:latin typeface="Trebuchet MS"/>
                <a:cs typeface="Trebuchet MS"/>
              </a:rPr>
              <a:t> 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delay</a:t>
            </a:r>
            <a:r>
              <a:rPr dirty="0" sz="2400" spc="235" b="1" i="1">
                <a:solidFill>
                  <a:srgbClr val="FF66C3"/>
                </a:solidFill>
                <a:latin typeface="Trebuchet MS"/>
                <a:cs typeface="Trebuchet MS"/>
              </a:rPr>
              <a:t>  </a:t>
            </a:r>
            <a:r>
              <a:rPr dirty="0" sz="2400" spc="-25" b="1" i="1">
                <a:solidFill>
                  <a:srgbClr val="FF66C3"/>
                </a:solidFill>
                <a:latin typeface="Trebuchet MS"/>
                <a:cs typeface="Trebuchet MS"/>
              </a:rPr>
              <a:t>or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completely</a:t>
            </a:r>
            <a:r>
              <a:rPr dirty="0" sz="2400" spc="135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avoid</a:t>
            </a:r>
            <a:r>
              <a:rPr dirty="0" sz="2400" spc="135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seeking</a:t>
            </a:r>
            <a:r>
              <a:rPr dirty="0" sz="2400" spc="140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spc="-10" b="1" i="1">
                <a:solidFill>
                  <a:srgbClr val="FF66C3"/>
                </a:solidFill>
                <a:latin typeface="Trebuchet MS"/>
                <a:cs typeface="Trebuchet MS"/>
              </a:rPr>
              <a:t>medical treatment.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6287" y="7034991"/>
            <a:ext cx="95250" cy="9524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1594482" y="6807026"/>
            <a:ext cx="4505325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rebuchet MS"/>
                <a:cs typeface="Trebuchet MS"/>
              </a:rPr>
              <a:t>Healthcare</a:t>
            </a:r>
            <a:r>
              <a:rPr dirty="0" sz="2400" spc="8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discussions</a:t>
            </a:r>
            <a:r>
              <a:rPr dirty="0" sz="2400" spc="85">
                <a:latin typeface="Trebuchet MS"/>
                <a:cs typeface="Trebuchet MS"/>
              </a:rPr>
              <a:t>  </a:t>
            </a:r>
            <a:r>
              <a:rPr dirty="0" sz="2400" spc="-10">
                <a:latin typeface="Trebuchet MS"/>
                <a:cs typeface="Trebuchet MS"/>
              </a:rPr>
              <a:t>become </a:t>
            </a:r>
            <a:r>
              <a:rPr dirty="0" sz="2400" spc="-30">
                <a:latin typeface="Trebuchet MS"/>
                <a:cs typeface="Trebuchet MS"/>
              </a:rPr>
              <a:t>dominated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by</a:t>
            </a:r>
            <a:r>
              <a:rPr dirty="0" sz="2400" spc="-65">
                <a:latin typeface="Trebuchet MS"/>
                <a:cs typeface="Trebuchet MS"/>
              </a:rPr>
              <a:t> negativity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fear, </a:t>
            </a:r>
            <a:r>
              <a:rPr dirty="0" sz="2400">
                <a:latin typeface="Trebuchet MS"/>
                <a:cs typeface="Trebuchet MS"/>
              </a:rPr>
              <a:t>rather</a:t>
            </a:r>
            <a:r>
              <a:rPr dirty="0" sz="2400" spc="5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than</a:t>
            </a:r>
            <a:r>
              <a:rPr dirty="0" sz="2400" spc="5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recovery,</a:t>
            </a:r>
            <a:r>
              <a:rPr dirty="0" sz="2400" spc="585">
                <a:latin typeface="Trebuchet MS"/>
                <a:cs typeface="Trebuchet MS"/>
              </a:rPr>
              <a:t> </a:t>
            </a:r>
            <a:r>
              <a:rPr dirty="0" sz="2400" spc="-125">
                <a:latin typeface="Trebuchet MS"/>
                <a:cs typeface="Trebuchet MS"/>
              </a:rPr>
              <a:t>positivity,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patient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wellbeing.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418009" y="3661225"/>
            <a:ext cx="9389745" cy="3049905"/>
            <a:chOff x="4418009" y="3661225"/>
            <a:chExt cx="9389745" cy="3049905"/>
          </a:xfrm>
        </p:grpSpPr>
        <p:sp>
          <p:nvSpPr>
            <p:cNvPr id="18" name="object 18" descr=""/>
            <p:cNvSpPr/>
            <p:nvPr/>
          </p:nvSpPr>
          <p:spPr>
            <a:xfrm>
              <a:off x="5864883" y="4613275"/>
              <a:ext cx="7866380" cy="1955164"/>
            </a:xfrm>
            <a:custGeom>
              <a:avLst/>
              <a:gdLst/>
              <a:ahLst/>
              <a:cxnLst/>
              <a:rect l="l" t="t" r="r" b="b"/>
              <a:pathLst>
                <a:path w="7866380" h="1955165">
                  <a:moveTo>
                    <a:pt x="0" y="0"/>
                  </a:moveTo>
                  <a:lnTo>
                    <a:pt x="0" y="1077575"/>
                  </a:lnTo>
                  <a:lnTo>
                    <a:pt x="4644" y="1123646"/>
                  </a:lnTo>
                  <a:lnTo>
                    <a:pt x="17964" y="1166556"/>
                  </a:lnTo>
                  <a:lnTo>
                    <a:pt x="39041" y="1205387"/>
                  </a:lnTo>
                  <a:lnTo>
                    <a:pt x="66955" y="1239219"/>
                  </a:lnTo>
                  <a:lnTo>
                    <a:pt x="100787" y="1267133"/>
                  </a:lnTo>
                  <a:lnTo>
                    <a:pt x="139618" y="1288210"/>
                  </a:lnTo>
                  <a:lnTo>
                    <a:pt x="182529" y="1301530"/>
                  </a:lnTo>
                  <a:lnTo>
                    <a:pt x="228599" y="1306175"/>
                  </a:lnTo>
                  <a:lnTo>
                    <a:pt x="7637622" y="1306175"/>
                  </a:lnTo>
                  <a:lnTo>
                    <a:pt x="7683692" y="1310819"/>
                  </a:lnTo>
                  <a:lnTo>
                    <a:pt x="7726603" y="1324139"/>
                  </a:lnTo>
                  <a:lnTo>
                    <a:pt x="7765434" y="1345216"/>
                  </a:lnTo>
                  <a:lnTo>
                    <a:pt x="7799266" y="1373130"/>
                  </a:lnTo>
                  <a:lnTo>
                    <a:pt x="7827180" y="1406962"/>
                  </a:lnTo>
                  <a:lnTo>
                    <a:pt x="7848257" y="1445793"/>
                  </a:lnTo>
                  <a:lnTo>
                    <a:pt x="7861577" y="1488704"/>
                  </a:lnTo>
                  <a:lnTo>
                    <a:pt x="7866222" y="1534775"/>
                  </a:lnTo>
                  <a:lnTo>
                    <a:pt x="7866222" y="195494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54906" y="6558690"/>
              <a:ext cx="152399" cy="15239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2065847" y="3804100"/>
              <a:ext cx="1665605" cy="1339850"/>
            </a:xfrm>
            <a:custGeom>
              <a:avLst/>
              <a:gdLst/>
              <a:ahLst/>
              <a:cxnLst/>
              <a:rect l="l" t="t" r="r" b="b"/>
              <a:pathLst>
                <a:path w="1665605" h="1339850">
                  <a:moveTo>
                    <a:pt x="0" y="1339398"/>
                  </a:moveTo>
                  <a:lnTo>
                    <a:pt x="1436657" y="1339398"/>
                  </a:lnTo>
                  <a:lnTo>
                    <a:pt x="1482728" y="1334754"/>
                  </a:lnTo>
                  <a:lnTo>
                    <a:pt x="1525639" y="1321434"/>
                  </a:lnTo>
                  <a:lnTo>
                    <a:pt x="1564470" y="1300357"/>
                  </a:lnTo>
                  <a:lnTo>
                    <a:pt x="1598302" y="1272443"/>
                  </a:lnTo>
                  <a:lnTo>
                    <a:pt x="1626216" y="1238611"/>
                  </a:lnTo>
                  <a:lnTo>
                    <a:pt x="1647293" y="1199780"/>
                  </a:lnTo>
                  <a:lnTo>
                    <a:pt x="1660613" y="1156869"/>
                  </a:lnTo>
                  <a:lnTo>
                    <a:pt x="1665257" y="1110798"/>
                  </a:lnTo>
                  <a:lnTo>
                    <a:pt x="166525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54905" y="3661225"/>
              <a:ext cx="152399" cy="15239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4494209" y="5143499"/>
              <a:ext cx="1370965" cy="1205865"/>
            </a:xfrm>
            <a:custGeom>
              <a:avLst/>
              <a:gdLst/>
              <a:ahLst/>
              <a:cxnLst/>
              <a:rect l="l" t="t" r="r" b="b"/>
              <a:pathLst>
                <a:path w="1370964" h="1205864">
                  <a:moveTo>
                    <a:pt x="0" y="1205826"/>
                  </a:move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137067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8009" y="6339801"/>
              <a:ext cx="152399" cy="1523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78645" y="2187406"/>
            <a:ext cx="0" cy="5913120"/>
          </a:xfrm>
          <a:custGeom>
            <a:avLst/>
            <a:gdLst/>
            <a:ahLst/>
            <a:cxnLst/>
            <a:rect l="l" t="t" r="r" b="b"/>
            <a:pathLst>
              <a:path w="0" h="5913120">
                <a:moveTo>
                  <a:pt x="0" y="5913119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4373" y="3561233"/>
            <a:ext cx="6578448" cy="453930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414384"/>
            <a:ext cx="2899009" cy="18668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86684" y="8414384"/>
            <a:ext cx="2901316" cy="18668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711673" y="2119815"/>
            <a:ext cx="2593340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-20" b="1">
                <a:latin typeface="Arial"/>
                <a:cs typeface="Arial"/>
              </a:rPr>
              <a:t>GOAL</a:t>
            </a:r>
            <a:endParaRPr sz="70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1891" y="4233227"/>
            <a:ext cx="95250" cy="952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600086" y="4005262"/>
            <a:ext cx="6986270" cy="493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4604">
              <a:lnSpc>
                <a:spcPct val="114599"/>
              </a:lnSpc>
              <a:spcBef>
                <a:spcPts val="100"/>
              </a:spcBef>
            </a:pPr>
            <a:r>
              <a:rPr dirty="0" sz="2400" spc="-40">
                <a:latin typeface="Trebuchet MS"/>
                <a:cs typeface="Trebuchet MS"/>
              </a:rPr>
              <a:t>Another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important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goal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is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5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analyze</a:t>
            </a:r>
            <a:r>
              <a:rPr dirty="0" sz="2400" spc="-50" b="1">
                <a:latin typeface="Trebuchet MS"/>
                <a:cs typeface="Trebuchet MS"/>
              </a:rPr>
              <a:t> </a:t>
            </a:r>
            <a:r>
              <a:rPr dirty="0" sz="2400" spc="-20" b="1">
                <a:latin typeface="Trebuchet MS"/>
                <a:cs typeface="Trebuchet MS"/>
              </a:rPr>
              <a:t>the</a:t>
            </a:r>
            <a:r>
              <a:rPr dirty="0" sz="2400" spc="-5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impact</a:t>
            </a:r>
            <a:r>
              <a:rPr dirty="0" sz="2400" spc="-50" b="1">
                <a:latin typeface="Trebuchet MS"/>
                <a:cs typeface="Trebuchet MS"/>
              </a:rPr>
              <a:t> </a:t>
            </a:r>
            <a:r>
              <a:rPr dirty="0" sz="2400" spc="-25" b="1">
                <a:latin typeface="Trebuchet MS"/>
                <a:cs typeface="Trebuchet MS"/>
              </a:rPr>
              <a:t>of </a:t>
            </a:r>
            <a:r>
              <a:rPr dirty="0" sz="2400" b="1">
                <a:latin typeface="Trebuchet MS"/>
                <a:cs typeface="Trebuchet MS"/>
              </a:rPr>
              <a:t>positive</a:t>
            </a:r>
            <a:r>
              <a:rPr dirty="0" sz="2400" spc="-120" b="1">
                <a:latin typeface="Trebuchet MS"/>
                <a:cs typeface="Trebuchet MS"/>
              </a:rPr>
              <a:t> </a:t>
            </a:r>
            <a:r>
              <a:rPr dirty="0" sz="2400" spc="-30" b="1">
                <a:latin typeface="Trebuchet MS"/>
                <a:cs typeface="Trebuchet MS"/>
              </a:rPr>
              <a:t>content</a:t>
            </a:r>
            <a:r>
              <a:rPr dirty="0" sz="2400" spc="-114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on</a:t>
            </a:r>
            <a:r>
              <a:rPr dirty="0" sz="2400" spc="-12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patient</a:t>
            </a:r>
            <a:r>
              <a:rPr dirty="0" sz="2400" spc="-114" b="1">
                <a:latin typeface="Trebuchet MS"/>
                <a:cs typeface="Trebuchet MS"/>
              </a:rPr>
              <a:t> </a:t>
            </a:r>
            <a:r>
              <a:rPr dirty="0" sz="2400" spc="-20" b="1">
                <a:latin typeface="Trebuchet MS"/>
                <a:cs typeface="Trebuchet MS"/>
              </a:rPr>
              <a:t>mindset</a:t>
            </a:r>
            <a:r>
              <a:rPr dirty="0" sz="2400" spc="-20">
                <a:latin typeface="Trebuchet MS"/>
                <a:cs typeface="Trebuchet MS"/>
              </a:rPr>
              <a:t>.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By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promoting </a:t>
            </a:r>
            <a:r>
              <a:rPr dirty="0" sz="2400">
                <a:latin typeface="Trebuchet MS"/>
                <a:cs typeface="Trebuchet MS"/>
              </a:rPr>
              <a:t>supportive</a:t>
            </a:r>
            <a:r>
              <a:rPr dirty="0" sz="2400" spc="3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language,</a:t>
            </a:r>
            <a:r>
              <a:rPr dirty="0" sz="2400" spc="3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3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system</a:t>
            </a:r>
            <a:r>
              <a:rPr dirty="0" sz="2400" spc="3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aims</a:t>
            </a:r>
            <a:r>
              <a:rPr dirty="0" sz="2400" spc="3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36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improve </a:t>
            </a:r>
            <a:r>
              <a:rPr dirty="0" sz="2400">
                <a:latin typeface="Trebuchet MS"/>
                <a:cs typeface="Trebuchet MS"/>
              </a:rPr>
              <a:t>emotional</a:t>
            </a:r>
            <a:r>
              <a:rPr dirty="0" sz="2400" spc="375">
                <a:latin typeface="Trebuchet MS"/>
                <a:cs typeface="Trebuchet MS"/>
              </a:rPr>
              <a:t>  </a:t>
            </a:r>
            <a:r>
              <a:rPr dirty="0" sz="2400" spc="-75">
                <a:latin typeface="Trebuchet MS"/>
                <a:cs typeface="Trebuchet MS"/>
              </a:rPr>
              <a:t>well-</a:t>
            </a:r>
            <a:r>
              <a:rPr dirty="0" sz="2400">
                <a:latin typeface="Trebuchet MS"/>
                <a:cs typeface="Trebuchet MS"/>
              </a:rPr>
              <a:t>being</a:t>
            </a:r>
            <a:r>
              <a:rPr dirty="0" sz="2400" spc="38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38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encourage</a:t>
            </a:r>
            <a:r>
              <a:rPr dirty="0" sz="2400" spc="380">
                <a:latin typeface="Trebuchet MS"/>
                <a:cs typeface="Trebuchet MS"/>
              </a:rPr>
              <a:t>  </a:t>
            </a:r>
            <a:r>
              <a:rPr dirty="0" sz="2400" spc="-80">
                <a:latin typeface="Trebuchet MS"/>
                <a:cs typeface="Trebuchet MS"/>
              </a:rPr>
              <a:t>healthier </a:t>
            </a:r>
            <a:r>
              <a:rPr dirty="0" sz="2400" spc="-70">
                <a:latin typeface="Trebuchet MS"/>
                <a:cs typeface="Trebuchet MS"/>
              </a:rPr>
              <a:t>interactions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within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online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health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communities.</a:t>
            </a:r>
            <a:endParaRPr sz="2400">
              <a:latin typeface="Trebuchet MS"/>
              <a:cs typeface="Trebuchet MS"/>
            </a:endParaRPr>
          </a:p>
          <a:p>
            <a:pPr algn="just" marL="21590" marR="5080">
              <a:lnSpc>
                <a:spcPct val="114599"/>
              </a:lnSpc>
              <a:spcBef>
                <a:spcPts val="2340"/>
              </a:spcBef>
            </a:pPr>
            <a:r>
              <a:rPr dirty="0" sz="2400" spc="-80">
                <a:latin typeface="Trebuchet MS"/>
                <a:cs typeface="Trebuchet MS"/>
              </a:rPr>
              <a:t>Additionally,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the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project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aims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enhance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the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quality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healthcare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discussions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by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filtering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95">
                <a:latin typeface="Trebuchet MS"/>
                <a:cs typeface="Trebuchet MS"/>
              </a:rPr>
              <a:t>harmful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content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229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highlighting</a:t>
            </a:r>
            <a:r>
              <a:rPr dirty="0" sz="2400" spc="229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constructive</a:t>
            </a:r>
            <a:r>
              <a:rPr dirty="0" sz="2400" spc="23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communication.</a:t>
            </a:r>
            <a:r>
              <a:rPr dirty="0" sz="2400" spc="229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This </a:t>
            </a:r>
            <a:r>
              <a:rPr dirty="0" sz="2400" spc="-20">
                <a:latin typeface="Trebuchet MS"/>
                <a:cs typeface="Trebuchet MS"/>
              </a:rPr>
              <a:t>contributes</a:t>
            </a:r>
            <a:r>
              <a:rPr dirty="0" sz="2400" spc="1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11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building</a:t>
            </a:r>
            <a:r>
              <a:rPr dirty="0" sz="2400" spc="11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114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more</a:t>
            </a:r>
            <a:r>
              <a:rPr dirty="0" sz="2400" spc="114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inclusive,</a:t>
            </a:r>
            <a:r>
              <a:rPr dirty="0" sz="2400" spc="1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safe,</a:t>
            </a:r>
            <a:r>
              <a:rPr dirty="0" sz="2400" spc="114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and </a:t>
            </a:r>
            <a:r>
              <a:rPr dirty="0" sz="2400" spc="-30">
                <a:latin typeface="Trebuchet MS"/>
                <a:cs typeface="Trebuchet MS"/>
              </a:rPr>
              <a:t>supportive</a:t>
            </a:r>
            <a:r>
              <a:rPr dirty="0" sz="2400" spc="3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environment</a:t>
            </a:r>
            <a:r>
              <a:rPr dirty="0" sz="2400" spc="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for</a:t>
            </a:r>
            <a:r>
              <a:rPr dirty="0" sz="2400" spc="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patients</a:t>
            </a:r>
            <a:r>
              <a:rPr dirty="0" sz="2400" spc="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35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healthcare </a:t>
            </a:r>
            <a:r>
              <a:rPr dirty="0" sz="2400" spc="-10">
                <a:latin typeface="Trebuchet MS"/>
                <a:cs typeface="Trebuchet MS"/>
              </a:rPr>
              <a:t>professionals.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61416" y="6626070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1891" y="1926108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600086" y="1698143"/>
            <a:ext cx="6976745" cy="2120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0">
                <a:latin typeface="Trebuchet MS"/>
                <a:cs typeface="Trebuchet MS"/>
              </a:rPr>
              <a:t>The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primary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goal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of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this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project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is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to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develop</a:t>
            </a:r>
            <a:r>
              <a:rPr dirty="0" sz="2400" spc="385" b="0">
                <a:latin typeface="Trebuchet MS"/>
                <a:cs typeface="Trebuchet MS"/>
              </a:rPr>
              <a:t> </a:t>
            </a:r>
            <a:r>
              <a:rPr dirty="0" sz="2400" spc="50" b="0">
                <a:latin typeface="Trebuchet MS"/>
                <a:cs typeface="Trebuchet MS"/>
              </a:rPr>
              <a:t>a </a:t>
            </a:r>
            <a:r>
              <a:rPr dirty="0" sz="2400" spc="-75" b="0">
                <a:latin typeface="Trebuchet MS"/>
                <a:cs typeface="Trebuchet MS"/>
              </a:rPr>
              <a:t>reliable</a:t>
            </a:r>
            <a:r>
              <a:rPr dirty="0" sz="2400" spc="-20" b="0">
                <a:latin typeface="Trebuchet MS"/>
                <a:cs typeface="Trebuchet MS"/>
              </a:rPr>
              <a:t> </a:t>
            </a:r>
            <a:r>
              <a:rPr dirty="0" sz="2400" spc="-85" b="0">
                <a:latin typeface="Trebuchet MS"/>
                <a:cs typeface="Trebuchet MS"/>
              </a:rPr>
              <a:t>system</a:t>
            </a:r>
            <a:r>
              <a:rPr dirty="0" sz="2400" spc="-15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capable</a:t>
            </a:r>
            <a:r>
              <a:rPr dirty="0" sz="2400" spc="-20" b="0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of</a:t>
            </a:r>
            <a:r>
              <a:rPr dirty="0" sz="2400" spc="-15" b="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automatically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detecting </a:t>
            </a:r>
            <a:r>
              <a:rPr dirty="0" sz="2400" spc="60">
                <a:latin typeface="Trebuchet MS"/>
                <a:cs typeface="Trebuchet MS"/>
              </a:rPr>
              <a:t>and</a:t>
            </a:r>
            <a:r>
              <a:rPr dirty="0" sz="2400" spc="75">
                <a:latin typeface="Trebuchet MS"/>
                <a:cs typeface="Trebuchet MS"/>
              </a:rPr>
              <a:t> </a:t>
            </a:r>
            <a:r>
              <a:rPr dirty="0" sz="2400" spc="45">
                <a:latin typeface="Trebuchet MS"/>
                <a:cs typeface="Trebuchet MS"/>
              </a:rPr>
              <a:t>classifying</a:t>
            </a:r>
            <a:r>
              <a:rPr dirty="0" sz="2400" spc="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hate</a:t>
            </a:r>
            <a:r>
              <a:rPr dirty="0" sz="2400" spc="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speech</a:t>
            </a:r>
            <a:r>
              <a:rPr dirty="0" sz="2400" spc="75">
                <a:latin typeface="Trebuchet MS"/>
                <a:cs typeface="Trebuchet MS"/>
              </a:rPr>
              <a:t> </a:t>
            </a:r>
            <a:r>
              <a:rPr dirty="0" sz="2400" b="0">
                <a:latin typeface="Trebuchet MS"/>
                <a:cs typeface="Trebuchet MS"/>
              </a:rPr>
              <a:t>in</a:t>
            </a:r>
            <a:r>
              <a:rPr dirty="0" sz="2400" spc="120" b="0">
                <a:latin typeface="Trebuchet MS"/>
                <a:cs typeface="Trebuchet MS"/>
              </a:rPr>
              <a:t> </a:t>
            </a:r>
            <a:r>
              <a:rPr dirty="0" sz="2400" spc="-45" b="0">
                <a:latin typeface="Trebuchet MS"/>
                <a:cs typeface="Trebuchet MS"/>
              </a:rPr>
              <a:t>healthcare-</a:t>
            </a:r>
            <a:r>
              <a:rPr dirty="0" sz="2400" spc="-40" b="0">
                <a:latin typeface="Trebuchet MS"/>
                <a:cs typeface="Trebuchet MS"/>
              </a:rPr>
              <a:t>related </a:t>
            </a:r>
            <a:r>
              <a:rPr dirty="0" sz="2400" b="0">
                <a:latin typeface="Trebuchet MS"/>
                <a:cs typeface="Trebuchet MS"/>
              </a:rPr>
              <a:t>text</a:t>
            </a:r>
            <a:r>
              <a:rPr dirty="0" sz="2400" spc="190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data.</a:t>
            </a:r>
            <a:r>
              <a:rPr dirty="0" sz="2400" spc="190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This</a:t>
            </a:r>
            <a:r>
              <a:rPr dirty="0" sz="2400" spc="195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helps</a:t>
            </a:r>
            <a:r>
              <a:rPr dirty="0" sz="2400" spc="190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ensure</a:t>
            </a:r>
            <a:r>
              <a:rPr dirty="0" sz="2400" spc="190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safer</a:t>
            </a:r>
            <a:r>
              <a:rPr dirty="0" sz="2400" spc="195" b="0">
                <a:latin typeface="Trebuchet MS"/>
                <a:cs typeface="Trebuchet MS"/>
              </a:rPr>
              <a:t>  </a:t>
            </a:r>
            <a:r>
              <a:rPr dirty="0" sz="2400" b="0">
                <a:latin typeface="Trebuchet MS"/>
                <a:cs typeface="Trebuchet MS"/>
              </a:rPr>
              <a:t>and</a:t>
            </a:r>
            <a:r>
              <a:rPr dirty="0" sz="2400" spc="190" b="0">
                <a:latin typeface="Trebuchet MS"/>
                <a:cs typeface="Trebuchet MS"/>
              </a:rPr>
              <a:t>  </a:t>
            </a:r>
            <a:r>
              <a:rPr dirty="0" sz="2400" spc="-65" b="0">
                <a:latin typeface="Trebuchet MS"/>
                <a:cs typeface="Trebuchet MS"/>
              </a:rPr>
              <a:t>more respectful</a:t>
            </a:r>
            <a:r>
              <a:rPr dirty="0" sz="2400" spc="-95" b="0">
                <a:latin typeface="Trebuchet MS"/>
                <a:cs typeface="Trebuchet MS"/>
              </a:rPr>
              <a:t> </a:t>
            </a:r>
            <a:r>
              <a:rPr dirty="0" sz="2400" spc="-60" b="0">
                <a:latin typeface="Trebuchet MS"/>
                <a:cs typeface="Trebuchet MS"/>
              </a:rPr>
              <a:t>communication</a:t>
            </a:r>
            <a:r>
              <a:rPr dirty="0" sz="2400" spc="-85" b="0">
                <a:latin typeface="Trebuchet MS"/>
                <a:cs typeface="Trebuchet MS"/>
              </a:rPr>
              <a:t> </a:t>
            </a:r>
            <a:r>
              <a:rPr dirty="0" sz="2400" spc="-120" b="0">
                <a:latin typeface="Trebuchet MS"/>
                <a:cs typeface="Trebuchet MS"/>
              </a:rPr>
              <a:t>in</a:t>
            </a:r>
            <a:r>
              <a:rPr dirty="0" sz="2400" spc="-75" b="0">
                <a:latin typeface="Trebuchet MS"/>
                <a:cs typeface="Trebuchet MS"/>
              </a:rPr>
              <a:t> </a:t>
            </a:r>
            <a:r>
              <a:rPr dirty="0" sz="2400" spc="-40" b="0">
                <a:latin typeface="Trebuchet MS"/>
                <a:cs typeface="Trebuchet MS"/>
              </a:rPr>
              <a:t>digital</a:t>
            </a:r>
            <a:r>
              <a:rPr dirty="0" sz="2400" spc="-85" b="0">
                <a:latin typeface="Trebuchet MS"/>
                <a:cs typeface="Trebuchet MS"/>
              </a:rPr>
              <a:t> </a:t>
            </a:r>
            <a:r>
              <a:rPr dirty="0" sz="2400" spc="-75" b="0">
                <a:latin typeface="Trebuchet MS"/>
                <a:cs typeface="Trebuchet MS"/>
              </a:rPr>
              <a:t>health</a:t>
            </a:r>
            <a:r>
              <a:rPr dirty="0" sz="2400" spc="-85" b="0">
                <a:latin typeface="Trebuchet MS"/>
                <a:cs typeface="Trebuchet MS"/>
              </a:rPr>
              <a:t> </a:t>
            </a:r>
            <a:r>
              <a:rPr dirty="0" sz="2400" spc="-50" b="0">
                <a:latin typeface="Trebuchet MS"/>
                <a:cs typeface="Trebuchet MS"/>
              </a:rPr>
              <a:t>platforms.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58924"/>
            <a:ext cx="7898130" cy="38100"/>
          </a:xfrm>
          <a:custGeom>
            <a:avLst/>
            <a:gdLst/>
            <a:ahLst/>
            <a:cxnLst/>
            <a:rect l="l" t="t" r="r" b="b"/>
            <a:pathLst>
              <a:path w="7898130" h="38100">
                <a:moveTo>
                  <a:pt x="7897668" y="38099"/>
                </a:moveTo>
                <a:lnTo>
                  <a:pt x="0" y="38099"/>
                </a:lnTo>
                <a:lnTo>
                  <a:pt x="0" y="0"/>
                </a:lnTo>
                <a:lnTo>
                  <a:pt x="7897668" y="0"/>
                </a:lnTo>
                <a:lnTo>
                  <a:pt x="789766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9542" y="5376532"/>
            <a:ext cx="8518153" cy="4861848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029946" y="7429521"/>
            <a:ext cx="1231900" cy="791210"/>
          </a:xfrm>
          <a:custGeom>
            <a:avLst/>
            <a:gdLst/>
            <a:ahLst/>
            <a:cxnLst/>
            <a:rect l="l" t="t" r="r" b="b"/>
            <a:pathLst>
              <a:path w="1231900" h="791209">
                <a:moveTo>
                  <a:pt x="747930" y="790961"/>
                </a:moveTo>
                <a:lnTo>
                  <a:pt x="747930" y="549164"/>
                </a:lnTo>
                <a:lnTo>
                  <a:pt x="0" y="549164"/>
                </a:lnTo>
                <a:lnTo>
                  <a:pt x="0" y="241796"/>
                </a:lnTo>
                <a:lnTo>
                  <a:pt x="747930" y="241796"/>
                </a:lnTo>
                <a:lnTo>
                  <a:pt x="747930" y="0"/>
                </a:lnTo>
                <a:lnTo>
                  <a:pt x="1231523" y="395481"/>
                </a:lnTo>
                <a:lnTo>
                  <a:pt x="747930" y="790961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60"/>
              <a:t>  </a:t>
            </a:r>
            <a:r>
              <a:rPr dirty="0"/>
              <a:t>project</a:t>
            </a:r>
            <a:r>
              <a:rPr dirty="0" spc="65"/>
              <a:t>  </a:t>
            </a:r>
            <a:r>
              <a:rPr dirty="0"/>
              <a:t>uses</a:t>
            </a:r>
            <a:r>
              <a:rPr dirty="0" spc="65"/>
              <a:t>  </a:t>
            </a:r>
            <a:r>
              <a:rPr dirty="0"/>
              <a:t>the</a:t>
            </a:r>
            <a:r>
              <a:rPr dirty="0" spc="65"/>
              <a:t>  </a:t>
            </a:r>
            <a:r>
              <a:rPr dirty="0"/>
              <a:t>Davidson</a:t>
            </a:r>
            <a:r>
              <a:rPr dirty="0" spc="65"/>
              <a:t>  </a:t>
            </a:r>
            <a:r>
              <a:rPr dirty="0"/>
              <a:t>Hate</a:t>
            </a:r>
            <a:r>
              <a:rPr dirty="0" spc="65"/>
              <a:t>  </a:t>
            </a:r>
            <a:r>
              <a:rPr dirty="0"/>
              <a:t>Speech</a:t>
            </a:r>
            <a:r>
              <a:rPr dirty="0" spc="65"/>
              <a:t>  </a:t>
            </a:r>
            <a:r>
              <a:rPr dirty="0"/>
              <a:t>dataset,</a:t>
            </a:r>
            <a:r>
              <a:rPr dirty="0" spc="65"/>
              <a:t>  </a:t>
            </a:r>
            <a:r>
              <a:rPr dirty="0"/>
              <a:t>which</a:t>
            </a:r>
            <a:r>
              <a:rPr dirty="0" spc="65"/>
              <a:t>  </a:t>
            </a:r>
            <a:r>
              <a:rPr dirty="0"/>
              <a:t>consists</a:t>
            </a:r>
            <a:r>
              <a:rPr dirty="0" spc="65"/>
              <a:t>  </a:t>
            </a:r>
            <a:r>
              <a:rPr dirty="0" spc="-25"/>
              <a:t>of </a:t>
            </a:r>
            <a:r>
              <a:rPr dirty="0"/>
              <a:t>approximately</a:t>
            </a:r>
            <a:r>
              <a:rPr dirty="0" spc="-55"/>
              <a:t>  </a:t>
            </a:r>
            <a:r>
              <a:rPr dirty="0"/>
              <a:t>24,783</a:t>
            </a:r>
            <a:r>
              <a:rPr dirty="0" spc="-55"/>
              <a:t>  </a:t>
            </a:r>
            <a:r>
              <a:rPr dirty="0"/>
              <a:t>labeled</a:t>
            </a:r>
            <a:r>
              <a:rPr dirty="0" spc="-55"/>
              <a:t>  </a:t>
            </a:r>
            <a:r>
              <a:rPr dirty="0"/>
              <a:t>tweets.</a:t>
            </a:r>
            <a:r>
              <a:rPr dirty="0" spc="-55"/>
              <a:t>  </a:t>
            </a:r>
            <a:r>
              <a:rPr dirty="0"/>
              <a:t>Each</a:t>
            </a:r>
            <a:r>
              <a:rPr dirty="0" spc="-55"/>
              <a:t>  </a:t>
            </a:r>
            <a:r>
              <a:rPr dirty="0"/>
              <a:t>tweet</a:t>
            </a:r>
            <a:r>
              <a:rPr dirty="0" spc="-55"/>
              <a:t>  </a:t>
            </a:r>
            <a:r>
              <a:rPr dirty="0"/>
              <a:t>is</a:t>
            </a:r>
            <a:r>
              <a:rPr dirty="0" spc="-55"/>
              <a:t>  </a:t>
            </a:r>
            <a:r>
              <a:rPr dirty="0"/>
              <a:t>categorized</a:t>
            </a:r>
            <a:r>
              <a:rPr dirty="0" spc="-55"/>
              <a:t>  </a:t>
            </a:r>
            <a:r>
              <a:rPr dirty="0"/>
              <a:t>as</a:t>
            </a:r>
            <a:r>
              <a:rPr dirty="0" spc="-50"/>
              <a:t>  </a:t>
            </a:r>
            <a:r>
              <a:rPr dirty="0" spc="-20" b="1">
                <a:latin typeface="Trebuchet MS"/>
                <a:cs typeface="Trebuchet MS"/>
              </a:rPr>
              <a:t>hate </a:t>
            </a:r>
            <a:r>
              <a:rPr dirty="0" spc="-10" b="1">
                <a:latin typeface="Trebuchet MS"/>
                <a:cs typeface="Trebuchet MS"/>
              </a:rPr>
              <a:t>speech,</a:t>
            </a:r>
            <a:r>
              <a:rPr dirty="0" spc="-55" b="1">
                <a:latin typeface="Trebuchet MS"/>
                <a:cs typeface="Trebuchet MS"/>
              </a:rPr>
              <a:t> </a:t>
            </a:r>
            <a:r>
              <a:rPr dirty="0" spc="-10" b="1">
                <a:latin typeface="Trebuchet MS"/>
                <a:cs typeface="Trebuchet MS"/>
              </a:rPr>
              <a:t>offensive</a:t>
            </a:r>
            <a:r>
              <a:rPr dirty="0" spc="-55" b="1">
                <a:latin typeface="Trebuchet MS"/>
                <a:cs typeface="Trebuchet MS"/>
              </a:rPr>
              <a:t> </a:t>
            </a:r>
            <a:r>
              <a:rPr dirty="0" b="1">
                <a:latin typeface="Trebuchet MS"/>
                <a:cs typeface="Trebuchet MS"/>
              </a:rPr>
              <a:t>language,</a:t>
            </a:r>
            <a:r>
              <a:rPr dirty="0" spc="-55" b="1">
                <a:latin typeface="Trebuchet MS"/>
                <a:cs typeface="Trebuchet MS"/>
              </a:rPr>
              <a:t> </a:t>
            </a:r>
            <a:r>
              <a:rPr dirty="0" spc="-60" b="1">
                <a:latin typeface="Trebuchet MS"/>
                <a:cs typeface="Trebuchet MS"/>
              </a:rPr>
              <a:t>or</a:t>
            </a:r>
            <a:r>
              <a:rPr dirty="0" spc="-55" b="1">
                <a:latin typeface="Trebuchet MS"/>
                <a:cs typeface="Trebuchet MS"/>
              </a:rPr>
              <a:t> </a:t>
            </a:r>
            <a:r>
              <a:rPr dirty="0" spc="-40" b="1">
                <a:latin typeface="Trebuchet MS"/>
                <a:cs typeface="Trebuchet MS"/>
              </a:rPr>
              <a:t>neutral</a:t>
            </a:r>
            <a:r>
              <a:rPr dirty="0" spc="-50" b="1">
                <a:latin typeface="Trebuchet MS"/>
                <a:cs typeface="Trebuchet MS"/>
              </a:rPr>
              <a:t> </a:t>
            </a:r>
            <a:r>
              <a:rPr dirty="0" spc="-10" b="1">
                <a:latin typeface="Trebuchet MS"/>
                <a:cs typeface="Trebuchet MS"/>
              </a:rPr>
              <a:t>content</a:t>
            </a:r>
            <a:r>
              <a:rPr dirty="0" spc="-10"/>
              <a:t>.</a:t>
            </a:r>
          </a:p>
          <a:p>
            <a:pPr algn="just" marL="12700" marR="5080">
              <a:lnSpc>
                <a:spcPct val="114599"/>
              </a:lnSpc>
              <a:spcBef>
                <a:spcPts val="2095"/>
              </a:spcBef>
            </a:pPr>
            <a:r>
              <a:rPr dirty="0"/>
              <a:t>This</a:t>
            </a:r>
            <a:r>
              <a:rPr dirty="0" spc="445"/>
              <a:t> </a:t>
            </a:r>
            <a:r>
              <a:rPr dirty="0"/>
              <a:t>dataset</a:t>
            </a:r>
            <a:r>
              <a:rPr dirty="0" spc="450"/>
              <a:t> </a:t>
            </a:r>
            <a:r>
              <a:rPr dirty="0"/>
              <a:t>is</a:t>
            </a:r>
            <a:r>
              <a:rPr dirty="0" spc="450"/>
              <a:t> </a:t>
            </a:r>
            <a:r>
              <a:rPr dirty="0"/>
              <a:t>widely</a:t>
            </a:r>
            <a:r>
              <a:rPr dirty="0" spc="450"/>
              <a:t> </a:t>
            </a:r>
            <a:r>
              <a:rPr dirty="0"/>
              <a:t>used</a:t>
            </a:r>
            <a:r>
              <a:rPr dirty="0" spc="450"/>
              <a:t> </a:t>
            </a:r>
            <a:r>
              <a:rPr dirty="0"/>
              <a:t>in</a:t>
            </a:r>
            <a:r>
              <a:rPr dirty="0" spc="450"/>
              <a:t> </a:t>
            </a:r>
            <a:r>
              <a:rPr dirty="0"/>
              <a:t>NLP</a:t>
            </a:r>
            <a:r>
              <a:rPr dirty="0" spc="450"/>
              <a:t> </a:t>
            </a:r>
            <a:r>
              <a:rPr dirty="0"/>
              <a:t>research</a:t>
            </a:r>
            <a:r>
              <a:rPr dirty="0" spc="450"/>
              <a:t> </a:t>
            </a:r>
            <a:r>
              <a:rPr dirty="0"/>
              <a:t>and</a:t>
            </a:r>
            <a:r>
              <a:rPr dirty="0" spc="450"/>
              <a:t> </a:t>
            </a:r>
            <a:r>
              <a:rPr dirty="0"/>
              <a:t>provides</a:t>
            </a:r>
            <a:r>
              <a:rPr dirty="0" spc="450"/>
              <a:t> </a:t>
            </a:r>
            <a:r>
              <a:rPr dirty="0" spc="100"/>
              <a:t>a</a:t>
            </a:r>
            <a:r>
              <a:rPr dirty="0" spc="450"/>
              <a:t> </a:t>
            </a:r>
            <a:r>
              <a:rPr dirty="0"/>
              <a:t>solid</a:t>
            </a:r>
            <a:r>
              <a:rPr dirty="0" spc="450"/>
              <a:t> </a:t>
            </a:r>
            <a:r>
              <a:rPr dirty="0"/>
              <a:t>base</a:t>
            </a:r>
            <a:r>
              <a:rPr dirty="0" spc="450"/>
              <a:t> </a:t>
            </a:r>
            <a:r>
              <a:rPr dirty="0" spc="-25"/>
              <a:t>for </a:t>
            </a:r>
            <a:r>
              <a:rPr dirty="0" spc="-45"/>
              <a:t>understanding</a:t>
            </a:r>
            <a:r>
              <a:rPr dirty="0" spc="-100"/>
              <a:t> </a:t>
            </a:r>
            <a:r>
              <a:rPr dirty="0" spc="-60"/>
              <a:t>patterns</a:t>
            </a:r>
            <a:r>
              <a:rPr dirty="0" spc="-85"/>
              <a:t> </a:t>
            </a:r>
            <a:r>
              <a:rPr dirty="0" spc="-120"/>
              <a:t>in</a:t>
            </a:r>
            <a:r>
              <a:rPr dirty="0" spc="-75"/>
              <a:t> </a:t>
            </a:r>
            <a:r>
              <a:rPr dirty="0" spc="-65"/>
              <a:t>toxic</a:t>
            </a:r>
            <a:r>
              <a:rPr dirty="0" spc="-85"/>
              <a:t> </a:t>
            </a:r>
            <a:r>
              <a:rPr dirty="0" spc="-10"/>
              <a:t>language.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3412" rIns="0" bIns="0" rtlCol="0" vert="horz">
            <a:spAutoFit/>
          </a:bodyPr>
          <a:lstStyle/>
          <a:p>
            <a:pPr marL="6482715">
              <a:lnSpc>
                <a:spcPct val="100000"/>
              </a:lnSpc>
              <a:spcBef>
                <a:spcPts val="100"/>
              </a:spcBef>
            </a:pPr>
            <a:r>
              <a:rPr dirty="0" sz="6100" spc="-90"/>
              <a:t>DATASET</a:t>
            </a:r>
            <a:r>
              <a:rPr dirty="0" sz="6100" spc="-315"/>
              <a:t> </a:t>
            </a:r>
            <a:r>
              <a:rPr dirty="0" sz="6100" spc="-10"/>
              <a:t>OVERVIEW</a:t>
            </a:r>
            <a:endParaRPr sz="6100"/>
          </a:p>
        </p:txBody>
      </p:sp>
      <p:sp>
        <p:nvSpPr>
          <p:cNvPr id="8" name="object 8" descr=""/>
          <p:cNvSpPr txBox="1"/>
          <p:nvPr/>
        </p:nvSpPr>
        <p:spPr>
          <a:xfrm>
            <a:off x="407441" y="6518047"/>
            <a:ext cx="767905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2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graph</a:t>
            </a:r>
            <a:r>
              <a:rPr dirty="0" sz="2400" spc="2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clearly</a:t>
            </a:r>
            <a:r>
              <a:rPr dirty="0" sz="2400" spc="229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shows</a:t>
            </a:r>
            <a:r>
              <a:rPr dirty="0" sz="2400" spc="2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that</a:t>
            </a:r>
            <a:r>
              <a:rPr dirty="0" sz="2400" spc="229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hate</a:t>
            </a:r>
            <a:r>
              <a:rPr dirty="0" sz="2400" spc="2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speech</a:t>
            </a:r>
            <a:r>
              <a:rPr dirty="0" sz="2400" spc="229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is</a:t>
            </a:r>
            <a:r>
              <a:rPr dirty="0" sz="2400" spc="22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229">
                <a:latin typeface="Trebuchet MS"/>
                <a:cs typeface="Trebuchet MS"/>
              </a:rPr>
              <a:t> </a:t>
            </a:r>
            <a:r>
              <a:rPr dirty="0" sz="2400" spc="-114">
                <a:latin typeface="Trebuchet MS"/>
                <a:cs typeface="Trebuchet MS"/>
              </a:rPr>
              <a:t>minority </a:t>
            </a:r>
            <a:r>
              <a:rPr dirty="0" sz="2400" spc="-35">
                <a:latin typeface="Trebuchet MS"/>
                <a:cs typeface="Trebuchet MS"/>
              </a:rPr>
              <a:t>class,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which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creates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class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imbalance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problem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that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must </a:t>
            </a:r>
            <a:r>
              <a:rPr dirty="0" sz="2400">
                <a:latin typeface="Trebuchet MS"/>
                <a:cs typeface="Trebuchet MS"/>
              </a:rPr>
              <a:t>be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handled</a:t>
            </a:r>
            <a:r>
              <a:rPr dirty="0" sz="2400" spc="-90">
                <a:latin typeface="Trebuchet MS"/>
                <a:cs typeface="Trebuchet MS"/>
              </a:rPr>
              <a:t> carefully </a:t>
            </a:r>
            <a:r>
              <a:rPr dirty="0" sz="2400" spc="-45">
                <a:latin typeface="Trebuchet MS"/>
                <a:cs typeface="Trebuchet MS"/>
              </a:rPr>
              <a:t>during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model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training.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58924"/>
            <a:ext cx="7898130" cy="38100"/>
          </a:xfrm>
          <a:custGeom>
            <a:avLst/>
            <a:gdLst/>
            <a:ahLst/>
            <a:cxnLst/>
            <a:rect l="l" t="t" r="r" b="b"/>
            <a:pathLst>
              <a:path w="7898130" h="38100">
                <a:moveTo>
                  <a:pt x="7897668" y="38099"/>
                </a:moveTo>
                <a:lnTo>
                  <a:pt x="0" y="38099"/>
                </a:lnTo>
                <a:lnTo>
                  <a:pt x="0" y="0"/>
                </a:lnTo>
                <a:lnTo>
                  <a:pt x="7897668" y="0"/>
                </a:lnTo>
                <a:lnTo>
                  <a:pt x="789766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2335" y="5438562"/>
            <a:ext cx="12048910" cy="48482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7353" y="4708606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25549" y="2957214"/>
            <a:ext cx="10150475" cy="280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23240">
              <a:lnSpc>
                <a:spcPct val="114599"/>
              </a:lnSpc>
              <a:spcBef>
                <a:spcPts val="100"/>
              </a:spcBef>
            </a:pPr>
            <a:r>
              <a:rPr dirty="0" sz="2400" spc="-50">
                <a:latin typeface="Trebuchet MS"/>
                <a:cs typeface="Trebuchet MS"/>
              </a:rPr>
              <a:t>Before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applying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any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models,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>
                <a:latin typeface="Trebuchet MS"/>
                <a:cs typeface="Trebuchet MS"/>
              </a:rPr>
              <a:t>data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cleaned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prepared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ensure </a:t>
            </a:r>
            <a:r>
              <a:rPr dirty="0" sz="2400" spc="-85">
                <a:latin typeface="Trebuchet MS"/>
                <a:cs typeface="Trebuchet MS"/>
              </a:rPr>
              <a:t>better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accuracy.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55">
                <a:latin typeface="Trebuchet MS"/>
                <a:cs typeface="Trebuchet MS"/>
              </a:rPr>
              <a:t>This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includes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removing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unwanted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elements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such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10">
                <a:latin typeface="Trebuchet MS"/>
                <a:cs typeface="Trebuchet MS"/>
              </a:rPr>
              <a:t>URLs, </a:t>
            </a:r>
            <a:r>
              <a:rPr dirty="0" sz="2400" spc="-20">
                <a:latin typeface="Trebuchet MS"/>
                <a:cs typeface="Trebuchet MS"/>
              </a:rPr>
              <a:t>special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characters,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duplicate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entries.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  <a:spcBef>
                <a:spcPts val="2095"/>
              </a:spcBef>
            </a:pPr>
            <a:r>
              <a:rPr dirty="0" sz="2400" spc="-70">
                <a:latin typeface="Trebuchet MS"/>
                <a:cs typeface="Trebuchet MS"/>
              </a:rPr>
              <a:t>Outliers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text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length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are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handled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using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45" b="1">
                <a:latin typeface="Trebuchet MS"/>
                <a:cs typeface="Trebuchet MS"/>
              </a:rPr>
              <a:t>winsorization</a:t>
            </a:r>
            <a:r>
              <a:rPr dirty="0" sz="2400" spc="-45">
                <a:latin typeface="Trebuchet MS"/>
                <a:cs typeface="Trebuchet MS"/>
              </a:rPr>
              <a:t>,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 spc="-10">
                <a:latin typeface="Trebuchet MS"/>
                <a:cs typeface="Trebuchet MS"/>
              </a:rPr>
              <a:t>dataset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is </a:t>
            </a:r>
            <a:r>
              <a:rPr dirty="0" sz="2400">
                <a:latin typeface="Trebuchet MS"/>
                <a:cs typeface="Trebuchet MS"/>
              </a:rPr>
              <a:t>balanced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using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stratified</a:t>
            </a:r>
            <a:r>
              <a:rPr dirty="0" sz="2400" spc="-150" b="1">
                <a:latin typeface="Trebuchet MS"/>
                <a:cs typeface="Trebuchet MS"/>
              </a:rPr>
              <a:t> </a:t>
            </a:r>
            <a:r>
              <a:rPr dirty="0" sz="2400" spc="55" b="1">
                <a:latin typeface="Trebuchet MS"/>
                <a:cs typeface="Trebuchet MS"/>
              </a:rPr>
              <a:t>sampling</a:t>
            </a:r>
            <a:r>
              <a:rPr dirty="0" sz="2400" spc="-155" b="1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ensure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that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all the </a:t>
            </a:r>
            <a:r>
              <a:rPr dirty="0" sz="2400">
                <a:latin typeface="Trebuchet MS"/>
                <a:cs typeface="Trebuchet MS"/>
              </a:rPr>
              <a:t>classes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are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equally </a:t>
            </a:r>
            <a:r>
              <a:rPr dirty="0" sz="2400" spc="-10">
                <a:latin typeface="Trebuchet MS"/>
                <a:cs typeface="Trebuchet MS"/>
              </a:rPr>
              <a:t>represented.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482" rIns="0" bIns="0" rtlCol="0" vert="horz">
            <a:spAutoFit/>
          </a:bodyPr>
          <a:lstStyle/>
          <a:p>
            <a:pPr marL="6482715">
              <a:lnSpc>
                <a:spcPct val="100000"/>
              </a:lnSpc>
              <a:spcBef>
                <a:spcPts val="100"/>
              </a:spcBef>
            </a:pPr>
            <a:r>
              <a:rPr dirty="0" sz="4800" spc="-195"/>
              <a:t>DATA</a:t>
            </a:r>
            <a:r>
              <a:rPr dirty="0" sz="4800" spc="-155"/>
              <a:t> </a:t>
            </a:r>
            <a:r>
              <a:rPr dirty="0" sz="4800" spc="-10"/>
              <a:t>PREPROCESSING</a:t>
            </a:r>
            <a:endParaRPr sz="4800"/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7353" y="3185179"/>
            <a:ext cx="95250" cy="952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61675" y="6565158"/>
            <a:ext cx="438785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-110" b="1" i="1">
                <a:solidFill>
                  <a:srgbClr val="FF66C3"/>
                </a:solidFill>
                <a:latin typeface="Trebuchet MS"/>
                <a:cs typeface="Trebuchet MS"/>
              </a:rPr>
              <a:t>This</a:t>
            </a:r>
            <a:r>
              <a:rPr dirty="0" sz="2400" spc="-75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step</a:t>
            </a:r>
            <a:r>
              <a:rPr dirty="0" sz="2400" spc="-85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ensures</a:t>
            </a:r>
            <a:r>
              <a:rPr dirty="0" sz="2400" spc="-70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spc="-130" b="1" i="1">
                <a:solidFill>
                  <a:srgbClr val="FF66C3"/>
                </a:solidFill>
                <a:latin typeface="Trebuchet MS"/>
                <a:cs typeface="Trebuchet MS"/>
              </a:rPr>
              <a:t>that</a:t>
            </a:r>
            <a:r>
              <a:rPr dirty="0" sz="2400" spc="-50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spc="-25" b="1" i="1">
                <a:solidFill>
                  <a:srgbClr val="FF66C3"/>
                </a:solidFill>
                <a:latin typeface="Trebuchet MS"/>
                <a:cs typeface="Trebuchet MS"/>
              </a:rPr>
              <a:t>extreme </a:t>
            </a:r>
            <a:r>
              <a:rPr dirty="0" sz="2400" spc="-10" b="1" i="1">
                <a:solidFill>
                  <a:srgbClr val="FF66C3"/>
                </a:solidFill>
                <a:latin typeface="Trebuchet MS"/>
                <a:cs typeface="Trebuchet MS"/>
              </a:rPr>
              <a:t>values</a:t>
            </a:r>
            <a:r>
              <a:rPr dirty="0" sz="2400" spc="-110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do</a:t>
            </a:r>
            <a:r>
              <a:rPr dirty="0" sz="2400" spc="-95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spc="-100" b="1" i="1">
                <a:solidFill>
                  <a:srgbClr val="FF66C3"/>
                </a:solidFill>
                <a:latin typeface="Trebuchet MS"/>
                <a:cs typeface="Trebuchet MS"/>
              </a:rPr>
              <a:t>not</a:t>
            </a:r>
            <a:r>
              <a:rPr dirty="0" sz="2400" spc="-80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spc="-55" b="1" i="1">
                <a:solidFill>
                  <a:srgbClr val="FF66C3"/>
                </a:solidFill>
                <a:latin typeface="Trebuchet MS"/>
                <a:cs typeface="Trebuchet MS"/>
              </a:rPr>
              <a:t>negatively</a:t>
            </a:r>
            <a:r>
              <a:rPr dirty="0" sz="2400" spc="-95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spc="-20" b="1" i="1">
                <a:solidFill>
                  <a:srgbClr val="FF66C3"/>
                </a:solidFill>
                <a:latin typeface="Trebuchet MS"/>
                <a:cs typeface="Trebuchet MS"/>
              </a:rPr>
              <a:t>affect </a:t>
            </a:r>
            <a:r>
              <a:rPr dirty="0" sz="2400" b="1" i="1">
                <a:solidFill>
                  <a:srgbClr val="FF66C3"/>
                </a:solidFill>
                <a:latin typeface="Trebuchet MS"/>
                <a:cs typeface="Trebuchet MS"/>
              </a:rPr>
              <a:t>model</a:t>
            </a:r>
            <a:r>
              <a:rPr dirty="0" sz="2400" spc="-125" b="1" i="1">
                <a:solidFill>
                  <a:srgbClr val="FF66C3"/>
                </a:solidFill>
                <a:latin typeface="Trebuchet MS"/>
                <a:cs typeface="Trebuchet MS"/>
              </a:rPr>
              <a:t> </a:t>
            </a:r>
            <a:r>
              <a:rPr dirty="0" sz="2400" spc="-10" b="1" i="1">
                <a:solidFill>
                  <a:srgbClr val="FF66C3"/>
                </a:solidFill>
                <a:latin typeface="Trebuchet MS"/>
                <a:cs typeface="Trebuchet MS"/>
              </a:rPr>
              <a:t>learning.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58924"/>
            <a:ext cx="7898130" cy="38100"/>
          </a:xfrm>
          <a:custGeom>
            <a:avLst/>
            <a:gdLst/>
            <a:ahLst/>
            <a:cxnLst/>
            <a:rect l="l" t="t" r="r" b="b"/>
            <a:pathLst>
              <a:path w="7898130" h="38100">
                <a:moveTo>
                  <a:pt x="7897668" y="38099"/>
                </a:moveTo>
                <a:lnTo>
                  <a:pt x="0" y="38099"/>
                </a:lnTo>
                <a:lnTo>
                  <a:pt x="0" y="0"/>
                </a:lnTo>
                <a:lnTo>
                  <a:pt x="7897668" y="0"/>
                </a:lnTo>
                <a:lnTo>
                  <a:pt x="789766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6637" y="5347241"/>
            <a:ext cx="4155460" cy="410217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pc="-290"/>
              <a:t>To</a:t>
            </a:r>
            <a:r>
              <a:rPr dirty="0" spc="105"/>
              <a:t> </a:t>
            </a:r>
            <a:r>
              <a:rPr dirty="0"/>
              <a:t>capture</a:t>
            </a:r>
            <a:r>
              <a:rPr dirty="0" spc="-160"/>
              <a:t> </a:t>
            </a:r>
            <a:r>
              <a:rPr dirty="0"/>
              <a:t>deeper</a:t>
            </a:r>
            <a:r>
              <a:rPr dirty="0" spc="-25"/>
              <a:t> </a:t>
            </a:r>
            <a:r>
              <a:rPr dirty="0" spc="-20"/>
              <a:t>insights</a:t>
            </a:r>
            <a:r>
              <a:rPr dirty="0" spc="-30"/>
              <a:t> </a:t>
            </a:r>
            <a:r>
              <a:rPr dirty="0"/>
              <a:t>from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100"/>
              <a:t>text,</a:t>
            </a:r>
            <a:r>
              <a:rPr dirty="0" spc="-30"/>
              <a:t> </a:t>
            </a:r>
            <a:r>
              <a:rPr dirty="0" spc="-20"/>
              <a:t>several</a:t>
            </a:r>
            <a:r>
              <a:rPr dirty="0" spc="-25"/>
              <a:t> </a:t>
            </a:r>
            <a:r>
              <a:rPr dirty="0"/>
              <a:t>new</a:t>
            </a:r>
            <a:r>
              <a:rPr dirty="0" spc="-25"/>
              <a:t> </a:t>
            </a:r>
            <a:r>
              <a:rPr dirty="0" spc="-10"/>
              <a:t>features</a:t>
            </a:r>
            <a:r>
              <a:rPr dirty="0" spc="-30"/>
              <a:t> </a:t>
            </a:r>
            <a:r>
              <a:rPr dirty="0"/>
              <a:t>are</a:t>
            </a:r>
            <a:r>
              <a:rPr dirty="0" spc="-25"/>
              <a:t> </a:t>
            </a:r>
            <a:r>
              <a:rPr dirty="0" spc="-35"/>
              <a:t>engineered. </a:t>
            </a:r>
            <a:r>
              <a:rPr dirty="0" b="1">
                <a:latin typeface="Trebuchet MS"/>
                <a:cs typeface="Trebuchet MS"/>
              </a:rPr>
              <a:t>SentimentScore</a:t>
            </a:r>
            <a:r>
              <a:rPr dirty="0" spc="-55" b="1">
                <a:latin typeface="Trebuchet MS"/>
                <a:cs typeface="Trebuchet MS"/>
              </a:rPr>
              <a:t> </a:t>
            </a:r>
            <a:r>
              <a:rPr dirty="0"/>
              <a:t>helps</a:t>
            </a:r>
            <a:r>
              <a:rPr dirty="0" spc="-55"/>
              <a:t> </a:t>
            </a:r>
            <a:r>
              <a:rPr dirty="0" spc="-60"/>
              <a:t>identify</a:t>
            </a:r>
            <a:r>
              <a:rPr dirty="0" spc="-55"/>
              <a:t> </a:t>
            </a:r>
            <a:r>
              <a:rPr dirty="0" spc="-35"/>
              <a:t>emotional</a:t>
            </a:r>
            <a:r>
              <a:rPr dirty="0" spc="-55"/>
              <a:t> </a:t>
            </a:r>
            <a:r>
              <a:rPr dirty="0" spc="-60"/>
              <a:t>tone,</a:t>
            </a:r>
            <a:r>
              <a:rPr dirty="0" spc="-55"/>
              <a:t> </a:t>
            </a:r>
            <a:r>
              <a:rPr dirty="0" spc="-35"/>
              <a:t>while</a:t>
            </a:r>
            <a:r>
              <a:rPr dirty="0" spc="-55"/>
              <a:t> </a:t>
            </a:r>
            <a:r>
              <a:rPr dirty="0" spc="-50" b="1">
                <a:latin typeface="Trebuchet MS"/>
                <a:cs typeface="Trebuchet MS"/>
              </a:rPr>
              <a:t>ToxicityDensity</a:t>
            </a:r>
            <a:r>
              <a:rPr dirty="0" spc="-95" b="1">
                <a:latin typeface="Trebuchet MS"/>
                <a:cs typeface="Trebuchet MS"/>
              </a:rPr>
              <a:t> </a:t>
            </a:r>
            <a:r>
              <a:rPr dirty="0" spc="-10"/>
              <a:t>measures </a:t>
            </a:r>
            <a:r>
              <a:rPr dirty="0" spc="-90"/>
              <a:t>the</a:t>
            </a:r>
            <a:r>
              <a:rPr dirty="0" spc="-95"/>
              <a:t> </a:t>
            </a:r>
            <a:r>
              <a:rPr dirty="0" spc="-65"/>
              <a:t>proportion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65"/>
              <a:t>toxic</a:t>
            </a:r>
            <a:r>
              <a:rPr dirty="0" spc="-95"/>
              <a:t> </a:t>
            </a:r>
            <a:r>
              <a:rPr dirty="0" spc="-10"/>
              <a:t>words.</a:t>
            </a:r>
          </a:p>
          <a:p>
            <a:pPr algn="just" marL="12700">
              <a:lnSpc>
                <a:spcPct val="100000"/>
              </a:lnSpc>
              <a:spcBef>
                <a:spcPts val="2515"/>
              </a:spcBef>
            </a:pPr>
            <a:r>
              <a:rPr dirty="0" b="1">
                <a:latin typeface="Trebuchet MS"/>
                <a:cs typeface="Trebuchet MS"/>
              </a:rPr>
              <a:t>CapitalizationRatio </a:t>
            </a:r>
            <a:r>
              <a:rPr dirty="0" spc="-25"/>
              <a:t>indicates</a:t>
            </a:r>
            <a:r>
              <a:rPr dirty="0"/>
              <a:t> aggressive </a:t>
            </a:r>
            <a:r>
              <a:rPr dirty="0" spc="-75"/>
              <a:t>writing</a:t>
            </a:r>
            <a:r>
              <a:rPr dirty="0" spc="5"/>
              <a:t> </a:t>
            </a:r>
            <a:r>
              <a:rPr dirty="0" spc="-80"/>
              <a:t>patterns,</a:t>
            </a:r>
            <a:r>
              <a:rPr dirty="0"/>
              <a:t> and</a:t>
            </a:r>
            <a:r>
              <a:rPr dirty="0" spc="5"/>
              <a:t> </a:t>
            </a:r>
            <a:r>
              <a:rPr dirty="0" spc="-10" b="1">
                <a:latin typeface="Trebuchet MS"/>
                <a:cs typeface="Trebuchet MS"/>
              </a:rPr>
              <a:t>LexicalDiversity</a:t>
            </a:r>
          </a:p>
          <a:p>
            <a:pPr algn="just" marL="12700">
              <a:lnSpc>
                <a:spcPct val="100000"/>
              </a:lnSpc>
              <a:spcBef>
                <a:spcPts val="420"/>
              </a:spcBef>
            </a:pPr>
            <a:r>
              <a:rPr dirty="0" spc="-80"/>
              <a:t>reflects</a:t>
            </a:r>
            <a:r>
              <a:rPr dirty="0" spc="-100"/>
              <a:t> </a:t>
            </a:r>
            <a:r>
              <a:rPr dirty="0" spc="-10"/>
              <a:t>how</a:t>
            </a:r>
            <a:r>
              <a:rPr dirty="0" spc="-95"/>
              <a:t> </a:t>
            </a:r>
            <a:r>
              <a:rPr dirty="0" spc="-65"/>
              <a:t>varied</a:t>
            </a:r>
            <a:r>
              <a:rPr dirty="0" spc="-95"/>
              <a:t> </a:t>
            </a:r>
            <a:r>
              <a:rPr dirty="0" spc="-90"/>
              <a:t>the</a:t>
            </a:r>
            <a:r>
              <a:rPr dirty="0" spc="-95"/>
              <a:t> </a:t>
            </a:r>
            <a:r>
              <a:rPr dirty="0" spc="-45"/>
              <a:t>vocabulary</a:t>
            </a:r>
            <a:r>
              <a:rPr dirty="0" spc="-95"/>
              <a:t> </a:t>
            </a:r>
            <a:r>
              <a:rPr dirty="0" spc="-25"/>
              <a:t>is.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4482" rIns="0" bIns="0" rtlCol="0" vert="horz">
            <a:spAutoFit/>
          </a:bodyPr>
          <a:lstStyle/>
          <a:p>
            <a:pPr marL="6482715">
              <a:lnSpc>
                <a:spcPct val="100000"/>
              </a:lnSpc>
              <a:spcBef>
                <a:spcPts val="100"/>
              </a:spcBef>
            </a:pPr>
            <a:r>
              <a:rPr dirty="0" sz="4800" spc="-25"/>
              <a:t>FEATURE</a:t>
            </a:r>
            <a:r>
              <a:rPr dirty="0" sz="4800" spc="-270"/>
              <a:t> </a:t>
            </a:r>
            <a:r>
              <a:rPr dirty="0" sz="4800" spc="-10"/>
              <a:t>ENGINEERING</a:t>
            </a:r>
            <a:endParaRPr sz="4800"/>
          </a:p>
        </p:txBody>
      </p:sp>
      <p:sp>
        <p:nvSpPr>
          <p:cNvPr id="7" name="object 7" descr=""/>
          <p:cNvSpPr txBox="1"/>
          <p:nvPr/>
        </p:nvSpPr>
        <p:spPr>
          <a:xfrm>
            <a:off x="1016000" y="6372288"/>
            <a:ext cx="501777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latin typeface="Trebuchet MS"/>
                <a:cs typeface="Trebuchet MS"/>
              </a:rPr>
              <a:t>These</a:t>
            </a:r>
            <a:r>
              <a:rPr dirty="0" sz="2400" spc="220" b="1">
                <a:latin typeface="Trebuchet MS"/>
                <a:cs typeface="Trebuchet MS"/>
              </a:rPr>
              <a:t>  </a:t>
            </a:r>
            <a:r>
              <a:rPr dirty="0" sz="2400" b="1">
                <a:latin typeface="Trebuchet MS"/>
                <a:cs typeface="Trebuchet MS"/>
              </a:rPr>
              <a:t>features</a:t>
            </a:r>
            <a:r>
              <a:rPr dirty="0" sz="2400" spc="225" b="1">
                <a:latin typeface="Trebuchet MS"/>
                <a:cs typeface="Trebuchet MS"/>
              </a:rPr>
              <a:t>  </a:t>
            </a:r>
            <a:r>
              <a:rPr dirty="0" sz="2400" b="1">
                <a:latin typeface="Trebuchet MS"/>
                <a:cs typeface="Trebuchet MS"/>
              </a:rPr>
              <a:t>help</a:t>
            </a:r>
            <a:r>
              <a:rPr dirty="0" sz="2400" spc="225" b="1">
                <a:latin typeface="Trebuchet MS"/>
                <a:cs typeface="Trebuchet MS"/>
              </a:rPr>
              <a:t>  </a:t>
            </a:r>
            <a:r>
              <a:rPr dirty="0" sz="2400" b="1">
                <a:latin typeface="Trebuchet MS"/>
                <a:cs typeface="Trebuchet MS"/>
              </a:rPr>
              <a:t>the</a:t>
            </a:r>
            <a:r>
              <a:rPr dirty="0" sz="2400" spc="225" b="1">
                <a:latin typeface="Trebuchet MS"/>
                <a:cs typeface="Trebuchet MS"/>
              </a:rPr>
              <a:t>  </a:t>
            </a:r>
            <a:r>
              <a:rPr dirty="0" sz="2400" spc="-10" b="1">
                <a:latin typeface="Trebuchet MS"/>
                <a:cs typeface="Trebuchet MS"/>
              </a:rPr>
              <a:t>model </a:t>
            </a:r>
            <a:r>
              <a:rPr dirty="0" sz="2400" b="1">
                <a:latin typeface="Trebuchet MS"/>
                <a:cs typeface="Trebuchet MS"/>
              </a:rPr>
              <a:t>understand</a:t>
            </a:r>
            <a:r>
              <a:rPr dirty="0" sz="2400" spc="-1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not</a:t>
            </a:r>
            <a:r>
              <a:rPr dirty="0" sz="2400" spc="-1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just</a:t>
            </a:r>
            <a:r>
              <a:rPr dirty="0" sz="2400" spc="-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words,</a:t>
            </a:r>
            <a:r>
              <a:rPr dirty="0" sz="2400" spc="-1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but</a:t>
            </a:r>
            <a:r>
              <a:rPr dirty="0" sz="2400" spc="-5" b="1">
                <a:latin typeface="Trebuchet MS"/>
                <a:cs typeface="Trebuchet MS"/>
              </a:rPr>
              <a:t> </a:t>
            </a:r>
            <a:r>
              <a:rPr dirty="0" sz="2400" spc="-35" b="1">
                <a:latin typeface="Trebuchet MS"/>
                <a:cs typeface="Trebuchet MS"/>
              </a:rPr>
              <a:t>the </a:t>
            </a:r>
            <a:r>
              <a:rPr dirty="0" sz="2400" spc="-10" b="1">
                <a:latin typeface="Trebuchet MS"/>
                <a:cs typeface="Trebuchet MS"/>
              </a:rPr>
              <a:t>behavior</a:t>
            </a:r>
            <a:r>
              <a:rPr dirty="0" sz="2400" spc="-140" b="1">
                <a:latin typeface="Trebuchet MS"/>
                <a:cs typeface="Trebuchet MS"/>
              </a:rPr>
              <a:t> </a:t>
            </a:r>
            <a:r>
              <a:rPr dirty="0" sz="2400" spc="-10" b="1">
                <a:latin typeface="Trebuchet MS"/>
                <a:cs typeface="Trebuchet MS"/>
              </a:rPr>
              <a:t>behind</a:t>
            </a:r>
            <a:r>
              <a:rPr dirty="0" sz="2400" spc="-130" b="1">
                <a:latin typeface="Trebuchet MS"/>
                <a:cs typeface="Trebuchet MS"/>
              </a:rPr>
              <a:t> </a:t>
            </a:r>
            <a:r>
              <a:rPr dirty="0" sz="2400" spc="-85" b="1">
                <a:latin typeface="Trebuchet MS"/>
                <a:cs typeface="Trebuchet MS"/>
              </a:rPr>
              <a:t>the</a:t>
            </a:r>
            <a:r>
              <a:rPr dirty="0" sz="2400" spc="-125" b="1">
                <a:latin typeface="Trebuchet MS"/>
                <a:cs typeface="Trebuchet MS"/>
              </a:rPr>
              <a:t> </a:t>
            </a:r>
            <a:r>
              <a:rPr dirty="0" sz="2400" spc="-10" b="1">
                <a:latin typeface="Trebuchet MS"/>
                <a:cs typeface="Trebuchet MS"/>
              </a:rPr>
              <a:t>text.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58924"/>
            <a:ext cx="7898130" cy="38100"/>
          </a:xfrm>
          <a:custGeom>
            <a:avLst/>
            <a:gdLst/>
            <a:ahLst/>
            <a:cxnLst/>
            <a:rect l="l" t="t" r="r" b="b"/>
            <a:pathLst>
              <a:path w="7898130" h="38100">
                <a:moveTo>
                  <a:pt x="7897668" y="38099"/>
                </a:moveTo>
                <a:lnTo>
                  <a:pt x="0" y="38099"/>
                </a:lnTo>
                <a:lnTo>
                  <a:pt x="0" y="0"/>
                </a:lnTo>
                <a:lnTo>
                  <a:pt x="7897668" y="0"/>
                </a:lnTo>
                <a:lnTo>
                  <a:pt x="789766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1433" y="2951999"/>
            <a:ext cx="9587557" cy="546233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3669029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76270" y="2124813"/>
            <a:ext cx="5981065" cy="5809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16940">
              <a:lnSpc>
                <a:spcPct val="114599"/>
              </a:lnSpc>
              <a:spcBef>
                <a:spcPts val="100"/>
              </a:spcBef>
            </a:pPr>
            <a:r>
              <a:rPr dirty="0" sz="2400" spc="-75">
                <a:latin typeface="Trebuchet MS"/>
                <a:cs typeface="Trebuchet MS"/>
              </a:rPr>
              <a:t>Exploratory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Data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Analysis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performed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understand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relationships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between </a:t>
            </a:r>
            <a:r>
              <a:rPr dirty="0" sz="2400" spc="-55">
                <a:latin typeface="Trebuchet MS"/>
                <a:cs typeface="Trebuchet MS"/>
              </a:rPr>
              <a:t>features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hate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speech.</a:t>
            </a:r>
            <a:endParaRPr sz="2400">
              <a:latin typeface="Trebuchet MS"/>
              <a:cs typeface="Trebuchet MS"/>
            </a:endParaRPr>
          </a:p>
          <a:p>
            <a:pPr marL="12700" marR="17780">
              <a:lnSpc>
                <a:spcPct val="114599"/>
              </a:lnSpc>
              <a:spcBef>
                <a:spcPts val="459"/>
              </a:spcBef>
            </a:pPr>
            <a:r>
              <a:rPr dirty="0" sz="2400" spc="-160">
                <a:latin typeface="Trebuchet MS"/>
                <a:cs typeface="Trebuchet MS"/>
              </a:rPr>
              <a:t>It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observed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that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posts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14">
                <a:latin typeface="Trebuchet MS"/>
                <a:cs typeface="Trebuchet MS"/>
              </a:rPr>
              <a:t>with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highly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negative </a:t>
            </a:r>
            <a:r>
              <a:rPr dirty="0" sz="2400" spc="-100">
                <a:latin typeface="Trebuchet MS"/>
                <a:cs typeface="Trebuchet MS"/>
              </a:rPr>
              <a:t>sentiment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high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10">
                <a:latin typeface="Trebuchet MS"/>
                <a:cs typeface="Trebuchet MS"/>
              </a:rPr>
              <a:t>toxicity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density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have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a </a:t>
            </a:r>
            <a:r>
              <a:rPr dirty="0" sz="2400" spc="-60">
                <a:latin typeface="Trebuchet MS"/>
                <a:cs typeface="Trebuchet MS"/>
              </a:rPr>
              <a:t>much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higher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probability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being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classified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as </a:t>
            </a:r>
            <a:r>
              <a:rPr dirty="0" sz="2400" spc="-20">
                <a:latin typeface="Trebuchet MS"/>
                <a:cs typeface="Trebuchet MS"/>
              </a:rPr>
              <a:t>hate</a:t>
            </a:r>
            <a:r>
              <a:rPr dirty="0" sz="2400" spc="-16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speech.</a:t>
            </a:r>
            <a:endParaRPr sz="2400">
              <a:latin typeface="Trebuchet MS"/>
              <a:cs typeface="Trebuchet MS"/>
            </a:endParaRPr>
          </a:p>
          <a:p>
            <a:pPr marL="12700" marR="409575">
              <a:lnSpc>
                <a:spcPct val="114599"/>
              </a:lnSpc>
              <a:spcBef>
                <a:spcPts val="1685"/>
              </a:spcBef>
            </a:pPr>
            <a:r>
              <a:rPr dirty="0" sz="2400" spc="-95">
                <a:latin typeface="Trebuchet MS"/>
                <a:cs typeface="Trebuchet MS"/>
              </a:rPr>
              <a:t>These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insights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help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identifying</a:t>
            </a:r>
            <a:r>
              <a:rPr dirty="0" sz="2400" spc="-80">
                <a:latin typeface="Trebuchet MS"/>
                <a:cs typeface="Trebuchet MS"/>
              </a:rPr>
              <a:t> important </a:t>
            </a:r>
            <a:r>
              <a:rPr dirty="0" sz="2400" spc="-55">
                <a:latin typeface="Trebuchet MS"/>
                <a:cs typeface="Trebuchet MS"/>
              </a:rPr>
              <a:t>features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that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contribute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model performance.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  <a:spcBef>
                <a:spcPts val="495"/>
              </a:spcBef>
            </a:pPr>
            <a:r>
              <a:rPr dirty="0" sz="2400" spc="-155">
                <a:latin typeface="Trebuchet MS"/>
                <a:cs typeface="Trebuchet MS"/>
              </a:rPr>
              <a:t>This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forms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foundation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for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feature </a:t>
            </a:r>
            <a:r>
              <a:rPr dirty="0" sz="2400" spc="-65">
                <a:latin typeface="Trebuchet MS"/>
                <a:cs typeface="Trebuchet MS"/>
              </a:rPr>
              <a:t>engineering,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where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sentiment-</a:t>
            </a:r>
            <a:r>
              <a:rPr dirty="0" sz="2400">
                <a:latin typeface="Trebuchet MS"/>
                <a:cs typeface="Trebuchet MS"/>
              </a:rPr>
              <a:t>based</a:t>
            </a:r>
            <a:r>
              <a:rPr dirty="0" sz="2400" spc="-1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features </a:t>
            </a:r>
            <a:r>
              <a:rPr dirty="0" sz="2400" spc="-10">
                <a:latin typeface="Trebuchet MS"/>
                <a:cs typeface="Trebuchet MS"/>
              </a:rPr>
              <a:t>are</a:t>
            </a:r>
            <a:r>
              <a:rPr dirty="0" sz="2400" spc="-1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used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improve </a:t>
            </a:r>
            <a:r>
              <a:rPr dirty="0" sz="2400" spc="-45">
                <a:latin typeface="Trebuchet MS"/>
                <a:cs typeface="Trebuchet MS"/>
              </a:rPr>
              <a:t>classification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accuracy.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127289" y="862148"/>
            <a:ext cx="6244590" cy="16922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dirty="0" sz="4700" spc="-45"/>
              <a:t>EXPLORATORY</a:t>
            </a:r>
            <a:r>
              <a:rPr dirty="0" sz="4700" spc="-254"/>
              <a:t> </a:t>
            </a:r>
            <a:r>
              <a:rPr dirty="0" sz="4700" spc="-135"/>
              <a:t>DATA </a:t>
            </a:r>
            <a:r>
              <a:rPr dirty="0" sz="4700" spc="-10"/>
              <a:t>ANALYSIS</a:t>
            </a:r>
            <a:endParaRPr sz="4700"/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2352778"/>
            <a:ext cx="95250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5559444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6879609"/>
            <a:ext cx="95250" cy="952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3981" y="1486"/>
            <a:ext cx="2393586" cy="223620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1558924"/>
            <a:ext cx="7898130" cy="38100"/>
          </a:xfrm>
          <a:custGeom>
            <a:avLst/>
            <a:gdLst/>
            <a:ahLst/>
            <a:cxnLst/>
            <a:rect l="l" t="t" r="r" b="b"/>
            <a:pathLst>
              <a:path w="7898130" h="38100">
                <a:moveTo>
                  <a:pt x="7897668" y="38099"/>
                </a:moveTo>
                <a:lnTo>
                  <a:pt x="0" y="38099"/>
                </a:lnTo>
                <a:lnTo>
                  <a:pt x="0" y="0"/>
                </a:lnTo>
                <a:lnTo>
                  <a:pt x="7897668" y="0"/>
                </a:lnTo>
                <a:lnTo>
                  <a:pt x="789766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3166117"/>
            <a:ext cx="8648700" cy="7120255"/>
            <a:chOff x="0" y="3166117"/>
            <a:chExt cx="8648700" cy="71202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7" y="7966218"/>
              <a:ext cx="2393315" cy="232008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166117"/>
              <a:ext cx="8648699" cy="5000624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8403" y="3035884"/>
            <a:ext cx="9145480" cy="520784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127289" y="862148"/>
            <a:ext cx="6244590" cy="16922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dirty="0" sz="4700" spc="-45"/>
              <a:t>EXPLORATORY</a:t>
            </a:r>
            <a:r>
              <a:rPr dirty="0" sz="4700" spc="-254"/>
              <a:t> </a:t>
            </a:r>
            <a:r>
              <a:rPr dirty="0" sz="4700" spc="-135"/>
              <a:t>DATA </a:t>
            </a:r>
            <a:r>
              <a:rPr dirty="0" sz="4700" spc="-10"/>
              <a:t>ANALYSIS</a:t>
            </a:r>
            <a:endParaRPr sz="4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58924"/>
            <a:ext cx="7898130" cy="38100"/>
          </a:xfrm>
          <a:custGeom>
            <a:avLst/>
            <a:gdLst/>
            <a:ahLst/>
            <a:cxnLst/>
            <a:rect l="l" t="t" r="r" b="b"/>
            <a:pathLst>
              <a:path w="7898130" h="38100">
                <a:moveTo>
                  <a:pt x="7897668" y="38099"/>
                </a:moveTo>
                <a:lnTo>
                  <a:pt x="0" y="38099"/>
                </a:lnTo>
                <a:lnTo>
                  <a:pt x="0" y="0"/>
                </a:lnTo>
                <a:lnTo>
                  <a:pt x="7897668" y="0"/>
                </a:lnTo>
                <a:lnTo>
                  <a:pt x="7897668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4940" y="3940278"/>
            <a:ext cx="10919936" cy="400228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3669029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27289" y="862148"/>
            <a:ext cx="7410450" cy="16922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dirty="0" sz="4700" spc="-10"/>
              <a:t>SENTIMENT </a:t>
            </a:r>
            <a:r>
              <a:rPr dirty="0" sz="4700"/>
              <a:t>DISTRIBUTION</a:t>
            </a:r>
            <a:r>
              <a:rPr dirty="0" sz="4700" spc="-210"/>
              <a:t> </a:t>
            </a:r>
            <a:r>
              <a:rPr dirty="0" sz="4700" spc="-35"/>
              <a:t>ANALYSIS</a:t>
            </a:r>
            <a:endParaRPr sz="4700"/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2352778"/>
            <a:ext cx="95250" cy="95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5064769"/>
            <a:ext cx="95250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6879609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2581" y="8805775"/>
            <a:ext cx="95250" cy="952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76270" y="2124813"/>
            <a:ext cx="7837170" cy="7317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60345">
              <a:lnSpc>
                <a:spcPct val="114599"/>
              </a:lnSpc>
              <a:spcBef>
                <a:spcPts val="100"/>
              </a:spcBef>
            </a:pPr>
            <a:r>
              <a:rPr dirty="0" sz="2400" spc="-155">
                <a:latin typeface="Trebuchet MS"/>
                <a:cs typeface="Trebuchet MS"/>
              </a:rPr>
              <a:t>This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analysis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examines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distribution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sentiment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scores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across</a:t>
            </a:r>
            <a:r>
              <a:rPr dirty="0" sz="2400" spc="-90">
                <a:latin typeface="Trebuchet MS"/>
                <a:cs typeface="Trebuchet MS"/>
              </a:rPr>
              <a:t> the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dataset </a:t>
            </a:r>
            <a:r>
              <a:rPr dirty="0" sz="2400" spc="-30">
                <a:latin typeface="Trebuchet MS"/>
                <a:cs typeface="Trebuchet MS"/>
              </a:rPr>
              <a:t>before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after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normalization.</a:t>
            </a:r>
            <a:endParaRPr sz="2400">
              <a:latin typeface="Trebuchet MS"/>
              <a:cs typeface="Trebuchet MS"/>
            </a:endParaRPr>
          </a:p>
          <a:p>
            <a:pPr marL="12700" marR="1979930">
              <a:lnSpc>
                <a:spcPct val="114599"/>
              </a:lnSpc>
              <a:spcBef>
                <a:spcPts val="459"/>
              </a:spcBef>
            </a:pPr>
            <a:r>
              <a:rPr dirty="0" sz="2400" spc="-155">
                <a:latin typeface="Trebuchet MS"/>
                <a:cs typeface="Trebuchet MS"/>
              </a:rPr>
              <a:t>The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original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sentiment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scores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show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wide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uneven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10">
                <a:latin typeface="Trebuchet MS"/>
                <a:cs typeface="Trebuchet MS"/>
              </a:rPr>
              <a:t>distribution,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indicating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95">
                <a:latin typeface="Trebuchet MS"/>
                <a:cs typeface="Trebuchet MS"/>
              </a:rPr>
              <a:t>variability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emotional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intensity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across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tweets.</a:t>
            </a:r>
            <a:endParaRPr sz="2400">
              <a:latin typeface="Trebuchet MS"/>
              <a:cs typeface="Trebuchet MS"/>
            </a:endParaRPr>
          </a:p>
          <a:p>
            <a:pPr marL="12700" marR="2312670">
              <a:lnSpc>
                <a:spcPct val="114599"/>
              </a:lnSpc>
              <a:spcBef>
                <a:spcPts val="1090"/>
              </a:spcBef>
            </a:pPr>
            <a:r>
              <a:rPr dirty="0" sz="2400" spc="-75">
                <a:latin typeface="Trebuchet MS"/>
                <a:cs typeface="Trebuchet MS"/>
              </a:rPr>
              <a:t>After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applying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normalization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(Min-</a:t>
            </a:r>
            <a:r>
              <a:rPr dirty="0" sz="2400" spc="-25">
                <a:latin typeface="Trebuchet MS"/>
                <a:cs typeface="Trebuchet MS"/>
              </a:rPr>
              <a:t>Max </a:t>
            </a:r>
            <a:r>
              <a:rPr dirty="0" sz="2400" spc="-70">
                <a:latin typeface="Trebuchet MS"/>
                <a:cs typeface="Trebuchet MS"/>
              </a:rPr>
              <a:t>scaling),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 spc="-60">
                <a:latin typeface="Trebuchet MS"/>
                <a:cs typeface="Trebuchet MS"/>
              </a:rPr>
              <a:t>values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are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transformed</a:t>
            </a:r>
            <a:r>
              <a:rPr dirty="0" sz="2400" spc="-90">
                <a:latin typeface="Trebuchet MS"/>
                <a:cs typeface="Trebuchet MS"/>
              </a:rPr>
              <a:t> into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50">
                <a:latin typeface="Trebuchet MS"/>
                <a:cs typeface="Trebuchet MS"/>
              </a:rPr>
              <a:t>a </a:t>
            </a:r>
            <a:r>
              <a:rPr dirty="0" sz="2400" spc="-60">
                <a:latin typeface="Trebuchet MS"/>
                <a:cs typeface="Trebuchet MS"/>
              </a:rPr>
              <a:t>consistent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range,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making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data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more </a:t>
            </a:r>
            <a:r>
              <a:rPr dirty="0" sz="2400" spc="-55">
                <a:latin typeface="Trebuchet MS"/>
                <a:cs typeface="Trebuchet MS"/>
              </a:rPr>
              <a:t>suitable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for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machine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learning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models.</a:t>
            </a:r>
            <a:endParaRPr sz="2400">
              <a:latin typeface="Trebuchet MS"/>
              <a:cs typeface="Trebuchet MS"/>
            </a:endParaRPr>
          </a:p>
          <a:p>
            <a:pPr marL="12700" marR="2599055">
              <a:lnSpc>
                <a:spcPct val="114599"/>
              </a:lnSpc>
              <a:spcBef>
                <a:spcPts val="1090"/>
              </a:spcBef>
            </a:pPr>
            <a:r>
              <a:rPr dirty="0" sz="2400" spc="-75">
                <a:latin typeface="Trebuchet MS"/>
                <a:cs typeface="Trebuchet MS"/>
              </a:rPr>
              <a:t>Normalization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helps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improving </a:t>
            </a:r>
            <a:r>
              <a:rPr dirty="0" sz="2400" spc="-10">
                <a:latin typeface="Trebuchet MS"/>
                <a:cs typeface="Trebuchet MS"/>
              </a:rPr>
              <a:t>model </a:t>
            </a:r>
            <a:r>
              <a:rPr dirty="0" sz="2400" spc="-45">
                <a:latin typeface="Trebuchet MS"/>
                <a:cs typeface="Trebuchet MS"/>
              </a:rPr>
              <a:t>performance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by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ensuring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that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b="1" i="1">
                <a:latin typeface="Trebuchet MS"/>
                <a:cs typeface="Trebuchet MS"/>
              </a:rPr>
              <a:t>no</a:t>
            </a:r>
            <a:r>
              <a:rPr dirty="0" sz="2400" spc="-160" b="1" i="1">
                <a:latin typeface="Trebuchet MS"/>
                <a:cs typeface="Trebuchet MS"/>
              </a:rPr>
              <a:t> </a:t>
            </a:r>
            <a:r>
              <a:rPr dirty="0" sz="2400" spc="-10" b="1" i="1">
                <a:latin typeface="Trebuchet MS"/>
                <a:cs typeface="Trebuchet MS"/>
              </a:rPr>
              <a:t>single </a:t>
            </a:r>
            <a:r>
              <a:rPr dirty="0" sz="2400" spc="-55" b="1" i="1">
                <a:latin typeface="Trebuchet MS"/>
                <a:cs typeface="Trebuchet MS"/>
              </a:rPr>
              <a:t>feature</a:t>
            </a:r>
            <a:r>
              <a:rPr dirty="0" sz="2400" spc="-100" b="1" i="1">
                <a:latin typeface="Trebuchet MS"/>
                <a:cs typeface="Trebuchet MS"/>
              </a:rPr>
              <a:t> </a:t>
            </a:r>
            <a:r>
              <a:rPr dirty="0" sz="2400" spc="-10" b="1" i="1">
                <a:latin typeface="Trebuchet MS"/>
                <a:cs typeface="Trebuchet MS"/>
              </a:rPr>
              <a:t>dominates</a:t>
            </a:r>
            <a:r>
              <a:rPr dirty="0" sz="2400" spc="-100" b="1" i="1">
                <a:latin typeface="Trebuchet MS"/>
                <a:cs typeface="Trebuchet MS"/>
              </a:rPr>
              <a:t> </a:t>
            </a:r>
            <a:r>
              <a:rPr dirty="0" sz="2400" b="1" i="1">
                <a:latin typeface="Trebuchet MS"/>
                <a:cs typeface="Trebuchet MS"/>
              </a:rPr>
              <a:t>due</a:t>
            </a:r>
            <a:r>
              <a:rPr dirty="0" sz="2400" spc="-95" b="1" i="1">
                <a:latin typeface="Trebuchet MS"/>
                <a:cs typeface="Trebuchet MS"/>
              </a:rPr>
              <a:t> </a:t>
            </a:r>
            <a:r>
              <a:rPr dirty="0" sz="2400" spc="-120" b="1" i="1">
                <a:latin typeface="Trebuchet MS"/>
                <a:cs typeface="Trebuchet MS"/>
              </a:rPr>
              <a:t>to</a:t>
            </a:r>
            <a:r>
              <a:rPr dirty="0" sz="2400" spc="-100" b="1" i="1">
                <a:latin typeface="Trebuchet MS"/>
                <a:cs typeface="Trebuchet MS"/>
              </a:rPr>
              <a:t> </a:t>
            </a:r>
            <a:r>
              <a:rPr dirty="0" sz="2400" spc="-10" b="1" i="1">
                <a:latin typeface="Trebuchet MS"/>
                <a:cs typeface="Trebuchet MS"/>
              </a:rPr>
              <a:t>scale differences</a:t>
            </a:r>
            <a:r>
              <a:rPr dirty="0" sz="2400" spc="-1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816735" marR="5080">
              <a:lnSpc>
                <a:spcPct val="114599"/>
              </a:lnSpc>
              <a:spcBef>
                <a:spcPts val="1964"/>
              </a:spcBef>
            </a:pPr>
            <a:r>
              <a:rPr dirty="0" sz="2400" spc="-155">
                <a:latin typeface="Trebuchet MS"/>
                <a:cs typeface="Trebuchet MS"/>
              </a:rPr>
              <a:t>This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step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important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for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achieving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stable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and </a:t>
            </a:r>
            <a:r>
              <a:rPr dirty="0" sz="2400" spc="-10">
                <a:latin typeface="Trebuchet MS"/>
                <a:cs typeface="Trebuchet MS"/>
              </a:rPr>
              <a:t>accurate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classification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results.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77974"/>
            <a:ext cx="6927215" cy="290830"/>
          </a:xfrm>
          <a:custGeom>
            <a:avLst/>
            <a:gdLst/>
            <a:ahLst/>
            <a:cxnLst/>
            <a:rect l="l" t="t" r="r" b="b"/>
            <a:pathLst>
              <a:path w="6927215" h="290830">
                <a:moveTo>
                  <a:pt x="0" y="0"/>
                </a:moveTo>
                <a:lnTo>
                  <a:pt x="6781923" y="0"/>
                </a:lnTo>
                <a:lnTo>
                  <a:pt x="6827836" y="7405"/>
                </a:lnTo>
                <a:lnTo>
                  <a:pt x="6867711" y="28026"/>
                </a:lnTo>
                <a:lnTo>
                  <a:pt x="6899156" y="59471"/>
                </a:lnTo>
                <a:lnTo>
                  <a:pt x="6919777" y="99346"/>
                </a:lnTo>
                <a:lnTo>
                  <a:pt x="6927182" y="145259"/>
                </a:lnTo>
                <a:lnTo>
                  <a:pt x="6927182" y="29051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0342" y="3613713"/>
            <a:ext cx="10462503" cy="596221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4686300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76270" y="2312197"/>
            <a:ext cx="5751830" cy="342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70255">
              <a:lnSpc>
                <a:spcPct val="114599"/>
              </a:lnSpc>
              <a:spcBef>
                <a:spcPts val="100"/>
              </a:spcBef>
            </a:pPr>
            <a:r>
              <a:rPr dirty="0" sz="2400" spc="-70">
                <a:latin typeface="Trebuchet MS"/>
                <a:cs typeface="Trebuchet MS"/>
              </a:rPr>
              <a:t>Principal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Component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Analysis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(PCA)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is </a:t>
            </a:r>
            <a:r>
              <a:rPr dirty="0" sz="2400" spc="-10">
                <a:latin typeface="Trebuchet MS"/>
                <a:cs typeface="Trebuchet MS"/>
              </a:rPr>
              <a:t>applied</a:t>
            </a:r>
            <a:r>
              <a:rPr dirty="0" sz="2400" spc="-17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reduce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 spc="-10">
                <a:latin typeface="Trebuchet MS"/>
                <a:cs typeface="Trebuchet MS"/>
              </a:rPr>
              <a:t>dimensionality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dataset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while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retaining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most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of </a:t>
            </a:r>
            <a:r>
              <a:rPr dirty="0" sz="2400" spc="-90">
                <a:latin typeface="Trebuchet MS"/>
                <a:cs typeface="Trebuchet MS"/>
              </a:rPr>
              <a:t>the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important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information.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</a:pPr>
            <a:r>
              <a:rPr dirty="0" sz="2400" spc="-135">
                <a:latin typeface="Trebuchet MS"/>
                <a:cs typeface="Trebuchet MS"/>
              </a:rPr>
              <a:t>By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converting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multiple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correlated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features </a:t>
            </a:r>
            <a:r>
              <a:rPr dirty="0" sz="2400" spc="-90">
                <a:latin typeface="Trebuchet MS"/>
                <a:cs typeface="Trebuchet MS"/>
              </a:rPr>
              <a:t>into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95">
                <a:latin typeface="Trebuchet MS"/>
                <a:cs typeface="Trebuchet MS"/>
              </a:rPr>
              <a:t>smaller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set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components,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 spc="-45">
                <a:latin typeface="Trebuchet MS"/>
                <a:cs typeface="Trebuchet MS"/>
              </a:rPr>
              <a:t>model </a:t>
            </a:r>
            <a:r>
              <a:rPr dirty="0" sz="2400">
                <a:latin typeface="Trebuchet MS"/>
                <a:cs typeface="Trebuchet MS"/>
              </a:rPr>
              <a:t>becomes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more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efficient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less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complex.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224125" y="1204005"/>
            <a:ext cx="8567420" cy="6019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750"/>
              <a:t>PCA</a:t>
            </a:r>
            <a:r>
              <a:rPr dirty="0" sz="3750" spc="-114"/>
              <a:t> </a:t>
            </a:r>
            <a:r>
              <a:rPr dirty="0" sz="3750"/>
              <a:t>(DIMENSIONALITY</a:t>
            </a:r>
            <a:r>
              <a:rPr dirty="0" sz="3750" spc="-35"/>
              <a:t> </a:t>
            </a:r>
            <a:r>
              <a:rPr dirty="0" sz="3750" spc="-10"/>
              <a:t>REDUCTION)</a:t>
            </a:r>
            <a:endParaRPr sz="3750"/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2540161"/>
            <a:ext cx="95250" cy="952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577974"/>
            <a:ext cx="8425180" cy="290830"/>
          </a:xfrm>
          <a:custGeom>
            <a:avLst/>
            <a:gdLst/>
            <a:ahLst/>
            <a:cxnLst/>
            <a:rect l="l" t="t" r="r" b="b"/>
            <a:pathLst>
              <a:path w="8425180" h="290830">
                <a:moveTo>
                  <a:pt x="0" y="0"/>
                </a:moveTo>
                <a:lnTo>
                  <a:pt x="8279833" y="0"/>
                </a:lnTo>
                <a:lnTo>
                  <a:pt x="8325747" y="7405"/>
                </a:lnTo>
                <a:lnTo>
                  <a:pt x="8365622" y="28026"/>
                </a:lnTo>
                <a:lnTo>
                  <a:pt x="8397066" y="59471"/>
                </a:lnTo>
                <a:lnTo>
                  <a:pt x="8417688" y="99346"/>
                </a:lnTo>
                <a:lnTo>
                  <a:pt x="8425093" y="145259"/>
                </a:lnTo>
                <a:lnTo>
                  <a:pt x="8425093" y="29051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85198" y="2662576"/>
            <a:ext cx="9477038" cy="539871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4686300"/>
            <a:ext cx="95250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76270" y="2312197"/>
            <a:ext cx="5913120" cy="384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50315">
              <a:lnSpc>
                <a:spcPct val="114599"/>
              </a:lnSpc>
              <a:spcBef>
                <a:spcPts val="100"/>
              </a:spcBef>
            </a:pPr>
            <a:r>
              <a:rPr dirty="0" sz="2400" spc="55">
                <a:latin typeface="Trebuchet MS"/>
                <a:cs typeface="Trebuchet MS"/>
              </a:rPr>
              <a:t>A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composite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50">
                <a:latin typeface="Trebuchet MS"/>
                <a:cs typeface="Trebuchet MS"/>
              </a:rPr>
              <a:t>risk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scoring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95">
                <a:latin typeface="Trebuchet MS"/>
                <a:cs typeface="Trebuchet MS"/>
              </a:rPr>
              <a:t>system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is developed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by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combining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multiple </a:t>
            </a:r>
            <a:r>
              <a:rPr dirty="0" sz="2400" spc="-55">
                <a:latin typeface="Trebuchet MS"/>
                <a:cs typeface="Trebuchet MS"/>
              </a:rPr>
              <a:t>features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such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25">
                <a:latin typeface="Trebuchet MS"/>
                <a:cs typeface="Trebuchet MS"/>
              </a:rPr>
              <a:t>sentiment,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125">
                <a:latin typeface="Trebuchet MS"/>
                <a:cs typeface="Trebuchet MS"/>
              </a:rPr>
              <a:t>toxicity,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text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patterns.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Each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post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assigned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score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classified </a:t>
            </a:r>
            <a:r>
              <a:rPr dirty="0" sz="2400" spc="-90">
                <a:latin typeface="Trebuchet MS"/>
                <a:cs typeface="Trebuchet MS"/>
              </a:rPr>
              <a:t>into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45">
                <a:latin typeface="Trebuchet MS"/>
                <a:cs typeface="Trebuchet MS"/>
              </a:rPr>
              <a:t>low,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35">
                <a:latin typeface="Trebuchet MS"/>
                <a:cs typeface="Trebuchet MS"/>
              </a:rPr>
              <a:t>medium,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or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high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50">
                <a:latin typeface="Trebuchet MS"/>
                <a:cs typeface="Trebuchet MS"/>
              </a:rPr>
              <a:t>risk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categories.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This </a:t>
            </a:r>
            <a:r>
              <a:rPr dirty="0" sz="2400" spc="-45">
                <a:latin typeface="Trebuchet MS"/>
                <a:cs typeface="Trebuchet MS"/>
              </a:rPr>
              <a:t>helps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5">
                <a:latin typeface="Trebuchet MS"/>
                <a:cs typeface="Trebuchet MS"/>
              </a:rPr>
              <a:t>quickly</a:t>
            </a:r>
            <a:r>
              <a:rPr dirty="0" sz="2400" spc="-75">
                <a:latin typeface="Trebuchet MS"/>
                <a:cs typeface="Trebuchet MS"/>
              </a:rPr>
              <a:t> identifying</a:t>
            </a:r>
            <a:r>
              <a:rPr dirty="0" sz="2400" spc="-85">
                <a:latin typeface="Trebuchet MS"/>
                <a:cs typeface="Trebuchet MS"/>
              </a:rPr>
              <a:t> highly </a:t>
            </a:r>
            <a:r>
              <a:rPr dirty="0" sz="2400" spc="-10">
                <a:latin typeface="Trebuchet MS"/>
                <a:cs typeface="Trebuchet MS"/>
              </a:rPr>
              <a:t>toxic </a:t>
            </a:r>
            <a:r>
              <a:rPr dirty="0" sz="2400" spc="-55">
                <a:latin typeface="Trebuchet MS"/>
                <a:cs typeface="Trebuchet MS"/>
              </a:rPr>
              <a:t>content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before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applying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complex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models.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31300" y="1200302"/>
            <a:ext cx="5300345" cy="6515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100"/>
              <a:t>RISK</a:t>
            </a:r>
            <a:r>
              <a:rPr dirty="0" sz="4100" spc="-25"/>
              <a:t> </a:t>
            </a:r>
            <a:r>
              <a:rPr dirty="0" sz="4100"/>
              <a:t>SCORE</a:t>
            </a:r>
            <a:r>
              <a:rPr dirty="0" sz="4100" spc="-15"/>
              <a:t> </a:t>
            </a:r>
            <a:r>
              <a:rPr dirty="0" sz="4100" spc="-10"/>
              <a:t>MODEL</a:t>
            </a:r>
            <a:endParaRPr sz="4100"/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074" y="2540161"/>
            <a:ext cx="95250" cy="952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603202" y="8324320"/>
            <a:ext cx="6479540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-120" b="1" i="1">
                <a:latin typeface="Trebuchet MS"/>
                <a:cs typeface="Trebuchet MS"/>
              </a:rPr>
              <a:t>The</a:t>
            </a:r>
            <a:r>
              <a:rPr dirty="0" sz="2400" spc="-90" b="1" i="1">
                <a:latin typeface="Trebuchet MS"/>
                <a:cs typeface="Trebuchet MS"/>
              </a:rPr>
              <a:t> </a:t>
            </a:r>
            <a:r>
              <a:rPr dirty="0" sz="2400" spc="-35" b="1" i="1">
                <a:latin typeface="Trebuchet MS"/>
                <a:cs typeface="Trebuchet MS"/>
              </a:rPr>
              <a:t>results</a:t>
            </a:r>
            <a:r>
              <a:rPr dirty="0" sz="2400" spc="-85" b="1" i="1">
                <a:latin typeface="Trebuchet MS"/>
                <a:cs typeface="Trebuchet MS"/>
              </a:rPr>
              <a:t> </a:t>
            </a:r>
            <a:r>
              <a:rPr dirty="0" sz="2400" b="1" i="1">
                <a:latin typeface="Trebuchet MS"/>
                <a:cs typeface="Trebuchet MS"/>
              </a:rPr>
              <a:t>show</a:t>
            </a:r>
            <a:r>
              <a:rPr dirty="0" sz="2400" spc="-85" b="1" i="1">
                <a:latin typeface="Trebuchet MS"/>
                <a:cs typeface="Trebuchet MS"/>
              </a:rPr>
              <a:t> </a:t>
            </a:r>
            <a:r>
              <a:rPr dirty="0" sz="2400" spc="-114" b="1" i="1">
                <a:latin typeface="Trebuchet MS"/>
                <a:cs typeface="Trebuchet MS"/>
              </a:rPr>
              <a:t>that</a:t>
            </a:r>
            <a:r>
              <a:rPr dirty="0" sz="2400" spc="-90" b="1" i="1">
                <a:latin typeface="Trebuchet MS"/>
                <a:cs typeface="Trebuchet MS"/>
              </a:rPr>
              <a:t> </a:t>
            </a:r>
            <a:r>
              <a:rPr dirty="0" sz="2400" spc="-20" b="1" i="1">
                <a:latin typeface="Trebuchet MS"/>
                <a:cs typeface="Trebuchet MS"/>
              </a:rPr>
              <a:t>high-</a:t>
            </a:r>
            <a:r>
              <a:rPr dirty="0" sz="2400" spc="-55" b="1" i="1">
                <a:latin typeface="Trebuchet MS"/>
                <a:cs typeface="Trebuchet MS"/>
              </a:rPr>
              <a:t>risk</a:t>
            </a:r>
            <a:r>
              <a:rPr dirty="0" sz="2400" spc="-85" b="1" i="1">
                <a:latin typeface="Trebuchet MS"/>
                <a:cs typeface="Trebuchet MS"/>
              </a:rPr>
              <a:t> </a:t>
            </a:r>
            <a:r>
              <a:rPr dirty="0" sz="2400" b="1" i="1">
                <a:latin typeface="Trebuchet MS"/>
                <a:cs typeface="Trebuchet MS"/>
              </a:rPr>
              <a:t>posts</a:t>
            </a:r>
            <a:r>
              <a:rPr dirty="0" sz="2400" spc="-85" b="1" i="1">
                <a:latin typeface="Trebuchet MS"/>
                <a:cs typeface="Trebuchet MS"/>
              </a:rPr>
              <a:t> </a:t>
            </a:r>
            <a:r>
              <a:rPr dirty="0" sz="2400" spc="-25" b="1" i="1">
                <a:latin typeface="Trebuchet MS"/>
                <a:cs typeface="Trebuchet MS"/>
              </a:rPr>
              <a:t>are </a:t>
            </a:r>
            <a:r>
              <a:rPr dirty="0" sz="2400" spc="-75" b="1" i="1">
                <a:latin typeface="Trebuchet MS"/>
                <a:cs typeface="Trebuchet MS"/>
              </a:rPr>
              <a:t>nearly</a:t>
            </a:r>
            <a:r>
              <a:rPr dirty="0" sz="2400" spc="-114" b="1" i="1">
                <a:latin typeface="Trebuchet MS"/>
                <a:cs typeface="Trebuchet MS"/>
              </a:rPr>
              <a:t> </a:t>
            </a:r>
            <a:r>
              <a:rPr dirty="0" sz="2400" spc="-70" b="1" i="1">
                <a:latin typeface="Trebuchet MS"/>
                <a:cs typeface="Trebuchet MS"/>
              </a:rPr>
              <a:t>20</a:t>
            </a:r>
            <a:r>
              <a:rPr dirty="0" sz="2400" spc="-110" b="1" i="1">
                <a:latin typeface="Trebuchet MS"/>
                <a:cs typeface="Trebuchet MS"/>
              </a:rPr>
              <a:t> </a:t>
            </a:r>
            <a:r>
              <a:rPr dirty="0" sz="2400" spc="-25" b="1" i="1">
                <a:latin typeface="Trebuchet MS"/>
                <a:cs typeface="Trebuchet MS"/>
              </a:rPr>
              <a:t>times</a:t>
            </a:r>
            <a:r>
              <a:rPr dirty="0" sz="2400" spc="-110" b="1" i="1">
                <a:latin typeface="Trebuchet MS"/>
                <a:cs typeface="Trebuchet MS"/>
              </a:rPr>
              <a:t> </a:t>
            </a:r>
            <a:r>
              <a:rPr dirty="0" sz="2400" spc="-10" b="1" i="1">
                <a:latin typeface="Trebuchet MS"/>
                <a:cs typeface="Trebuchet MS"/>
              </a:rPr>
              <a:t>more</a:t>
            </a:r>
            <a:r>
              <a:rPr dirty="0" sz="2400" spc="-110" b="1" i="1">
                <a:latin typeface="Trebuchet MS"/>
                <a:cs typeface="Trebuchet MS"/>
              </a:rPr>
              <a:t> </a:t>
            </a:r>
            <a:r>
              <a:rPr dirty="0" sz="2400" spc="-90" b="1" i="1">
                <a:latin typeface="Trebuchet MS"/>
                <a:cs typeface="Trebuchet MS"/>
              </a:rPr>
              <a:t>likely</a:t>
            </a:r>
            <a:r>
              <a:rPr dirty="0" sz="2400" spc="-110" b="1" i="1">
                <a:latin typeface="Trebuchet MS"/>
                <a:cs typeface="Trebuchet MS"/>
              </a:rPr>
              <a:t> </a:t>
            </a:r>
            <a:r>
              <a:rPr dirty="0" sz="2400" spc="-120" b="1" i="1">
                <a:latin typeface="Trebuchet MS"/>
                <a:cs typeface="Trebuchet MS"/>
              </a:rPr>
              <a:t>to</a:t>
            </a:r>
            <a:r>
              <a:rPr dirty="0" sz="2400" spc="-110" b="1" i="1">
                <a:latin typeface="Trebuchet MS"/>
                <a:cs typeface="Trebuchet MS"/>
              </a:rPr>
              <a:t> </a:t>
            </a:r>
            <a:r>
              <a:rPr dirty="0" sz="2400" b="1" i="1">
                <a:latin typeface="Trebuchet MS"/>
                <a:cs typeface="Trebuchet MS"/>
              </a:rPr>
              <a:t>be</a:t>
            </a:r>
            <a:r>
              <a:rPr dirty="0" sz="2400" spc="-114" b="1" i="1">
                <a:latin typeface="Trebuchet MS"/>
                <a:cs typeface="Trebuchet MS"/>
              </a:rPr>
              <a:t> </a:t>
            </a:r>
            <a:r>
              <a:rPr dirty="0" sz="2400" spc="-45" b="1" i="1">
                <a:latin typeface="Trebuchet MS"/>
                <a:cs typeface="Trebuchet MS"/>
              </a:rPr>
              <a:t>hate</a:t>
            </a:r>
            <a:r>
              <a:rPr dirty="0" sz="2400" spc="-110" b="1" i="1">
                <a:latin typeface="Trebuchet MS"/>
                <a:cs typeface="Trebuchet MS"/>
              </a:rPr>
              <a:t> </a:t>
            </a:r>
            <a:r>
              <a:rPr dirty="0" sz="2400" spc="-10" b="1" i="1">
                <a:latin typeface="Trebuchet MS"/>
                <a:cs typeface="Trebuchet MS"/>
              </a:rPr>
              <a:t>speech, </a:t>
            </a:r>
            <a:r>
              <a:rPr dirty="0" sz="2400" b="1" i="1">
                <a:latin typeface="Trebuchet MS"/>
                <a:cs typeface="Trebuchet MS"/>
              </a:rPr>
              <a:t>making</a:t>
            </a:r>
            <a:r>
              <a:rPr dirty="0" sz="2400" spc="-80" b="1" i="1">
                <a:latin typeface="Trebuchet MS"/>
                <a:cs typeface="Trebuchet MS"/>
              </a:rPr>
              <a:t> </a:t>
            </a:r>
            <a:r>
              <a:rPr dirty="0" sz="2400" spc="-70" b="1" i="1">
                <a:latin typeface="Trebuchet MS"/>
                <a:cs typeface="Trebuchet MS"/>
              </a:rPr>
              <a:t>this</a:t>
            </a:r>
            <a:r>
              <a:rPr dirty="0" sz="2400" spc="-85" b="1" i="1">
                <a:latin typeface="Trebuchet MS"/>
                <a:cs typeface="Trebuchet MS"/>
              </a:rPr>
              <a:t> </a:t>
            </a:r>
            <a:r>
              <a:rPr dirty="0" sz="2400" b="1" i="1">
                <a:latin typeface="Trebuchet MS"/>
                <a:cs typeface="Trebuchet MS"/>
              </a:rPr>
              <a:t>approach</a:t>
            </a:r>
            <a:r>
              <a:rPr dirty="0" sz="2400" spc="-80" b="1" i="1">
                <a:latin typeface="Trebuchet MS"/>
                <a:cs typeface="Trebuchet MS"/>
              </a:rPr>
              <a:t> </a:t>
            </a:r>
            <a:r>
              <a:rPr dirty="0" sz="2400" spc="-120" b="1" i="1">
                <a:latin typeface="Trebuchet MS"/>
                <a:cs typeface="Trebuchet MS"/>
              </a:rPr>
              <a:t>very</a:t>
            </a:r>
            <a:r>
              <a:rPr dirty="0" sz="2400" spc="-80" b="1" i="1">
                <a:latin typeface="Trebuchet MS"/>
                <a:cs typeface="Trebuchet MS"/>
              </a:rPr>
              <a:t> </a:t>
            </a:r>
            <a:r>
              <a:rPr dirty="0" sz="2400" spc="-55" b="1" i="1">
                <a:latin typeface="Trebuchet MS"/>
                <a:cs typeface="Trebuchet MS"/>
              </a:rPr>
              <a:t>effective</a:t>
            </a:r>
            <a:r>
              <a:rPr dirty="0" sz="2400" spc="-80" b="1" i="1">
                <a:latin typeface="Trebuchet MS"/>
                <a:cs typeface="Trebuchet MS"/>
              </a:rPr>
              <a:t> </a:t>
            </a:r>
            <a:r>
              <a:rPr dirty="0" sz="2400" spc="-100" b="1" i="1">
                <a:latin typeface="Trebuchet MS"/>
                <a:cs typeface="Trebuchet MS"/>
              </a:rPr>
              <a:t>for</a:t>
            </a:r>
            <a:r>
              <a:rPr dirty="0" sz="2400" spc="-80" b="1" i="1">
                <a:latin typeface="Trebuchet MS"/>
                <a:cs typeface="Trebuchet MS"/>
              </a:rPr>
              <a:t> </a:t>
            </a:r>
            <a:r>
              <a:rPr dirty="0" sz="2400" spc="-20" b="1" i="1">
                <a:latin typeface="Trebuchet MS"/>
                <a:cs typeface="Trebuchet MS"/>
              </a:rPr>
              <a:t>pre- </a:t>
            </a:r>
            <a:r>
              <a:rPr dirty="0" sz="2400" spc="-10" b="1" i="1">
                <a:latin typeface="Trebuchet MS"/>
                <a:cs typeface="Trebuchet MS"/>
              </a:rPr>
              <a:t>filtering.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8152907"/>
            <a:ext cx="2393315" cy="213403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705350" y="9258300"/>
            <a:ext cx="14582775" cy="0"/>
          </a:xfrm>
          <a:custGeom>
            <a:avLst/>
            <a:gdLst/>
            <a:ahLst/>
            <a:cxnLst/>
            <a:rect l="l" t="t" r="r" b="b"/>
            <a:pathLst>
              <a:path w="14582775" h="0">
                <a:moveTo>
                  <a:pt x="0" y="0"/>
                </a:moveTo>
                <a:lnTo>
                  <a:pt x="145826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8516" y="2801904"/>
            <a:ext cx="4754596" cy="3163662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9925401" y="6046911"/>
            <a:ext cx="5601335" cy="866140"/>
          </a:xfrm>
          <a:custGeom>
            <a:avLst/>
            <a:gdLst/>
            <a:ahLst/>
            <a:cxnLst/>
            <a:rect l="l" t="t" r="r" b="b"/>
            <a:pathLst>
              <a:path w="5601334" h="866140">
                <a:moveTo>
                  <a:pt x="4866061" y="865834"/>
                </a:moveTo>
                <a:lnTo>
                  <a:pt x="734731" y="865834"/>
                </a:lnTo>
                <a:lnTo>
                  <a:pt x="686494" y="864268"/>
                </a:lnTo>
                <a:lnTo>
                  <a:pt x="639079" y="859634"/>
                </a:lnTo>
                <a:lnTo>
                  <a:pt x="592585" y="852032"/>
                </a:lnTo>
                <a:lnTo>
                  <a:pt x="547109" y="841557"/>
                </a:lnTo>
                <a:lnTo>
                  <a:pt x="502748" y="828308"/>
                </a:lnTo>
                <a:lnTo>
                  <a:pt x="459599" y="812381"/>
                </a:lnTo>
                <a:lnTo>
                  <a:pt x="417762" y="793876"/>
                </a:lnTo>
                <a:lnTo>
                  <a:pt x="377332" y="772889"/>
                </a:lnTo>
                <a:lnTo>
                  <a:pt x="338408" y="749518"/>
                </a:lnTo>
                <a:lnTo>
                  <a:pt x="301088" y="723860"/>
                </a:lnTo>
                <a:lnTo>
                  <a:pt x="265468" y="696014"/>
                </a:lnTo>
                <a:lnTo>
                  <a:pt x="231646" y="666076"/>
                </a:lnTo>
                <a:lnTo>
                  <a:pt x="199720" y="634144"/>
                </a:lnTo>
                <a:lnTo>
                  <a:pt x="169788" y="600316"/>
                </a:lnTo>
                <a:lnTo>
                  <a:pt x="141946" y="564690"/>
                </a:lnTo>
                <a:lnTo>
                  <a:pt x="116294" y="527362"/>
                </a:lnTo>
                <a:lnTo>
                  <a:pt x="92927" y="488431"/>
                </a:lnTo>
                <a:lnTo>
                  <a:pt x="71944" y="447994"/>
                </a:lnTo>
                <a:lnTo>
                  <a:pt x="53442" y="406148"/>
                </a:lnTo>
                <a:lnTo>
                  <a:pt x="37519" y="362992"/>
                </a:lnTo>
                <a:lnTo>
                  <a:pt x="24272" y="318623"/>
                </a:lnTo>
                <a:lnTo>
                  <a:pt x="13799" y="273138"/>
                </a:lnTo>
                <a:lnTo>
                  <a:pt x="6198" y="226635"/>
                </a:lnTo>
                <a:lnTo>
                  <a:pt x="1565" y="179212"/>
                </a:lnTo>
                <a:lnTo>
                  <a:pt x="0" y="130966"/>
                </a:lnTo>
                <a:lnTo>
                  <a:pt x="10288" y="79984"/>
                </a:lnTo>
                <a:lnTo>
                  <a:pt x="38348" y="38355"/>
                </a:lnTo>
                <a:lnTo>
                  <a:pt x="79969" y="10290"/>
                </a:lnTo>
                <a:lnTo>
                  <a:pt x="130941" y="0"/>
                </a:lnTo>
                <a:lnTo>
                  <a:pt x="5469851" y="0"/>
                </a:lnTo>
                <a:lnTo>
                  <a:pt x="5520802" y="10290"/>
                </a:lnTo>
                <a:lnTo>
                  <a:pt x="5562427" y="38355"/>
                </a:lnTo>
                <a:lnTo>
                  <a:pt x="5590495" y="79984"/>
                </a:lnTo>
                <a:lnTo>
                  <a:pt x="5600793" y="130966"/>
                </a:lnTo>
                <a:lnTo>
                  <a:pt x="5599227" y="179212"/>
                </a:lnTo>
                <a:lnTo>
                  <a:pt x="5594594" y="226635"/>
                </a:lnTo>
                <a:lnTo>
                  <a:pt x="5588825" y="261932"/>
                </a:lnTo>
                <a:lnTo>
                  <a:pt x="280362" y="261932"/>
                </a:lnTo>
                <a:lnTo>
                  <a:pt x="295681" y="306478"/>
                </a:lnTo>
                <a:lnTo>
                  <a:pt x="315194" y="348905"/>
                </a:lnTo>
                <a:lnTo>
                  <a:pt x="338649" y="388963"/>
                </a:lnTo>
                <a:lnTo>
                  <a:pt x="365796" y="426400"/>
                </a:lnTo>
                <a:lnTo>
                  <a:pt x="396383" y="460964"/>
                </a:lnTo>
                <a:lnTo>
                  <a:pt x="430159" y="492404"/>
                </a:lnTo>
                <a:lnTo>
                  <a:pt x="466872" y="520467"/>
                </a:lnTo>
                <a:lnTo>
                  <a:pt x="506271" y="544904"/>
                </a:lnTo>
                <a:lnTo>
                  <a:pt x="548105" y="565461"/>
                </a:lnTo>
                <a:lnTo>
                  <a:pt x="592122" y="581888"/>
                </a:lnTo>
                <a:lnTo>
                  <a:pt x="638072" y="593933"/>
                </a:lnTo>
                <a:lnTo>
                  <a:pt x="685702" y="601344"/>
                </a:lnTo>
                <a:lnTo>
                  <a:pt x="734762" y="603870"/>
                </a:lnTo>
                <a:lnTo>
                  <a:pt x="5427859" y="603870"/>
                </a:lnTo>
                <a:lnTo>
                  <a:pt x="5401072" y="634144"/>
                </a:lnTo>
                <a:lnTo>
                  <a:pt x="5369146" y="666076"/>
                </a:lnTo>
                <a:lnTo>
                  <a:pt x="5335324" y="696014"/>
                </a:lnTo>
                <a:lnTo>
                  <a:pt x="5299704" y="723860"/>
                </a:lnTo>
                <a:lnTo>
                  <a:pt x="5262384" y="749518"/>
                </a:lnTo>
                <a:lnTo>
                  <a:pt x="5223460" y="772889"/>
                </a:lnTo>
                <a:lnTo>
                  <a:pt x="5183030" y="793876"/>
                </a:lnTo>
                <a:lnTo>
                  <a:pt x="5141193" y="812381"/>
                </a:lnTo>
                <a:lnTo>
                  <a:pt x="5098045" y="828308"/>
                </a:lnTo>
                <a:lnTo>
                  <a:pt x="5053683" y="841557"/>
                </a:lnTo>
                <a:lnTo>
                  <a:pt x="5008207" y="852032"/>
                </a:lnTo>
                <a:lnTo>
                  <a:pt x="4961713" y="859634"/>
                </a:lnTo>
                <a:lnTo>
                  <a:pt x="4914298" y="864268"/>
                </a:lnTo>
                <a:lnTo>
                  <a:pt x="4866061" y="865834"/>
                </a:lnTo>
                <a:close/>
              </a:path>
              <a:path w="5601334" h="866140">
                <a:moveTo>
                  <a:pt x="5427859" y="603870"/>
                </a:moveTo>
                <a:lnTo>
                  <a:pt x="4866123" y="603870"/>
                </a:lnTo>
                <a:lnTo>
                  <a:pt x="4915177" y="601344"/>
                </a:lnTo>
                <a:lnTo>
                  <a:pt x="4962804" y="593933"/>
                </a:lnTo>
                <a:lnTo>
                  <a:pt x="5008751" y="581888"/>
                </a:lnTo>
                <a:lnTo>
                  <a:pt x="5052767" y="565461"/>
                </a:lnTo>
                <a:lnTo>
                  <a:pt x="5094601" y="544904"/>
                </a:lnTo>
                <a:lnTo>
                  <a:pt x="5134001" y="520467"/>
                </a:lnTo>
                <a:lnTo>
                  <a:pt x="5170716" y="492404"/>
                </a:lnTo>
                <a:lnTo>
                  <a:pt x="5204494" y="460964"/>
                </a:lnTo>
                <a:lnTo>
                  <a:pt x="5235083" y="426400"/>
                </a:lnTo>
                <a:lnTo>
                  <a:pt x="5262233" y="388963"/>
                </a:lnTo>
                <a:lnTo>
                  <a:pt x="5285690" y="348905"/>
                </a:lnTo>
                <a:lnTo>
                  <a:pt x="5305204" y="306478"/>
                </a:lnTo>
                <a:lnTo>
                  <a:pt x="5320524" y="261932"/>
                </a:lnTo>
                <a:lnTo>
                  <a:pt x="5588825" y="261932"/>
                </a:lnTo>
                <a:lnTo>
                  <a:pt x="5576520" y="318623"/>
                </a:lnTo>
                <a:lnTo>
                  <a:pt x="5563273" y="362992"/>
                </a:lnTo>
                <a:lnTo>
                  <a:pt x="5547350" y="406148"/>
                </a:lnTo>
                <a:lnTo>
                  <a:pt x="5528848" y="447994"/>
                </a:lnTo>
                <a:lnTo>
                  <a:pt x="5507865" y="488431"/>
                </a:lnTo>
                <a:lnTo>
                  <a:pt x="5484498" y="527362"/>
                </a:lnTo>
                <a:lnTo>
                  <a:pt x="5458846" y="564690"/>
                </a:lnTo>
                <a:lnTo>
                  <a:pt x="5431004" y="600316"/>
                </a:lnTo>
                <a:lnTo>
                  <a:pt x="5427859" y="6038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29806" y="579183"/>
            <a:ext cx="382841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-10"/>
              <a:t>MODELS</a:t>
            </a:r>
            <a:endParaRPr sz="7000"/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217" y="1847246"/>
            <a:ext cx="95250" cy="95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9509" y="5882043"/>
            <a:ext cx="95250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5874" y="3669029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9509" y="7630833"/>
            <a:ext cx="95250" cy="952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324412" y="1619281"/>
            <a:ext cx="7562850" cy="7486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55545">
              <a:lnSpc>
                <a:spcPct val="114599"/>
              </a:lnSpc>
              <a:spcBef>
                <a:spcPts val="100"/>
              </a:spcBef>
            </a:pPr>
            <a:r>
              <a:rPr dirty="0" sz="2400" spc="-155">
                <a:latin typeface="Trebuchet MS"/>
                <a:cs typeface="Trebuchet MS"/>
              </a:rPr>
              <a:t>The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project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follows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progressive </a:t>
            </a:r>
            <a:r>
              <a:rPr dirty="0" sz="2400" spc="-40">
                <a:latin typeface="Trebuchet MS"/>
                <a:cs typeface="Trebuchet MS"/>
              </a:rPr>
              <a:t>modeling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approach,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starting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from </a:t>
            </a:r>
            <a:r>
              <a:rPr dirty="0" sz="2400" spc="-80">
                <a:latin typeface="Trebuchet MS"/>
                <a:cs typeface="Trebuchet MS"/>
              </a:rPr>
              <a:t>simple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models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more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advanced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deep </a:t>
            </a:r>
            <a:r>
              <a:rPr dirty="0" sz="2400" spc="-50">
                <a:latin typeface="Trebuchet MS"/>
                <a:cs typeface="Trebuchet MS"/>
              </a:rPr>
              <a:t>learning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techniques.</a:t>
            </a:r>
            <a:endParaRPr sz="2400">
              <a:latin typeface="Trebuchet MS"/>
              <a:cs typeface="Trebuchet MS"/>
            </a:endParaRPr>
          </a:p>
          <a:p>
            <a:pPr marL="222250" marR="1706880">
              <a:lnSpc>
                <a:spcPct val="114599"/>
              </a:lnSpc>
              <a:spcBef>
                <a:spcPts val="1140"/>
              </a:spcBef>
            </a:pPr>
            <a:r>
              <a:rPr dirty="0" sz="2400" spc="-50">
                <a:latin typeface="Trebuchet MS"/>
                <a:cs typeface="Trebuchet MS"/>
              </a:rPr>
              <a:t>Logistic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Regression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used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baseline </a:t>
            </a:r>
            <a:r>
              <a:rPr dirty="0" sz="2400" spc="-55">
                <a:latin typeface="Trebuchet MS"/>
                <a:cs typeface="Trebuchet MS"/>
              </a:rPr>
              <a:t>model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because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55">
                <a:latin typeface="Trebuchet MS"/>
                <a:cs typeface="Trebuchet MS"/>
              </a:rPr>
              <a:t>it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 </a:t>
            </a:r>
            <a:r>
              <a:rPr dirty="0" sz="2400" spc="-100">
                <a:latin typeface="Trebuchet MS"/>
                <a:cs typeface="Trebuchet MS"/>
              </a:rPr>
              <a:t>fast,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05">
                <a:latin typeface="Trebuchet MS"/>
                <a:cs typeface="Trebuchet MS"/>
              </a:rPr>
              <a:t>interpretable,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and </a:t>
            </a:r>
            <a:r>
              <a:rPr dirty="0" sz="2400" spc="-60">
                <a:latin typeface="Trebuchet MS"/>
                <a:cs typeface="Trebuchet MS"/>
              </a:rPr>
              <a:t>provides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60">
                <a:latin typeface="Trebuchet MS"/>
                <a:cs typeface="Trebuchet MS"/>
              </a:rPr>
              <a:t>good</a:t>
            </a:r>
            <a:r>
              <a:rPr dirty="0" sz="2400" spc="-65">
                <a:latin typeface="Trebuchet MS"/>
                <a:cs typeface="Trebuchet MS"/>
              </a:rPr>
              <a:t> starting point </a:t>
            </a:r>
            <a:r>
              <a:rPr dirty="0" sz="2400" spc="-25">
                <a:latin typeface="Trebuchet MS"/>
                <a:cs typeface="Trebuchet MS"/>
              </a:rPr>
              <a:t>for </a:t>
            </a:r>
            <a:r>
              <a:rPr dirty="0" sz="2400" spc="-10">
                <a:latin typeface="Trebuchet MS"/>
                <a:cs typeface="Trebuchet MS"/>
              </a:rPr>
              <a:t>comparison.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400">
              <a:latin typeface="Trebuchet MS"/>
              <a:cs typeface="Trebuchet MS"/>
            </a:endParaRPr>
          </a:p>
          <a:p>
            <a:pPr marL="1025525" marR="648335">
              <a:lnSpc>
                <a:spcPct val="114599"/>
              </a:lnSpc>
            </a:pPr>
            <a:r>
              <a:rPr dirty="0" sz="2400" spc="-120">
                <a:latin typeface="Trebuchet MS"/>
                <a:cs typeface="Trebuchet MS"/>
              </a:rPr>
              <a:t>BERT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then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applied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transformer-</a:t>
            </a:r>
            <a:r>
              <a:rPr dirty="0" sz="2400" spc="-10">
                <a:latin typeface="Trebuchet MS"/>
                <a:cs typeface="Trebuchet MS"/>
              </a:rPr>
              <a:t>based </a:t>
            </a:r>
            <a:r>
              <a:rPr dirty="0" sz="2400" spc="-55">
                <a:latin typeface="Trebuchet MS"/>
                <a:cs typeface="Trebuchet MS"/>
              </a:rPr>
              <a:t>model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that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understands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 spc="-70">
                <a:latin typeface="Trebuchet MS"/>
                <a:cs typeface="Trebuchet MS"/>
              </a:rPr>
              <a:t>context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words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sentence,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improving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classification accuracy.</a:t>
            </a:r>
            <a:endParaRPr sz="2400">
              <a:latin typeface="Trebuchet MS"/>
              <a:cs typeface="Trebuchet MS"/>
            </a:endParaRPr>
          </a:p>
          <a:p>
            <a:pPr marL="1025525" marR="5080">
              <a:lnSpc>
                <a:spcPct val="114599"/>
              </a:lnSpc>
              <a:spcBef>
                <a:spcPts val="570"/>
              </a:spcBef>
            </a:pPr>
            <a:r>
              <a:rPr dirty="0" sz="2400" spc="-145">
                <a:latin typeface="Trebuchet MS"/>
                <a:cs typeface="Trebuchet MS"/>
              </a:rPr>
              <a:t>Finally,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BioBERT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85">
                <a:latin typeface="Trebuchet MS"/>
                <a:cs typeface="Trebuchet MS"/>
              </a:rPr>
              <a:t>used,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which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pre-</a:t>
            </a:r>
            <a:r>
              <a:rPr dirty="0" sz="2400" spc="-70">
                <a:latin typeface="Trebuchet MS"/>
                <a:cs typeface="Trebuchet MS"/>
              </a:rPr>
              <a:t>trained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on </a:t>
            </a:r>
            <a:r>
              <a:rPr dirty="0" sz="2400" spc="-40">
                <a:latin typeface="Trebuchet MS"/>
                <a:cs typeface="Trebuchet MS"/>
              </a:rPr>
              <a:t>biomedical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healthcare-</a:t>
            </a:r>
            <a:r>
              <a:rPr dirty="0" sz="2400" spc="-65">
                <a:latin typeface="Trebuchet MS"/>
                <a:cs typeface="Trebuchet MS"/>
              </a:rPr>
              <a:t>related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70">
                <a:latin typeface="Trebuchet MS"/>
                <a:cs typeface="Trebuchet MS"/>
              </a:rPr>
              <a:t>text,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making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it </a:t>
            </a:r>
            <a:r>
              <a:rPr dirty="0" sz="2400" spc="-80">
                <a:latin typeface="Trebuchet MS"/>
                <a:cs typeface="Trebuchet MS"/>
              </a:rPr>
              <a:t>more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suitable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for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analyzing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content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from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online </a:t>
            </a:r>
            <a:r>
              <a:rPr dirty="0" sz="2400" spc="-75">
                <a:latin typeface="Trebuchet MS"/>
                <a:cs typeface="Trebuchet MS"/>
              </a:rPr>
              <a:t>health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communities.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705350" y="2723806"/>
            <a:ext cx="14582775" cy="6553834"/>
            <a:chOff x="3705350" y="2723806"/>
            <a:chExt cx="14582775" cy="6553834"/>
          </a:xfrm>
        </p:grpSpPr>
        <p:sp>
          <p:nvSpPr>
            <p:cNvPr id="4" name="object 4" descr=""/>
            <p:cNvSpPr/>
            <p:nvPr/>
          </p:nvSpPr>
          <p:spPr>
            <a:xfrm>
              <a:off x="3705350" y="9258299"/>
              <a:ext cx="14582775" cy="0"/>
            </a:xfrm>
            <a:custGeom>
              <a:avLst/>
              <a:gdLst/>
              <a:ahLst/>
              <a:cxnLst/>
              <a:rect l="l" t="t" r="r" b="b"/>
              <a:pathLst>
                <a:path w="14582775" h="0">
                  <a:moveTo>
                    <a:pt x="0" y="0"/>
                  </a:moveTo>
                  <a:lnTo>
                    <a:pt x="1458264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27029" y="2723806"/>
              <a:ext cx="8105774" cy="65341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87657" y="431831"/>
            <a:ext cx="911288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/>
              <a:t>MODEL</a:t>
            </a:r>
            <a:r>
              <a:rPr dirty="0" sz="7000" spc="-254"/>
              <a:t> </a:t>
            </a:r>
            <a:r>
              <a:rPr dirty="0" sz="7000" spc="5"/>
              <a:t>E</a:t>
            </a:r>
            <a:r>
              <a:rPr dirty="0" sz="7000" spc="-515"/>
              <a:t>V</a:t>
            </a:r>
            <a:r>
              <a:rPr dirty="0" sz="7000" spc="10"/>
              <a:t>ALU</a:t>
            </a:r>
            <a:r>
              <a:rPr dirty="0" sz="7000" spc="-505"/>
              <a:t>A</a:t>
            </a:r>
            <a:r>
              <a:rPr dirty="0" sz="7000" spc="10"/>
              <a:t>T</a:t>
            </a:r>
            <a:r>
              <a:rPr dirty="0" sz="7000" spc="15"/>
              <a:t>I</a:t>
            </a:r>
            <a:r>
              <a:rPr dirty="0" sz="7000" spc="5"/>
              <a:t>O</a:t>
            </a:r>
            <a:r>
              <a:rPr dirty="0" sz="7000" spc="15"/>
              <a:t>N</a:t>
            </a:r>
            <a:endParaRPr sz="7000"/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217" y="2057056"/>
            <a:ext cx="95250" cy="952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24412" y="1829090"/>
            <a:ext cx="6345555" cy="577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12850">
              <a:lnSpc>
                <a:spcPct val="114599"/>
              </a:lnSpc>
              <a:spcBef>
                <a:spcPts val="100"/>
              </a:spcBef>
            </a:pPr>
            <a:r>
              <a:rPr dirty="0" sz="2400" spc="-155">
                <a:latin typeface="Trebuchet MS"/>
                <a:cs typeface="Trebuchet MS"/>
              </a:rPr>
              <a:t>The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performance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 spc="-45">
                <a:latin typeface="Trebuchet MS"/>
                <a:cs typeface="Trebuchet MS"/>
              </a:rPr>
              <a:t>models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is </a:t>
            </a:r>
            <a:r>
              <a:rPr dirty="0" sz="2400" spc="-40">
                <a:latin typeface="Trebuchet MS"/>
                <a:cs typeface="Trebuchet MS"/>
              </a:rPr>
              <a:t>evaluated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using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standard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classification </a:t>
            </a:r>
            <a:r>
              <a:rPr dirty="0" sz="2400" spc="-95">
                <a:latin typeface="Trebuchet MS"/>
                <a:cs typeface="Trebuchet MS"/>
              </a:rPr>
              <a:t>metrics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such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precision,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114">
                <a:latin typeface="Trebuchet MS"/>
                <a:cs typeface="Trebuchet MS"/>
              </a:rPr>
              <a:t>recall,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F1- </a:t>
            </a:r>
            <a:r>
              <a:rPr dirty="0" sz="2400" spc="-80">
                <a:latin typeface="Trebuchet MS"/>
                <a:cs typeface="Trebuchet MS"/>
              </a:rPr>
              <a:t>score,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AUC-</a:t>
            </a:r>
            <a:r>
              <a:rPr dirty="0" sz="2400" spc="35">
                <a:latin typeface="Trebuchet MS"/>
                <a:cs typeface="Trebuchet MS"/>
              </a:rPr>
              <a:t>ROC.</a:t>
            </a:r>
            <a:endParaRPr sz="2400">
              <a:latin typeface="Trebuchet MS"/>
              <a:cs typeface="Trebuchet MS"/>
            </a:endParaRPr>
          </a:p>
          <a:p>
            <a:pPr marL="12700" marR="1084580">
              <a:lnSpc>
                <a:spcPct val="114599"/>
              </a:lnSpc>
              <a:spcBef>
                <a:spcPts val="475"/>
              </a:spcBef>
            </a:pPr>
            <a:r>
              <a:rPr dirty="0" sz="2400" spc="-65">
                <a:latin typeface="Trebuchet MS"/>
                <a:cs typeface="Trebuchet MS"/>
              </a:rPr>
              <a:t>Precision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measures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how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many</a:t>
            </a:r>
            <a:r>
              <a:rPr dirty="0" sz="2400" spc="-10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predicted </a:t>
            </a:r>
            <a:r>
              <a:rPr dirty="0" sz="2400" spc="-20">
                <a:latin typeface="Trebuchet MS"/>
                <a:cs typeface="Trebuchet MS"/>
              </a:rPr>
              <a:t>hate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speech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instances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are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actually </a:t>
            </a:r>
            <a:r>
              <a:rPr dirty="0" sz="2400" spc="-100">
                <a:latin typeface="Trebuchet MS"/>
                <a:cs typeface="Trebuchet MS"/>
              </a:rPr>
              <a:t>correct,</a:t>
            </a:r>
            <a:r>
              <a:rPr dirty="0" sz="2400" spc="-80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while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recall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measures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how </a:t>
            </a:r>
            <a:r>
              <a:rPr dirty="0" sz="2400" spc="-75">
                <a:latin typeface="Trebuchet MS"/>
                <a:cs typeface="Trebuchet MS"/>
              </a:rPr>
              <a:t>many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actual</a:t>
            </a:r>
            <a:r>
              <a:rPr dirty="0" sz="2400" spc="-14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hate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speech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instances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are </a:t>
            </a:r>
            <a:r>
              <a:rPr dirty="0" sz="2400" spc="-60">
                <a:latin typeface="Trebuchet MS"/>
                <a:cs typeface="Trebuchet MS"/>
              </a:rPr>
              <a:t>successfully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detected.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  <a:spcBef>
                <a:spcPts val="1910"/>
              </a:spcBef>
            </a:pPr>
            <a:r>
              <a:rPr dirty="0" sz="2400" spc="-195">
                <a:latin typeface="Trebuchet MS"/>
                <a:cs typeface="Trebuchet MS"/>
              </a:rPr>
              <a:t>F1-</a:t>
            </a:r>
            <a:r>
              <a:rPr dirty="0" sz="2400" spc="-10">
                <a:latin typeface="Trebuchet MS"/>
                <a:cs typeface="Trebuchet MS"/>
              </a:rPr>
              <a:t>score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provides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balance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between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precision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114">
                <a:latin typeface="Trebuchet MS"/>
                <a:cs typeface="Trebuchet MS"/>
              </a:rPr>
              <a:t>recall,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95">
                <a:latin typeface="Trebuchet MS"/>
                <a:cs typeface="Trebuchet MS"/>
              </a:rPr>
              <a:t>AUC-</a:t>
            </a:r>
            <a:r>
              <a:rPr dirty="0" sz="2400" spc="155">
                <a:latin typeface="Trebuchet MS"/>
                <a:cs typeface="Trebuchet MS"/>
              </a:rPr>
              <a:t>ROC</a:t>
            </a:r>
            <a:r>
              <a:rPr dirty="0" sz="2400" spc="-5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evaluates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</a:t>
            </a:r>
            <a:r>
              <a:rPr dirty="0" sz="2400" spc="-6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model’s </a:t>
            </a:r>
            <a:r>
              <a:rPr dirty="0" sz="2400" spc="-100">
                <a:latin typeface="Trebuchet MS"/>
                <a:cs typeface="Trebuchet MS"/>
              </a:rPr>
              <a:t>ability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15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distinguish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between</a:t>
            </a:r>
            <a:r>
              <a:rPr dirty="0" sz="2400" spc="-1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classes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across </a:t>
            </a:r>
            <a:r>
              <a:rPr dirty="0" sz="2400" spc="-80">
                <a:latin typeface="Trebuchet MS"/>
                <a:cs typeface="Trebuchet MS"/>
              </a:rPr>
              <a:t>different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thresholds.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217" y="6132022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217" y="3794163"/>
            <a:ext cx="95250" cy="952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705350" y="9258300"/>
            <a:ext cx="14582775" cy="0"/>
          </a:xfrm>
          <a:custGeom>
            <a:avLst/>
            <a:gdLst/>
            <a:ahLst/>
            <a:cxnLst/>
            <a:rect l="l" t="t" r="r" b="b"/>
            <a:pathLst>
              <a:path w="14582775" h="0">
                <a:moveTo>
                  <a:pt x="0" y="0"/>
                </a:moveTo>
                <a:lnTo>
                  <a:pt x="145826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22610" y="2428498"/>
            <a:ext cx="10986088" cy="48533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43886" y="634687"/>
            <a:ext cx="1130236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0" spc="35"/>
              <a:t>R</a:t>
            </a:r>
            <a:r>
              <a:rPr dirty="0" sz="7000" spc="30"/>
              <a:t>ES</a:t>
            </a:r>
            <a:r>
              <a:rPr dirty="0" sz="7000" spc="35"/>
              <a:t>U</a:t>
            </a:r>
            <a:r>
              <a:rPr dirty="0" sz="7000" spc="-480"/>
              <a:t>L</a:t>
            </a:r>
            <a:r>
              <a:rPr dirty="0" sz="7000" spc="35"/>
              <a:t>T</a:t>
            </a:r>
            <a:r>
              <a:rPr dirty="0" sz="7000" spc="40"/>
              <a:t>S</a:t>
            </a:r>
            <a:r>
              <a:rPr dirty="0" sz="7000" spc="-210"/>
              <a:t> </a:t>
            </a:r>
            <a:r>
              <a:rPr dirty="0" sz="7000"/>
              <a:t>&amp;</a:t>
            </a:r>
            <a:r>
              <a:rPr dirty="0" sz="7000" spc="-215"/>
              <a:t> </a:t>
            </a:r>
            <a:r>
              <a:rPr dirty="0" sz="7000" spc="15"/>
              <a:t>C</a:t>
            </a:r>
            <a:r>
              <a:rPr dirty="0" sz="7000" spc="10"/>
              <a:t>O</a:t>
            </a:r>
            <a:r>
              <a:rPr dirty="0" sz="7000" spc="15"/>
              <a:t>M</a:t>
            </a:r>
            <a:r>
              <a:rPr dirty="0" sz="7000" spc="-509"/>
              <a:t>P</a:t>
            </a:r>
            <a:r>
              <a:rPr dirty="0" sz="7000" spc="15"/>
              <a:t>AR</a:t>
            </a:r>
            <a:r>
              <a:rPr dirty="0" sz="7000" spc="20"/>
              <a:t>I</a:t>
            </a:r>
            <a:r>
              <a:rPr dirty="0" sz="7000" spc="10"/>
              <a:t>SO</a:t>
            </a:r>
            <a:r>
              <a:rPr dirty="0" sz="7000" spc="20"/>
              <a:t>N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806342" y="2215315"/>
            <a:ext cx="5798185" cy="541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-145">
                <a:latin typeface="Trebuchet MS"/>
                <a:cs typeface="Trebuchet MS"/>
              </a:rPr>
              <a:t>The</a:t>
            </a:r>
            <a:r>
              <a:rPr dirty="0" sz="2400" spc="-40">
                <a:latin typeface="Trebuchet MS"/>
                <a:cs typeface="Trebuchet MS"/>
              </a:rPr>
              <a:t> </a:t>
            </a:r>
            <a:r>
              <a:rPr dirty="0" sz="2400" spc="-95">
                <a:latin typeface="Trebuchet MS"/>
                <a:cs typeface="Trebuchet MS"/>
              </a:rPr>
              <a:t>results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show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clear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improvement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as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we </a:t>
            </a:r>
            <a:r>
              <a:rPr dirty="0" sz="2400">
                <a:latin typeface="Trebuchet MS"/>
                <a:cs typeface="Trebuchet MS"/>
              </a:rPr>
              <a:t>move</a:t>
            </a:r>
            <a:r>
              <a:rPr dirty="0" sz="2400" spc="-1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from</a:t>
            </a:r>
            <a:r>
              <a:rPr dirty="0" sz="2400" spc="-1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traditional</a:t>
            </a:r>
            <a:r>
              <a:rPr dirty="0" sz="2400" spc="-1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machine</a:t>
            </a:r>
            <a:r>
              <a:rPr dirty="0" sz="2400" spc="-10">
                <a:latin typeface="Trebuchet MS"/>
                <a:cs typeface="Trebuchet MS"/>
              </a:rPr>
              <a:t>  </a:t>
            </a:r>
            <a:r>
              <a:rPr dirty="0" sz="2400" spc="-50">
                <a:latin typeface="Trebuchet MS"/>
                <a:cs typeface="Trebuchet MS"/>
              </a:rPr>
              <a:t>learning </a:t>
            </a:r>
            <a:r>
              <a:rPr dirty="0" sz="2400" spc="-45">
                <a:latin typeface="Trebuchet MS"/>
                <a:cs typeface="Trebuchet MS"/>
              </a:rPr>
              <a:t>models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advanced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deep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learning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models.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400">
              <a:latin typeface="Trebuchet MS"/>
              <a:cs typeface="Trebuchet MS"/>
            </a:endParaRPr>
          </a:p>
          <a:p>
            <a:pPr algn="just" marL="12700" marR="5080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Logistic</a:t>
            </a:r>
            <a:r>
              <a:rPr dirty="0" sz="2400" spc="59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Regression</a:t>
            </a:r>
            <a:r>
              <a:rPr dirty="0" sz="2400" spc="155">
                <a:latin typeface="Trebuchet MS"/>
                <a:cs typeface="Trebuchet MS"/>
              </a:rPr>
              <a:t>   </a:t>
            </a:r>
            <a:r>
              <a:rPr dirty="0" sz="2400">
                <a:latin typeface="Trebuchet MS"/>
                <a:cs typeface="Trebuchet MS"/>
              </a:rPr>
              <a:t>provides</a:t>
            </a:r>
            <a:r>
              <a:rPr dirty="0" sz="2400" spc="160">
                <a:latin typeface="Trebuchet MS"/>
                <a:cs typeface="Trebuchet MS"/>
              </a:rPr>
              <a:t>  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595">
                <a:latin typeface="Trebuchet MS"/>
                <a:cs typeface="Trebuchet MS"/>
              </a:rPr>
              <a:t>  </a:t>
            </a:r>
            <a:r>
              <a:rPr dirty="0" sz="2400" spc="-40">
                <a:latin typeface="Trebuchet MS"/>
                <a:cs typeface="Trebuchet MS"/>
              </a:rPr>
              <a:t>solid </a:t>
            </a:r>
            <a:r>
              <a:rPr dirty="0" sz="2400">
                <a:latin typeface="Trebuchet MS"/>
                <a:cs typeface="Trebuchet MS"/>
              </a:rPr>
              <a:t>baseline,</a:t>
            </a:r>
            <a:r>
              <a:rPr dirty="0" sz="2400" spc="15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but</a:t>
            </a:r>
            <a:r>
              <a:rPr dirty="0" sz="2400" spc="15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it</a:t>
            </a:r>
            <a:r>
              <a:rPr dirty="0" sz="2400" spc="15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lacks</a:t>
            </a:r>
            <a:r>
              <a:rPr dirty="0" sz="2400" spc="155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deep</a:t>
            </a:r>
            <a:r>
              <a:rPr dirty="0" sz="2400" spc="155">
                <a:latin typeface="Trebuchet MS"/>
                <a:cs typeface="Trebuchet MS"/>
              </a:rPr>
              <a:t>  </a:t>
            </a:r>
            <a:r>
              <a:rPr dirty="0" sz="2400" spc="-65">
                <a:latin typeface="Trebuchet MS"/>
                <a:cs typeface="Trebuchet MS"/>
              </a:rPr>
              <a:t>contextual </a:t>
            </a:r>
            <a:r>
              <a:rPr dirty="0" sz="2400" spc="-10">
                <a:latin typeface="Trebuchet MS"/>
                <a:cs typeface="Trebuchet MS"/>
              </a:rPr>
              <a:t>understanding.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400">
              <a:latin typeface="Trebuchet MS"/>
              <a:cs typeface="Trebuchet MS"/>
            </a:endParaRPr>
          </a:p>
          <a:p>
            <a:pPr algn="just" marL="12700" marR="5080">
              <a:lnSpc>
                <a:spcPct val="114599"/>
              </a:lnSpc>
            </a:pPr>
            <a:r>
              <a:rPr dirty="0" sz="2400">
                <a:latin typeface="Trebuchet MS"/>
                <a:cs typeface="Trebuchet MS"/>
              </a:rPr>
              <a:t>BERT</a:t>
            </a:r>
            <a:r>
              <a:rPr dirty="0" sz="2400" spc="2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improves</a:t>
            </a:r>
            <a:r>
              <a:rPr dirty="0" sz="2400" spc="2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performance</a:t>
            </a:r>
            <a:r>
              <a:rPr dirty="0" sz="2400" spc="2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by</a:t>
            </a:r>
            <a:r>
              <a:rPr dirty="0" sz="2400" spc="27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capturing </a:t>
            </a:r>
            <a:r>
              <a:rPr dirty="0" sz="2400">
                <a:latin typeface="Trebuchet MS"/>
                <a:cs typeface="Trebuchet MS"/>
              </a:rPr>
              <a:t>word</a:t>
            </a:r>
            <a:r>
              <a:rPr dirty="0" sz="2400" spc="3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relationships</a:t>
            </a:r>
            <a:r>
              <a:rPr dirty="0" sz="2400" spc="3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3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sentence</a:t>
            </a:r>
            <a:r>
              <a:rPr dirty="0" sz="2400" spc="38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context, </a:t>
            </a:r>
            <a:r>
              <a:rPr dirty="0" sz="2400">
                <a:latin typeface="Trebuchet MS"/>
                <a:cs typeface="Trebuchet MS"/>
              </a:rPr>
              <a:t>while</a:t>
            </a:r>
            <a:r>
              <a:rPr dirty="0" sz="2400" spc="59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BioBERT</a:t>
            </a:r>
            <a:r>
              <a:rPr dirty="0" sz="2400" spc="59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achieves</a:t>
            </a:r>
            <a:r>
              <a:rPr dirty="0" sz="2400" spc="59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590">
                <a:latin typeface="Trebuchet MS"/>
                <a:cs typeface="Trebuchet MS"/>
              </a:rPr>
              <a:t>  </a:t>
            </a:r>
            <a:r>
              <a:rPr dirty="0" sz="2400" spc="-45">
                <a:latin typeface="Trebuchet MS"/>
                <a:cs typeface="Trebuchet MS"/>
              </a:rPr>
              <a:t>highest </a:t>
            </a:r>
            <a:r>
              <a:rPr dirty="0" sz="2400">
                <a:latin typeface="Trebuchet MS"/>
                <a:cs typeface="Trebuchet MS"/>
              </a:rPr>
              <a:t>accuracy</a:t>
            </a:r>
            <a:r>
              <a:rPr dirty="0" sz="2400" spc="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due</a:t>
            </a:r>
            <a:r>
              <a:rPr dirty="0" sz="2400" spc="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to</a:t>
            </a:r>
            <a:r>
              <a:rPr dirty="0" sz="2400" spc="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its</a:t>
            </a:r>
            <a:r>
              <a:rPr dirty="0" sz="2400" spc="7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training</a:t>
            </a:r>
            <a:r>
              <a:rPr dirty="0" sz="2400" spc="7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on</a:t>
            </a:r>
            <a:r>
              <a:rPr dirty="0" sz="2400" spc="70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biomedical </a:t>
            </a:r>
            <a:r>
              <a:rPr dirty="0" sz="2400" spc="-10">
                <a:latin typeface="Trebuchet MS"/>
                <a:cs typeface="Trebuchet MS"/>
              </a:rPr>
              <a:t>data.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" y="7966218"/>
            <a:ext cx="2393315" cy="232008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705350" y="9258300"/>
            <a:ext cx="14582775" cy="0"/>
          </a:xfrm>
          <a:custGeom>
            <a:avLst/>
            <a:gdLst/>
            <a:ahLst/>
            <a:cxnLst/>
            <a:rect l="l" t="t" r="r" b="b"/>
            <a:pathLst>
              <a:path w="14582775" h="0">
                <a:moveTo>
                  <a:pt x="0" y="0"/>
                </a:moveTo>
                <a:lnTo>
                  <a:pt x="1458264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061921" y="4420163"/>
            <a:ext cx="2072005" cy="2388870"/>
          </a:xfrm>
          <a:custGeom>
            <a:avLst/>
            <a:gdLst/>
            <a:ahLst/>
            <a:cxnLst/>
            <a:rect l="l" t="t" r="r" b="b"/>
            <a:pathLst>
              <a:path w="2072005" h="2388870">
                <a:moveTo>
                  <a:pt x="1471441" y="781824"/>
                </a:moveTo>
                <a:lnTo>
                  <a:pt x="1342529" y="781824"/>
                </a:lnTo>
                <a:lnTo>
                  <a:pt x="1347681" y="775645"/>
                </a:lnTo>
                <a:lnTo>
                  <a:pt x="1351802" y="769466"/>
                </a:lnTo>
                <a:lnTo>
                  <a:pt x="1356954" y="763286"/>
                </a:lnTo>
                <a:lnTo>
                  <a:pt x="1378623" y="739631"/>
                </a:lnTo>
                <a:lnTo>
                  <a:pt x="1397395" y="716169"/>
                </a:lnTo>
                <a:lnTo>
                  <a:pt x="1413462" y="692321"/>
                </a:lnTo>
                <a:lnTo>
                  <a:pt x="1427017" y="667507"/>
                </a:lnTo>
                <a:lnTo>
                  <a:pt x="1708299" y="105192"/>
                </a:lnTo>
                <a:lnTo>
                  <a:pt x="1733397" y="67087"/>
                </a:lnTo>
                <a:lnTo>
                  <a:pt x="1766127" y="36705"/>
                </a:lnTo>
                <a:lnTo>
                  <a:pt x="1805231" y="14820"/>
                </a:lnTo>
                <a:lnTo>
                  <a:pt x="1849455" y="2204"/>
                </a:lnTo>
                <a:lnTo>
                  <a:pt x="1894790" y="0"/>
                </a:lnTo>
                <a:lnTo>
                  <a:pt x="1938580" y="8512"/>
                </a:lnTo>
                <a:lnTo>
                  <a:pt x="1979278" y="27259"/>
                </a:lnTo>
                <a:lnTo>
                  <a:pt x="2015340" y="55758"/>
                </a:lnTo>
                <a:lnTo>
                  <a:pt x="2046524" y="96824"/>
                </a:lnTo>
                <a:lnTo>
                  <a:pt x="2046743" y="97371"/>
                </a:lnTo>
                <a:lnTo>
                  <a:pt x="1888045" y="97371"/>
                </a:lnTo>
                <a:lnTo>
                  <a:pt x="1865941" y="97983"/>
                </a:lnTo>
                <a:lnTo>
                  <a:pt x="1825758" y="114203"/>
                </a:lnTo>
                <a:lnTo>
                  <a:pt x="1797938" y="147417"/>
                </a:lnTo>
                <a:lnTo>
                  <a:pt x="1516656" y="709732"/>
                </a:lnTo>
                <a:lnTo>
                  <a:pt x="1499269" y="741385"/>
                </a:lnTo>
                <a:lnTo>
                  <a:pt x="1479564" y="771396"/>
                </a:lnTo>
                <a:lnTo>
                  <a:pt x="1471441" y="781824"/>
                </a:lnTo>
                <a:close/>
              </a:path>
              <a:path w="2072005" h="2388870">
                <a:moveTo>
                  <a:pt x="1155911" y="1889976"/>
                </a:moveTo>
                <a:lnTo>
                  <a:pt x="1023125" y="1889976"/>
                </a:lnTo>
                <a:lnTo>
                  <a:pt x="1647509" y="1176268"/>
                </a:lnTo>
                <a:lnTo>
                  <a:pt x="1670499" y="1147319"/>
                </a:lnTo>
                <a:lnTo>
                  <a:pt x="1706045" y="1082855"/>
                </a:lnTo>
                <a:lnTo>
                  <a:pt x="1967945" y="217449"/>
                </a:lnTo>
                <a:lnTo>
                  <a:pt x="1971647" y="192523"/>
                </a:lnTo>
                <a:lnTo>
                  <a:pt x="1968975" y="167886"/>
                </a:lnTo>
                <a:lnTo>
                  <a:pt x="1945277" y="123730"/>
                </a:lnTo>
                <a:lnTo>
                  <a:pt x="1909086" y="101587"/>
                </a:lnTo>
                <a:lnTo>
                  <a:pt x="1888045" y="97371"/>
                </a:lnTo>
                <a:lnTo>
                  <a:pt x="2046743" y="97371"/>
                </a:lnTo>
                <a:lnTo>
                  <a:pt x="2065440" y="144070"/>
                </a:lnTo>
                <a:lnTo>
                  <a:pt x="2071413" y="194792"/>
                </a:lnTo>
                <a:lnTo>
                  <a:pt x="2063766" y="246286"/>
                </a:lnTo>
                <a:lnTo>
                  <a:pt x="1814424" y="1077400"/>
                </a:lnTo>
                <a:lnTo>
                  <a:pt x="1798213" y="1122570"/>
                </a:lnTo>
                <a:lnTo>
                  <a:pt x="1777461" y="1165326"/>
                </a:lnTo>
                <a:lnTo>
                  <a:pt x="1752266" y="1205572"/>
                </a:lnTo>
                <a:lnTo>
                  <a:pt x="1722724" y="1243211"/>
                </a:lnTo>
                <a:lnTo>
                  <a:pt x="1155911" y="1889976"/>
                </a:lnTo>
                <a:close/>
              </a:path>
              <a:path w="2072005" h="2388870">
                <a:moveTo>
                  <a:pt x="1155008" y="1891006"/>
                </a:moveTo>
                <a:lnTo>
                  <a:pt x="105094" y="1891006"/>
                </a:lnTo>
                <a:lnTo>
                  <a:pt x="174127" y="1338990"/>
                </a:lnTo>
                <a:lnTo>
                  <a:pt x="182409" y="1292587"/>
                </a:lnTo>
                <a:lnTo>
                  <a:pt x="195431" y="1247668"/>
                </a:lnTo>
                <a:lnTo>
                  <a:pt x="212974" y="1204571"/>
                </a:lnTo>
                <a:lnTo>
                  <a:pt x="234816" y="1163636"/>
                </a:lnTo>
                <a:lnTo>
                  <a:pt x="260737" y="1125201"/>
                </a:lnTo>
                <a:lnTo>
                  <a:pt x="290517" y="1089606"/>
                </a:lnTo>
                <a:lnTo>
                  <a:pt x="323934" y="1057189"/>
                </a:lnTo>
                <a:lnTo>
                  <a:pt x="360769" y="1028290"/>
                </a:lnTo>
                <a:lnTo>
                  <a:pt x="400801" y="1003248"/>
                </a:lnTo>
                <a:lnTo>
                  <a:pt x="454192" y="981723"/>
                </a:lnTo>
                <a:lnTo>
                  <a:pt x="505339" y="959840"/>
                </a:lnTo>
                <a:lnTo>
                  <a:pt x="554248" y="937600"/>
                </a:lnTo>
                <a:lnTo>
                  <a:pt x="600923" y="915002"/>
                </a:lnTo>
                <a:lnTo>
                  <a:pt x="645369" y="892047"/>
                </a:lnTo>
                <a:lnTo>
                  <a:pt x="687589" y="868734"/>
                </a:lnTo>
                <a:lnTo>
                  <a:pt x="727590" y="845064"/>
                </a:lnTo>
                <a:lnTo>
                  <a:pt x="765375" y="821036"/>
                </a:lnTo>
                <a:lnTo>
                  <a:pt x="800949" y="796651"/>
                </a:lnTo>
                <a:lnTo>
                  <a:pt x="834317" y="771908"/>
                </a:lnTo>
                <a:lnTo>
                  <a:pt x="865483" y="746808"/>
                </a:lnTo>
                <a:lnTo>
                  <a:pt x="909153" y="725293"/>
                </a:lnTo>
                <a:lnTo>
                  <a:pt x="953919" y="708996"/>
                </a:lnTo>
                <a:lnTo>
                  <a:pt x="999395" y="697824"/>
                </a:lnTo>
                <a:lnTo>
                  <a:pt x="1045197" y="691685"/>
                </a:lnTo>
                <a:lnTo>
                  <a:pt x="1090938" y="690486"/>
                </a:lnTo>
                <a:lnTo>
                  <a:pt x="1136234" y="694133"/>
                </a:lnTo>
                <a:lnTo>
                  <a:pt x="1180698" y="702535"/>
                </a:lnTo>
                <a:lnTo>
                  <a:pt x="1223945" y="715597"/>
                </a:lnTo>
                <a:lnTo>
                  <a:pt x="1265589" y="733228"/>
                </a:lnTo>
                <a:lnTo>
                  <a:pt x="1305246" y="755335"/>
                </a:lnTo>
                <a:lnTo>
                  <a:pt x="1342529" y="781824"/>
                </a:lnTo>
                <a:lnTo>
                  <a:pt x="1471441" y="781824"/>
                </a:lnTo>
                <a:lnTo>
                  <a:pt x="1467645" y="786698"/>
                </a:lnTo>
                <a:lnTo>
                  <a:pt x="1061046" y="786698"/>
                </a:lnTo>
                <a:lnTo>
                  <a:pt x="1013852" y="792718"/>
                </a:lnTo>
                <a:lnTo>
                  <a:pt x="967623" y="805811"/>
                </a:lnTo>
                <a:lnTo>
                  <a:pt x="923182" y="826108"/>
                </a:lnTo>
                <a:lnTo>
                  <a:pt x="891540" y="851866"/>
                </a:lnTo>
                <a:lnTo>
                  <a:pt x="857349" y="877428"/>
                </a:lnTo>
                <a:lnTo>
                  <a:pt x="820663" y="902753"/>
                </a:lnTo>
                <a:lnTo>
                  <a:pt x="781539" y="927800"/>
                </a:lnTo>
                <a:lnTo>
                  <a:pt x="740032" y="952526"/>
                </a:lnTo>
                <a:lnTo>
                  <a:pt x="696198" y="976891"/>
                </a:lnTo>
                <a:lnTo>
                  <a:pt x="650093" y="1000851"/>
                </a:lnTo>
                <a:lnTo>
                  <a:pt x="601772" y="1024366"/>
                </a:lnTo>
                <a:lnTo>
                  <a:pt x="551292" y="1047393"/>
                </a:lnTo>
                <a:lnTo>
                  <a:pt x="498707" y="1069891"/>
                </a:lnTo>
                <a:lnTo>
                  <a:pt x="444075" y="1091818"/>
                </a:lnTo>
                <a:lnTo>
                  <a:pt x="406812" y="1116568"/>
                </a:lnTo>
                <a:lnTo>
                  <a:pt x="373063" y="1146308"/>
                </a:lnTo>
                <a:lnTo>
                  <a:pt x="343315" y="1180481"/>
                </a:lnTo>
                <a:lnTo>
                  <a:pt x="318055" y="1218526"/>
                </a:lnTo>
                <a:lnTo>
                  <a:pt x="297770" y="1259887"/>
                </a:lnTo>
                <a:lnTo>
                  <a:pt x="282946" y="1304003"/>
                </a:lnTo>
                <a:lnTo>
                  <a:pt x="274069" y="1350318"/>
                </a:lnTo>
                <a:lnTo>
                  <a:pt x="207097" y="1889976"/>
                </a:lnTo>
                <a:lnTo>
                  <a:pt x="1155911" y="1889976"/>
                </a:lnTo>
                <a:lnTo>
                  <a:pt x="1155008" y="1891006"/>
                </a:lnTo>
                <a:close/>
              </a:path>
              <a:path w="2072005" h="2388870">
                <a:moveTo>
                  <a:pt x="833542" y="1411081"/>
                </a:moveTo>
                <a:lnTo>
                  <a:pt x="777904" y="1328690"/>
                </a:lnTo>
                <a:lnTo>
                  <a:pt x="819118" y="1300884"/>
                </a:lnTo>
                <a:lnTo>
                  <a:pt x="855408" y="1275706"/>
                </a:lnTo>
                <a:lnTo>
                  <a:pt x="891532" y="1249120"/>
                </a:lnTo>
                <a:lnTo>
                  <a:pt x="927507" y="1221104"/>
                </a:lnTo>
                <a:lnTo>
                  <a:pt x="963350" y="1191640"/>
                </a:lnTo>
                <a:lnTo>
                  <a:pt x="999077" y="1160708"/>
                </a:lnTo>
                <a:lnTo>
                  <a:pt x="1034706" y="1128288"/>
                </a:lnTo>
                <a:lnTo>
                  <a:pt x="1070254" y="1094361"/>
                </a:lnTo>
                <a:lnTo>
                  <a:pt x="1105736" y="1058906"/>
                </a:lnTo>
                <a:lnTo>
                  <a:pt x="1141171" y="1021905"/>
                </a:lnTo>
                <a:lnTo>
                  <a:pt x="1176575" y="983336"/>
                </a:lnTo>
                <a:lnTo>
                  <a:pt x="1211965" y="943182"/>
                </a:lnTo>
                <a:lnTo>
                  <a:pt x="1247357" y="901421"/>
                </a:lnTo>
                <a:lnTo>
                  <a:pt x="1282770" y="858035"/>
                </a:lnTo>
                <a:lnTo>
                  <a:pt x="1243061" y="830685"/>
                </a:lnTo>
                <a:lnTo>
                  <a:pt x="1200214" y="809743"/>
                </a:lnTo>
                <a:lnTo>
                  <a:pt x="1155048" y="795343"/>
                </a:lnTo>
                <a:lnTo>
                  <a:pt x="1108385" y="787617"/>
                </a:lnTo>
                <a:lnTo>
                  <a:pt x="1061046" y="786698"/>
                </a:lnTo>
                <a:lnTo>
                  <a:pt x="1467645" y="786698"/>
                </a:lnTo>
                <a:lnTo>
                  <a:pt x="1457541" y="799669"/>
                </a:lnTo>
                <a:lnTo>
                  <a:pt x="1433199" y="826108"/>
                </a:lnTo>
                <a:lnTo>
                  <a:pt x="1399342" y="871175"/>
                </a:lnTo>
                <a:lnTo>
                  <a:pt x="1365380" y="914847"/>
                </a:lnTo>
                <a:lnTo>
                  <a:pt x="1331307" y="957132"/>
                </a:lnTo>
                <a:lnTo>
                  <a:pt x="1297114" y="998034"/>
                </a:lnTo>
                <a:lnTo>
                  <a:pt x="1262795" y="1037561"/>
                </a:lnTo>
                <a:lnTo>
                  <a:pt x="1228341" y="1075718"/>
                </a:lnTo>
                <a:lnTo>
                  <a:pt x="1193745" y="1112511"/>
                </a:lnTo>
                <a:lnTo>
                  <a:pt x="1159000" y="1147946"/>
                </a:lnTo>
                <a:lnTo>
                  <a:pt x="1124098" y="1182030"/>
                </a:lnTo>
                <a:lnTo>
                  <a:pt x="1089032" y="1214768"/>
                </a:lnTo>
                <a:lnTo>
                  <a:pt x="1053793" y="1246166"/>
                </a:lnTo>
                <a:lnTo>
                  <a:pt x="1018375" y="1276231"/>
                </a:lnTo>
                <a:lnTo>
                  <a:pt x="982770" y="1304968"/>
                </a:lnTo>
                <a:lnTo>
                  <a:pt x="946970" y="1332383"/>
                </a:lnTo>
                <a:lnTo>
                  <a:pt x="910968" y="1358483"/>
                </a:lnTo>
                <a:lnTo>
                  <a:pt x="833542" y="1411081"/>
                </a:lnTo>
                <a:close/>
              </a:path>
              <a:path w="2072005" h="2388870">
                <a:moveTo>
                  <a:pt x="1194161" y="2388438"/>
                </a:moveTo>
                <a:lnTo>
                  <a:pt x="0" y="2388438"/>
                </a:lnTo>
                <a:lnTo>
                  <a:pt x="0" y="1891006"/>
                </a:lnTo>
                <a:lnTo>
                  <a:pt x="1194161" y="1891006"/>
                </a:lnTo>
                <a:lnTo>
                  <a:pt x="1194161" y="1989874"/>
                </a:lnTo>
                <a:lnTo>
                  <a:pt x="98912" y="1989874"/>
                </a:lnTo>
                <a:lnTo>
                  <a:pt x="98912" y="2288539"/>
                </a:lnTo>
                <a:lnTo>
                  <a:pt x="1194161" y="2288539"/>
                </a:lnTo>
                <a:lnTo>
                  <a:pt x="1194161" y="2388438"/>
                </a:lnTo>
                <a:close/>
              </a:path>
              <a:path w="2072005" h="2388870">
                <a:moveTo>
                  <a:pt x="1194161" y="2288539"/>
                </a:moveTo>
                <a:lnTo>
                  <a:pt x="1094218" y="2288539"/>
                </a:lnTo>
                <a:lnTo>
                  <a:pt x="1094218" y="1989874"/>
                </a:lnTo>
                <a:lnTo>
                  <a:pt x="1194161" y="1989874"/>
                </a:lnTo>
                <a:lnTo>
                  <a:pt x="1194161" y="2288539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94735" y="2789363"/>
            <a:ext cx="3686175" cy="4019550"/>
          </a:xfrm>
          <a:custGeom>
            <a:avLst/>
            <a:gdLst/>
            <a:ahLst/>
            <a:cxnLst/>
            <a:rect l="l" t="t" r="r" b="b"/>
            <a:pathLst>
              <a:path w="3686175" h="4019550">
                <a:moveTo>
                  <a:pt x="2068322" y="3521811"/>
                </a:moveTo>
                <a:lnTo>
                  <a:pt x="1969414" y="3521811"/>
                </a:lnTo>
                <a:lnTo>
                  <a:pt x="1969414" y="3620681"/>
                </a:lnTo>
                <a:lnTo>
                  <a:pt x="1969414" y="3919347"/>
                </a:lnTo>
                <a:lnTo>
                  <a:pt x="974102" y="3919347"/>
                </a:lnTo>
                <a:lnTo>
                  <a:pt x="974102" y="3620681"/>
                </a:lnTo>
                <a:lnTo>
                  <a:pt x="1969414" y="3620681"/>
                </a:lnTo>
                <a:lnTo>
                  <a:pt x="1969414" y="3521811"/>
                </a:lnTo>
                <a:lnTo>
                  <a:pt x="1964258" y="3521811"/>
                </a:lnTo>
                <a:lnTo>
                  <a:pt x="1895233" y="2969793"/>
                </a:lnTo>
                <a:lnTo>
                  <a:pt x="1886940" y="2923387"/>
                </a:lnTo>
                <a:lnTo>
                  <a:pt x="1873859" y="2878442"/>
                </a:lnTo>
                <a:lnTo>
                  <a:pt x="1865350" y="2857690"/>
                </a:lnTo>
                <a:lnTo>
                  <a:pt x="1865350" y="3521811"/>
                </a:lnTo>
                <a:lnTo>
                  <a:pt x="1049324" y="3521811"/>
                </a:lnTo>
                <a:lnTo>
                  <a:pt x="422871" y="2808109"/>
                </a:lnTo>
                <a:lnTo>
                  <a:pt x="380377" y="2747213"/>
                </a:lnTo>
                <a:lnTo>
                  <a:pt x="351777" y="2679369"/>
                </a:lnTo>
                <a:lnTo>
                  <a:pt x="101409" y="1848256"/>
                </a:lnTo>
                <a:lnTo>
                  <a:pt x="97701" y="1823364"/>
                </a:lnTo>
                <a:lnTo>
                  <a:pt x="100380" y="1798955"/>
                </a:lnTo>
                <a:lnTo>
                  <a:pt x="124079" y="1756600"/>
                </a:lnTo>
                <a:lnTo>
                  <a:pt x="161163" y="1733677"/>
                </a:lnTo>
                <a:lnTo>
                  <a:pt x="182321" y="1729663"/>
                </a:lnTo>
                <a:lnTo>
                  <a:pt x="204444" y="1730844"/>
                </a:lnTo>
                <a:lnTo>
                  <a:pt x="244627" y="1747456"/>
                </a:lnTo>
                <a:lnTo>
                  <a:pt x="272440" y="1780286"/>
                </a:lnTo>
                <a:lnTo>
                  <a:pt x="553732" y="2342604"/>
                </a:lnTo>
                <a:lnTo>
                  <a:pt x="571055" y="2374176"/>
                </a:lnTo>
                <a:lnTo>
                  <a:pt x="590308" y="2403614"/>
                </a:lnTo>
                <a:lnTo>
                  <a:pt x="611098" y="2430361"/>
                </a:lnTo>
                <a:lnTo>
                  <a:pt x="633069" y="2453830"/>
                </a:lnTo>
                <a:lnTo>
                  <a:pt x="667829" y="2499791"/>
                </a:lnTo>
                <a:lnTo>
                  <a:pt x="702589" y="2544267"/>
                </a:lnTo>
                <a:lnTo>
                  <a:pt x="737349" y="2587231"/>
                </a:lnTo>
                <a:lnTo>
                  <a:pt x="772121" y="2628722"/>
                </a:lnTo>
                <a:lnTo>
                  <a:pt x="806945" y="2668752"/>
                </a:lnTo>
                <a:lnTo>
                  <a:pt x="841819" y="2707322"/>
                </a:lnTo>
                <a:lnTo>
                  <a:pt x="876757" y="2744457"/>
                </a:lnTo>
                <a:lnTo>
                  <a:pt x="911771" y="2780169"/>
                </a:lnTo>
                <a:lnTo>
                  <a:pt x="946886" y="2814459"/>
                </a:lnTo>
                <a:lnTo>
                  <a:pt x="982116" y="2847365"/>
                </a:lnTo>
                <a:lnTo>
                  <a:pt x="1017460" y="2878874"/>
                </a:lnTo>
                <a:lnTo>
                  <a:pt x="1052957" y="2909011"/>
                </a:lnTo>
                <a:lnTo>
                  <a:pt x="1088605" y="2937802"/>
                </a:lnTo>
                <a:lnTo>
                  <a:pt x="1124432" y="2965234"/>
                </a:lnTo>
                <a:lnTo>
                  <a:pt x="1160449" y="2991345"/>
                </a:lnTo>
                <a:lnTo>
                  <a:pt x="1237869" y="3043948"/>
                </a:lnTo>
                <a:lnTo>
                  <a:pt x="1293507" y="2961551"/>
                </a:lnTo>
                <a:lnTo>
                  <a:pt x="1252296" y="2933750"/>
                </a:lnTo>
                <a:lnTo>
                  <a:pt x="1216025" y="2908808"/>
                </a:lnTo>
                <a:lnTo>
                  <a:pt x="1179944" y="2882455"/>
                </a:lnTo>
                <a:lnTo>
                  <a:pt x="1144028" y="2854642"/>
                </a:lnTo>
                <a:lnTo>
                  <a:pt x="1108265" y="2825369"/>
                </a:lnTo>
                <a:lnTo>
                  <a:pt x="1072616" y="2794584"/>
                </a:lnTo>
                <a:lnTo>
                  <a:pt x="1037056" y="2762275"/>
                </a:lnTo>
                <a:lnTo>
                  <a:pt x="1001572" y="2728404"/>
                </a:lnTo>
                <a:lnTo>
                  <a:pt x="966127" y="2692958"/>
                </a:lnTo>
                <a:lnTo>
                  <a:pt x="930694" y="2655887"/>
                </a:lnTo>
                <a:lnTo>
                  <a:pt x="895261" y="2617178"/>
                </a:lnTo>
                <a:lnTo>
                  <a:pt x="859790" y="2576792"/>
                </a:lnTo>
                <a:lnTo>
                  <a:pt x="824255" y="2534704"/>
                </a:lnTo>
                <a:lnTo>
                  <a:pt x="788644" y="2490901"/>
                </a:lnTo>
                <a:lnTo>
                  <a:pt x="828294" y="2463495"/>
                </a:lnTo>
                <a:lnTo>
                  <a:pt x="870940" y="2442362"/>
                </a:lnTo>
                <a:lnTo>
                  <a:pt x="915708" y="2427605"/>
                </a:lnTo>
                <a:lnTo>
                  <a:pt x="961745" y="2419324"/>
                </a:lnTo>
                <a:lnTo>
                  <a:pt x="1008151" y="2417597"/>
                </a:lnTo>
                <a:lnTo>
                  <a:pt x="1054087" y="2422537"/>
                </a:lnTo>
                <a:lnTo>
                  <a:pt x="1098664" y="2434247"/>
                </a:lnTo>
                <a:lnTo>
                  <a:pt x="1141018" y="2452789"/>
                </a:lnTo>
                <a:lnTo>
                  <a:pt x="1174457" y="2479827"/>
                </a:lnTo>
                <a:lnTo>
                  <a:pt x="1210081" y="2506421"/>
                </a:lnTo>
                <a:lnTo>
                  <a:pt x="1247876" y="2532545"/>
                </a:lnTo>
                <a:lnTo>
                  <a:pt x="1287767" y="2558161"/>
                </a:lnTo>
                <a:lnTo>
                  <a:pt x="1329728" y="2583230"/>
                </a:lnTo>
                <a:lnTo>
                  <a:pt x="1373708" y="2607741"/>
                </a:lnTo>
                <a:lnTo>
                  <a:pt x="1419644" y="2631643"/>
                </a:lnTo>
                <a:lnTo>
                  <a:pt x="1467510" y="2654909"/>
                </a:lnTo>
                <a:lnTo>
                  <a:pt x="1517256" y="2677503"/>
                </a:lnTo>
                <a:lnTo>
                  <a:pt x="1568831" y="2699397"/>
                </a:lnTo>
                <a:lnTo>
                  <a:pt x="1622183" y="2720568"/>
                </a:lnTo>
                <a:lnTo>
                  <a:pt x="1661744" y="2746133"/>
                </a:lnTo>
                <a:lnTo>
                  <a:pt x="1697126" y="2776563"/>
                </a:lnTo>
                <a:lnTo>
                  <a:pt x="1727974" y="2811310"/>
                </a:lnTo>
                <a:lnTo>
                  <a:pt x="1753908" y="2849791"/>
                </a:lnTo>
                <a:lnTo>
                  <a:pt x="1774532" y="2891472"/>
                </a:lnTo>
                <a:lnTo>
                  <a:pt x="1789480" y="2935770"/>
                </a:lnTo>
                <a:lnTo>
                  <a:pt x="1798370" y="2982150"/>
                </a:lnTo>
                <a:lnTo>
                  <a:pt x="1865350" y="3521811"/>
                </a:lnTo>
                <a:lnTo>
                  <a:pt x="1865350" y="2857690"/>
                </a:lnTo>
                <a:lnTo>
                  <a:pt x="1833994" y="2794165"/>
                </a:lnTo>
                <a:lnTo>
                  <a:pt x="1807552" y="2755481"/>
                </a:lnTo>
                <a:lnTo>
                  <a:pt x="1777009" y="2719501"/>
                </a:lnTo>
                <a:lnTo>
                  <a:pt x="1742516" y="2686545"/>
                </a:lnTo>
                <a:lnTo>
                  <a:pt x="1704238" y="2656929"/>
                </a:lnTo>
                <a:lnTo>
                  <a:pt x="1662366" y="2630970"/>
                </a:lnTo>
                <a:lnTo>
                  <a:pt x="1610283" y="2609951"/>
                </a:lnTo>
                <a:lnTo>
                  <a:pt x="1560207" y="2588463"/>
                </a:lnTo>
                <a:lnTo>
                  <a:pt x="1512112" y="2566479"/>
                </a:lnTo>
                <a:lnTo>
                  <a:pt x="1465986" y="2544000"/>
                </a:lnTo>
                <a:lnTo>
                  <a:pt x="1421790" y="2521000"/>
                </a:lnTo>
                <a:lnTo>
                  <a:pt x="1379499" y="2497480"/>
                </a:lnTo>
                <a:lnTo>
                  <a:pt x="1339088" y="2473414"/>
                </a:lnTo>
                <a:lnTo>
                  <a:pt x="1300518" y="2448788"/>
                </a:lnTo>
                <a:lnTo>
                  <a:pt x="1263764" y="2423591"/>
                </a:lnTo>
                <a:lnTo>
                  <a:pt x="1255649" y="2417597"/>
                </a:lnTo>
                <a:lnTo>
                  <a:pt x="1248905" y="2412631"/>
                </a:lnTo>
                <a:lnTo>
                  <a:pt x="1228813" y="2397810"/>
                </a:lnTo>
                <a:lnTo>
                  <a:pt x="1195628" y="2371433"/>
                </a:lnTo>
                <a:lnTo>
                  <a:pt x="1149502" y="2349449"/>
                </a:lnTo>
                <a:lnTo>
                  <a:pt x="1101763" y="2333498"/>
                </a:lnTo>
                <a:lnTo>
                  <a:pt x="1052957" y="2323490"/>
                </a:lnTo>
                <a:lnTo>
                  <a:pt x="1003604" y="2319350"/>
                </a:lnTo>
                <a:lnTo>
                  <a:pt x="954265" y="2320975"/>
                </a:lnTo>
                <a:lnTo>
                  <a:pt x="905497" y="2328278"/>
                </a:lnTo>
                <a:lnTo>
                  <a:pt x="857821" y="2341181"/>
                </a:lnTo>
                <a:lnTo>
                  <a:pt x="811784" y="2359609"/>
                </a:lnTo>
                <a:lnTo>
                  <a:pt x="767930" y="2383447"/>
                </a:lnTo>
                <a:lnTo>
                  <a:pt x="726821" y="2412631"/>
                </a:lnTo>
                <a:lnTo>
                  <a:pt x="722185" y="2406612"/>
                </a:lnTo>
                <a:lnTo>
                  <a:pt x="712914" y="2394966"/>
                </a:lnTo>
                <a:lnTo>
                  <a:pt x="708279" y="2388946"/>
                </a:lnTo>
                <a:lnTo>
                  <a:pt x="689152" y="2368270"/>
                </a:lnTo>
                <a:lnTo>
                  <a:pt x="671957" y="2346325"/>
                </a:lnTo>
                <a:lnTo>
                  <a:pt x="656691" y="2323046"/>
                </a:lnTo>
                <a:lnTo>
                  <a:pt x="643369" y="2298319"/>
                </a:lnTo>
                <a:lnTo>
                  <a:pt x="362089" y="1736001"/>
                </a:lnTo>
                <a:lnTo>
                  <a:pt x="357924" y="1729663"/>
                </a:lnTo>
                <a:lnTo>
                  <a:pt x="337007" y="1697748"/>
                </a:lnTo>
                <a:lnTo>
                  <a:pt x="304380" y="1667129"/>
                </a:lnTo>
                <a:lnTo>
                  <a:pt x="265582" y="1645196"/>
                </a:lnTo>
                <a:lnTo>
                  <a:pt x="221957" y="1633004"/>
                </a:lnTo>
                <a:lnTo>
                  <a:pt x="176047" y="1630807"/>
                </a:lnTo>
                <a:lnTo>
                  <a:pt x="132067" y="1639316"/>
                </a:lnTo>
                <a:lnTo>
                  <a:pt x="91554" y="1658061"/>
                </a:lnTo>
                <a:lnTo>
                  <a:pt x="56070" y="1686560"/>
                </a:lnTo>
                <a:lnTo>
                  <a:pt x="24892" y="1727631"/>
                </a:lnTo>
                <a:lnTo>
                  <a:pt x="5969" y="1774875"/>
                </a:lnTo>
                <a:lnTo>
                  <a:pt x="0" y="1825599"/>
                </a:lnTo>
                <a:lnTo>
                  <a:pt x="7645" y="1877098"/>
                </a:lnTo>
                <a:lnTo>
                  <a:pt x="256019" y="2707322"/>
                </a:lnTo>
                <a:lnTo>
                  <a:pt x="272173" y="2752344"/>
                </a:lnTo>
                <a:lnTo>
                  <a:pt x="292925" y="2795105"/>
                </a:lnTo>
                <a:lnTo>
                  <a:pt x="318058" y="2835262"/>
                </a:lnTo>
                <a:lnTo>
                  <a:pt x="347662" y="2872981"/>
                </a:lnTo>
                <a:lnTo>
                  <a:pt x="915377" y="3521811"/>
                </a:lnTo>
                <a:lnTo>
                  <a:pt x="874166" y="3521811"/>
                </a:lnTo>
                <a:lnTo>
                  <a:pt x="874166" y="4019245"/>
                </a:lnTo>
                <a:lnTo>
                  <a:pt x="2068322" y="4019245"/>
                </a:lnTo>
                <a:lnTo>
                  <a:pt x="2068322" y="3919347"/>
                </a:lnTo>
                <a:lnTo>
                  <a:pt x="2068322" y="3620681"/>
                </a:lnTo>
                <a:lnTo>
                  <a:pt x="2068322" y="3521811"/>
                </a:lnTo>
                <a:close/>
              </a:path>
              <a:path w="3686175" h="4019550">
                <a:moveTo>
                  <a:pt x="2665920" y="1035469"/>
                </a:moveTo>
                <a:lnTo>
                  <a:pt x="2565971" y="1035469"/>
                </a:lnTo>
                <a:lnTo>
                  <a:pt x="2565971" y="1134503"/>
                </a:lnTo>
                <a:lnTo>
                  <a:pt x="2565971" y="1333855"/>
                </a:lnTo>
                <a:lnTo>
                  <a:pt x="2267178" y="1333855"/>
                </a:lnTo>
                <a:lnTo>
                  <a:pt x="2267178" y="1432890"/>
                </a:lnTo>
                <a:lnTo>
                  <a:pt x="2267178" y="1632242"/>
                </a:lnTo>
                <a:lnTo>
                  <a:pt x="2068322" y="1632242"/>
                </a:lnTo>
                <a:lnTo>
                  <a:pt x="2068322" y="1432890"/>
                </a:lnTo>
                <a:lnTo>
                  <a:pt x="2068322" y="1333855"/>
                </a:lnTo>
                <a:lnTo>
                  <a:pt x="1769529" y="1333855"/>
                </a:lnTo>
                <a:lnTo>
                  <a:pt x="1769529" y="1134503"/>
                </a:lnTo>
                <a:lnTo>
                  <a:pt x="2068322" y="1134503"/>
                </a:lnTo>
                <a:lnTo>
                  <a:pt x="2068322" y="1035469"/>
                </a:lnTo>
                <a:lnTo>
                  <a:pt x="2068322" y="836129"/>
                </a:lnTo>
                <a:lnTo>
                  <a:pt x="2267178" y="836129"/>
                </a:lnTo>
                <a:lnTo>
                  <a:pt x="2267178" y="1035469"/>
                </a:lnTo>
                <a:lnTo>
                  <a:pt x="2267178" y="1134503"/>
                </a:lnTo>
                <a:lnTo>
                  <a:pt x="2565971" y="1134503"/>
                </a:lnTo>
                <a:lnTo>
                  <a:pt x="2565971" y="1035469"/>
                </a:lnTo>
                <a:lnTo>
                  <a:pt x="2367127" y="1035469"/>
                </a:lnTo>
                <a:lnTo>
                  <a:pt x="2367127" y="836129"/>
                </a:lnTo>
                <a:lnTo>
                  <a:pt x="2367127" y="737082"/>
                </a:lnTo>
                <a:lnTo>
                  <a:pt x="1969414" y="737082"/>
                </a:lnTo>
                <a:lnTo>
                  <a:pt x="1969414" y="836129"/>
                </a:lnTo>
                <a:lnTo>
                  <a:pt x="1969414" y="1035469"/>
                </a:lnTo>
                <a:lnTo>
                  <a:pt x="1670608" y="1035469"/>
                </a:lnTo>
                <a:lnTo>
                  <a:pt x="1670608" y="1134503"/>
                </a:lnTo>
                <a:lnTo>
                  <a:pt x="1670608" y="1333855"/>
                </a:lnTo>
                <a:lnTo>
                  <a:pt x="1670608" y="1432890"/>
                </a:lnTo>
                <a:lnTo>
                  <a:pt x="1969414" y="1432890"/>
                </a:lnTo>
                <a:lnTo>
                  <a:pt x="1969414" y="1632242"/>
                </a:lnTo>
                <a:lnTo>
                  <a:pt x="1969414" y="1731276"/>
                </a:lnTo>
                <a:lnTo>
                  <a:pt x="2367127" y="1731276"/>
                </a:lnTo>
                <a:lnTo>
                  <a:pt x="2367127" y="1632242"/>
                </a:lnTo>
                <a:lnTo>
                  <a:pt x="2367127" y="1432890"/>
                </a:lnTo>
                <a:lnTo>
                  <a:pt x="2665920" y="1432890"/>
                </a:lnTo>
                <a:lnTo>
                  <a:pt x="2665920" y="1333855"/>
                </a:lnTo>
                <a:lnTo>
                  <a:pt x="2665920" y="1134503"/>
                </a:lnTo>
                <a:lnTo>
                  <a:pt x="2665920" y="1035469"/>
                </a:lnTo>
                <a:close/>
              </a:path>
              <a:path w="3686175" h="4019550">
                <a:moveTo>
                  <a:pt x="3685692" y="891501"/>
                </a:moveTo>
                <a:lnTo>
                  <a:pt x="3684536" y="845832"/>
                </a:lnTo>
                <a:lnTo>
                  <a:pt x="3681069" y="800277"/>
                </a:lnTo>
                <a:lnTo>
                  <a:pt x="3675278" y="754913"/>
                </a:lnTo>
                <a:lnTo>
                  <a:pt x="3667175" y="709841"/>
                </a:lnTo>
                <a:lnTo>
                  <a:pt x="3656761" y="665149"/>
                </a:lnTo>
                <a:lnTo>
                  <a:pt x="3644023" y="620953"/>
                </a:lnTo>
                <a:lnTo>
                  <a:pt x="3628987" y="577342"/>
                </a:lnTo>
                <a:lnTo>
                  <a:pt x="3611626" y="534416"/>
                </a:lnTo>
                <a:lnTo>
                  <a:pt x="3591941" y="492264"/>
                </a:lnTo>
                <a:lnTo>
                  <a:pt x="3587038" y="483069"/>
                </a:lnTo>
                <a:lnTo>
                  <a:pt x="3587038" y="891501"/>
                </a:lnTo>
                <a:lnTo>
                  <a:pt x="3585591" y="940206"/>
                </a:lnTo>
                <a:lnTo>
                  <a:pt x="3581247" y="988326"/>
                </a:lnTo>
                <a:lnTo>
                  <a:pt x="3574059" y="1035786"/>
                </a:lnTo>
                <a:lnTo>
                  <a:pt x="3564077" y="1082484"/>
                </a:lnTo>
                <a:lnTo>
                  <a:pt x="3551339" y="1128293"/>
                </a:lnTo>
                <a:lnTo>
                  <a:pt x="3535883" y="1173149"/>
                </a:lnTo>
                <a:lnTo>
                  <a:pt x="3517760" y="1216939"/>
                </a:lnTo>
                <a:lnTo>
                  <a:pt x="3496995" y="1259560"/>
                </a:lnTo>
                <a:lnTo>
                  <a:pt x="3473653" y="1300911"/>
                </a:lnTo>
                <a:lnTo>
                  <a:pt x="3447758" y="1340916"/>
                </a:lnTo>
                <a:lnTo>
                  <a:pt x="3419360" y="1379448"/>
                </a:lnTo>
                <a:lnTo>
                  <a:pt x="3388499" y="1416431"/>
                </a:lnTo>
                <a:lnTo>
                  <a:pt x="3355213" y="1451749"/>
                </a:lnTo>
                <a:lnTo>
                  <a:pt x="2257907" y="2548572"/>
                </a:lnTo>
                <a:lnTo>
                  <a:pt x="2216112" y="2575217"/>
                </a:lnTo>
                <a:lnTo>
                  <a:pt x="2167750" y="2584107"/>
                </a:lnTo>
                <a:lnTo>
                  <a:pt x="2119388" y="2575217"/>
                </a:lnTo>
                <a:lnTo>
                  <a:pt x="2077593" y="2548572"/>
                </a:lnTo>
                <a:lnTo>
                  <a:pt x="980287" y="1451749"/>
                </a:lnTo>
                <a:lnTo>
                  <a:pt x="947000" y="1416431"/>
                </a:lnTo>
                <a:lnTo>
                  <a:pt x="916139" y="1379448"/>
                </a:lnTo>
                <a:lnTo>
                  <a:pt x="887742" y="1340916"/>
                </a:lnTo>
                <a:lnTo>
                  <a:pt x="861847" y="1300911"/>
                </a:lnTo>
                <a:lnTo>
                  <a:pt x="838504" y="1259560"/>
                </a:lnTo>
                <a:lnTo>
                  <a:pt x="817740" y="1216939"/>
                </a:lnTo>
                <a:lnTo>
                  <a:pt x="799617" y="1173149"/>
                </a:lnTo>
                <a:lnTo>
                  <a:pt x="784161" y="1128293"/>
                </a:lnTo>
                <a:lnTo>
                  <a:pt x="771423" y="1082484"/>
                </a:lnTo>
                <a:lnTo>
                  <a:pt x="761441" y="1035786"/>
                </a:lnTo>
                <a:lnTo>
                  <a:pt x="754253" y="988326"/>
                </a:lnTo>
                <a:lnTo>
                  <a:pt x="749922" y="940206"/>
                </a:lnTo>
                <a:lnTo>
                  <a:pt x="748461" y="891501"/>
                </a:lnTo>
                <a:lnTo>
                  <a:pt x="749922" y="842784"/>
                </a:lnTo>
                <a:lnTo>
                  <a:pt x="754253" y="794664"/>
                </a:lnTo>
                <a:lnTo>
                  <a:pt x="761441" y="747204"/>
                </a:lnTo>
                <a:lnTo>
                  <a:pt x="771423" y="700506"/>
                </a:lnTo>
                <a:lnTo>
                  <a:pt x="784161" y="654697"/>
                </a:lnTo>
                <a:lnTo>
                  <a:pt x="799617" y="609841"/>
                </a:lnTo>
                <a:lnTo>
                  <a:pt x="817740" y="566051"/>
                </a:lnTo>
                <a:lnTo>
                  <a:pt x="838504" y="523430"/>
                </a:lnTo>
                <a:lnTo>
                  <a:pt x="861847" y="482079"/>
                </a:lnTo>
                <a:lnTo>
                  <a:pt x="887742" y="442074"/>
                </a:lnTo>
                <a:lnTo>
                  <a:pt x="916139" y="403542"/>
                </a:lnTo>
                <a:lnTo>
                  <a:pt x="947000" y="366560"/>
                </a:lnTo>
                <a:lnTo>
                  <a:pt x="980287" y="331241"/>
                </a:lnTo>
                <a:lnTo>
                  <a:pt x="1016787" y="296964"/>
                </a:lnTo>
                <a:lnTo>
                  <a:pt x="1054874" y="265430"/>
                </a:lnTo>
                <a:lnTo>
                  <a:pt x="1094422" y="236626"/>
                </a:lnTo>
                <a:lnTo>
                  <a:pt x="1135291" y="210578"/>
                </a:lnTo>
                <a:lnTo>
                  <a:pt x="1177353" y="187274"/>
                </a:lnTo>
                <a:lnTo>
                  <a:pt x="1220470" y="166700"/>
                </a:lnTo>
                <a:lnTo>
                  <a:pt x="1264513" y="148882"/>
                </a:lnTo>
                <a:lnTo>
                  <a:pt x="1309344" y="133794"/>
                </a:lnTo>
                <a:lnTo>
                  <a:pt x="1354836" y="121450"/>
                </a:lnTo>
                <a:lnTo>
                  <a:pt x="1400860" y="111861"/>
                </a:lnTo>
                <a:lnTo>
                  <a:pt x="1447292" y="105003"/>
                </a:lnTo>
                <a:lnTo>
                  <a:pt x="1493977" y="100888"/>
                </a:lnTo>
                <a:lnTo>
                  <a:pt x="1540789" y="99517"/>
                </a:lnTo>
                <a:lnTo>
                  <a:pt x="1587614" y="100888"/>
                </a:lnTo>
                <a:lnTo>
                  <a:pt x="1634299" y="105003"/>
                </a:lnTo>
                <a:lnTo>
                  <a:pt x="1680718" y="111861"/>
                </a:lnTo>
                <a:lnTo>
                  <a:pt x="1726742" y="121450"/>
                </a:lnTo>
                <a:lnTo>
                  <a:pt x="1772234" y="133794"/>
                </a:lnTo>
                <a:lnTo>
                  <a:pt x="1817077" y="148882"/>
                </a:lnTo>
                <a:lnTo>
                  <a:pt x="1861121" y="166700"/>
                </a:lnTo>
                <a:lnTo>
                  <a:pt x="1904238" y="187274"/>
                </a:lnTo>
                <a:lnTo>
                  <a:pt x="1946287" y="210578"/>
                </a:lnTo>
                <a:lnTo>
                  <a:pt x="1987156" y="236626"/>
                </a:lnTo>
                <a:lnTo>
                  <a:pt x="2026704" y="265430"/>
                </a:lnTo>
                <a:lnTo>
                  <a:pt x="2064791" y="296964"/>
                </a:lnTo>
                <a:lnTo>
                  <a:pt x="2101291" y="331241"/>
                </a:lnTo>
                <a:lnTo>
                  <a:pt x="2132634" y="352094"/>
                </a:lnTo>
                <a:lnTo>
                  <a:pt x="2168144" y="359041"/>
                </a:lnTo>
                <a:lnTo>
                  <a:pt x="2203437" y="352094"/>
                </a:lnTo>
                <a:lnTo>
                  <a:pt x="2234209" y="331241"/>
                </a:lnTo>
                <a:lnTo>
                  <a:pt x="2269325" y="298183"/>
                </a:lnTo>
                <a:lnTo>
                  <a:pt x="2305926" y="267665"/>
                </a:lnTo>
                <a:lnTo>
                  <a:pt x="2343886" y="239699"/>
                </a:lnTo>
                <a:lnTo>
                  <a:pt x="2383078" y="214261"/>
                </a:lnTo>
                <a:lnTo>
                  <a:pt x="2423401" y="191376"/>
                </a:lnTo>
                <a:lnTo>
                  <a:pt x="2464727" y="171030"/>
                </a:lnTo>
                <a:lnTo>
                  <a:pt x="2506929" y="153238"/>
                </a:lnTo>
                <a:lnTo>
                  <a:pt x="2549118" y="138252"/>
                </a:lnTo>
                <a:lnTo>
                  <a:pt x="2593530" y="125260"/>
                </a:lnTo>
                <a:lnTo>
                  <a:pt x="2637688" y="115087"/>
                </a:lnTo>
                <a:lnTo>
                  <a:pt x="2682252" y="107467"/>
                </a:lnTo>
                <a:lnTo>
                  <a:pt x="2727121" y="102374"/>
                </a:lnTo>
                <a:lnTo>
                  <a:pt x="2772156" y="99834"/>
                </a:lnTo>
                <a:lnTo>
                  <a:pt x="2817266" y="99834"/>
                </a:lnTo>
                <a:lnTo>
                  <a:pt x="2862300" y="102374"/>
                </a:lnTo>
                <a:lnTo>
                  <a:pt x="2907169" y="107467"/>
                </a:lnTo>
                <a:lnTo>
                  <a:pt x="2951734" y="115087"/>
                </a:lnTo>
                <a:lnTo>
                  <a:pt x="2995892" y="125260"/>
                </a:lnTo>
                <a:lnTo>
                  <a:pt x="3039249" y="137896"/>
                </a:lnTo>
                <a:lnTo>
                  <a:pt x="3082493" y="153238"/>
                </a:lnTo>
                <a:lnTo>
                  <a:pt x="3124708" y="171030"/>
                </a:lnTo>
                <a:lnTo>
                  <a:pt x="3166021" y="191376"/>
                </a:lnTo>
                <a:lnTo>
                  <a:pt x="3206343" y="214261"/>
                </a:lnTo>
                <a:lnTo>
                  <a:pt x="3245535" y="239699"/>
                </a:lnTo>
                <a:lnTo>
                  <a:pt x="3283496" y="267665"/>
                </a:lnTo>
                <a:lnTo>
                  <a:pt x="3320097" y="298183"/>
                </a:lnTo>
                <a:lnTo>
                  <a:pt x="3355213" y="331241"/>
                </a:lnTo>
                <a:lnTo>
                  <a:pt x="3388499" y="366560"/>
                </a:lnTo>
                <a:lnTo>
                  <a:pt x="3419360" y="403542"/>
                </a:lnTo>
                <a:lnTo>
                  <a:pt x="3447758" y="442074"/>
                </a:lnTo>
                <a:lnTo>
                  <a:pt x="3473653" y="482079"/>
                </a:lnTo>
                <a:lnTo>
                  <a:pt x="3496995" y="523430"/>
                </a:lnTo>
                <a:lnTo>
                  <a:pt x="3517760" y="566051"/>
                </a:lnTo>
                <a:lnTo>
                  <a:pt x="3535883" y="609841"/>
                </a:lnTo>
                <a:lnTo>
                  <a:pt x="3551339" y="654697"/>
                </a:lnTo>
                <a:lnTo>
                  <a:pt x="3564077" y="700506"/>
                </a:lnTo>
                <a:lnTo>
                  <a:pt x="3574059" y="747204"/>
                </a:lnTo>
                <a:lnTo>
                  <a:pt x="3581247" y="794664"/>
                </a:lnTo>
                <a:lnTo>
                  <a:pt x="3585591" y="842784"/>
                </a:lnTo>
                <a:lnTo>
                  <a:pt x="3585680" y="845832"/>
                </a:lnTo>
                <a:lnTo>
                  <a:pt x="3587038" y="891501"/>
                </a:lnTo>
                <a:lnTo>
                  <a:pt x="3587038" y="483069"/>
                </a:lnTo>
                <a:lnTo>
                  <a:pt x="3569957" y="450989"/>
                </a:lnTo>
                <a:lnTo>
                  <a:pt x="3545649" y="410692"/>
                </a:lnTo>
                <a:lnTo>
                  <a:pt x="3519030" y="371475"/>
                </a:lnTo>
                <a:lnTo>
                  <a:pt x="3490099" y="333413"/>
                </a:lnTo>
                <a:lnTo>
                  <a:pt x="3458845" y="296633"/>
                </a:lnTo>
                <a:lnTo>
                  <a:pt x="3425279" y="261213"/>
                </a:lnTo>
                <a:lnTo>
                  <a:pt x="3389833" y="227660"/>
                </a:lnTo>
                <a:lnTo>
                  <a:pt x="3353270" y="196596"/>
                </a:lnTo>
                <a:lnTo>
                  <a:pt x="3315335" y="167741"/>
                </a:lnTo>
                <a:lnTo>
                  <a:pt x="3276231" y="141185"/>
                </a:lnTo>
                <a:lnTo>
                  <a:pt x="3236074" y="116928"/>
                </a:lnTo>
                <a:lnTo>
                  <a:pt x="3194939" y="94983"/>
                </a:lnTo>
                <a:lnTo>
                  <a:pt x="3152940" y="75323"/>
                </a:lnTo>
                <a:lnTo>
                  <a:pt x="3110166" y="57962"/>
                </a:lnTo>
                <a:lnTo>
                  <a:pt x="3066719" y="42900"/>
                </a:lnTo>
                <a:lnTo>
                  <a:pt x="3022689" y="30137"/>
                </a:lnTo>
                <a:lnTo>
                  <a:pt x="2978162" y="19672"/>
                </a:lnTo>
                <a:lnTo>
                  <a:pt x="2933255" y="11493"/>
                </a:lnTo>
                <a:lnTo>
                  <a:pt x="2888056" y="5626"/>
                </a:lnTo>
                <a:lnTo>
                  <a:pt x="2842653" y="2057"/>
                </a:lnTo>
                <a:lnTo>
                  <a:pt x="2797162" y="774"/>
                </a:lnTo>
                <a:lnTo>
                  <a:pt x="2751658" y="1803"/>
                </a:lnTo>
                <a:lnTo>
                  <a:pt x="2706255" y="5118"/>
                </a:lnTo>
                <a:lnTo>
                  <a:pt x="2661031" y="10731"/>
                </a:lnTo>
                <a:lnTo>
                  <a:pt x="2616098" y="18630"/>
                </a:lnTo>
                <a:lnTo>
                  <a:pt x="2571546" y="28841"/>
                </a:lnTo>
                <a:lnTo>
                  <a:pt x="2527477" y="41338"/>
                </a:lnTo>
                <a:lnTo>
                  <a:pt x="2483980" y="56134"/>
                </a:lnTo>
                <a:lnTo>
                  <a:pt x="2441156" y="73215"/>
                </a:lnTo>
                <a:lnTo>
                  <a:pt x="2399093" y="92608"/>
                </a:lnTo>
                <a:lnTo>
                  <a:pt x="2357907" y="114287"/>
                </a:lnTo>
                <a:lnTo>
                  <a:pt x="2317673" y="138252"/>
                </a:lnTo>
                <a:lnTo>
                  <a:pt x="2278494" y="164528"/>
                </a:lnTo>
                <a:lnTo>
                  <a:pt x="2240470" y="193090"/>
                </a:lnTo>
                <a:lnTo>
                  <a:pt x="2203818" y="223837"/>
                </a:lnTo>
                <a:lnTo>
                  <a:pt x="2168271" y="257086"/>
                </a:lnTo>
                <a:lnTo>
                  <a:pt x="2132749" y="223837"/>
                </a:lnTo>
                <a:lnTo>
                  <a:pt x="2095881" y="192887"/>
                </a:lnTo>
                <a:lnTo>
                  <a:pt x="2057793" y="164249"/>
                </a:lnTo>
                <a:lnTo>
                  <a:pt x="2018550" y="137896"/>
                </a:lnTo>
                <a:lnTo>
                  <a:pt x="1978279" y="113855"/>
                </a:lnTo>
                <a:lnTo>
                  <a:pt x="1937042" y="92113"/>
                </a:lnTo>
                <a:lnTo>
                  <a:pt x="1894954" y="72669"/>
                </a:lnTo>
                <a:lnTo>
                  <a:pt x="1852117" y="55524"/>
                </a:lnTo>
                <a:lnTo>
                  <a:pt x="1808607" y="40690"/>
                </a:lnTo>
                <a:lnTo>
                  <a:pt x="1764525" y="28155"/>
                </a:lnTo>
                <a:lnTo>
                  <a:pt x="1719973" y="17919"/>
                </a:lnTo>
                <a:lnTo>
                  <a:pt x="1675053" y="9982"/>
                </a:lnTo>
                <a:lnTo>
                  <a:pt x="1629854" y="4356"/>
                </a:lnTo>
                <a:lnTo>
                  <a:pt x="1584464" y="1028"/>
                </a:lnTo>
                <a:lnTo>
                  <a:pt x="1538986" y="0"/>
                </a:lnTo>
                <a:lnTo>
                  <a:pt x="1493520" y="1282"/>
                </a:lnTo>
                <a:lnTo>
                  <a:pt x="1448155" y="4864"/>
                </a:lnTo>
                <a:lnTo>
                  <a:pt x="1403235" y="10731"/>
                </a:lnTo>
                <a:lnTo>
                  <a:pt x="1358099" y="18948"/>
                </a:lnTo>
                <a:lnTo>
                  <a:pt x="1313624" y="29451"/>
                </a:lnTo>
                <a:lnTo>
                  <a:pt x="1269619" y="42252"/>
                </a:lnTo>
                <a:lnTo>
                  <a:pt x="1226197" y="57353"/>
                </a:lnTo>
                <a:lnTo>
                  <a:pt x="1183462" y="74764"/>
                </a:lnTo>
                <a:lnTo>
                  <a:pt x="1141488" y="94488"/>
                </a:lnTo>
                <a:lnTo>
                  <a:pt x="1100391" y="116509"/>
                </a:lnTo>
                <a:lnTo>
                  <a:pt x="1060246" y="140830"/>
                </a:lnTo>
                <a:lnTo>
                  <a:pt x="1021168" y="167462"/>
                </a:lnTo>
                <a:lnTo>
                  <a:pt x="983246" y="196405"/>
                </a:lnTo>
                <a:lnTo>
                  <a:pt x="946581" y="227660"/>
                </a:lnTo>
                <a:lnTo>
                  <a:pt x="911250" y="261213"/>
                </a:lnTo>
                <a:lnTo>
                  <a:pt x="877684" y="296633"/>
                </a:lnTo>
                <a:lnTo>
                  <a:pt x="846442" y="333413"/>
                </a:lnTo>
                <a:lnTo>
                  <a:pt x="817499" y="371475"/>
                </a:lnTo>
                <a:lnTo>
                  <a:pt x="790879" y="410692"/>
                </a:lnTo>
                <a:lnTo>
                  <a:pt x="766572" y="450989"/>
                </a:lnTo>
                <a:lnTo>
                  <a:pt x="744588" y="492264"/>
                </a:lnTo>
                <a:lnTo>
                  <a:pt x="724916" y="534416"/>
                </a:lnTo>
                <a:lnTo>
                  <a:pt x="707555" y="577342"/>
                </a:lnTo>
                <a:lnTo>
                  <a:pt x="692505" y="620953"/>
                </a:lnTo>
                <a:lnTo>
                  <a:pt x="679767" y="665149"/>
                </a:lnTo>
                <a:lnTo>
                  <a:pt x="669353" y="709841"/>
                </a:lnTo>
                <a:lnTo>
                  <a:pt x="661250" y="754913"/>
                </a:lnTo>
                <a:lnTo>
                  <a:pt x="655472" y="800277"/>
                </a:lnTo>
                <a:lnTo>
                  <a:pt x="651992" y="845832"/>
                </a:lnTo>
                <a:lnTo>
                  <a:pt x="650836" y="891501"/>
                </a:lnTo>
                <a:lnTo>
                  <a:pt x="651992" y="937158"/>
                </a:lnTo>
                <a:lnTo>
                  <a:pt x="655472" y="982713"/>
                </a:lnTo>
                <a:lnTo>
                  <a:pt x="661250" y="1028077"/>
                </a:lnTo>
                <a:lnTo>
                  <a:pt x="669353" y="1073162"/>
                </a:lnTo>
                <a:lnTo>
                  <a:pt x="679767" y="1117841"/>
                </a:lnTo>
                <a:lnTo>
                  <a:pt x="692505" y="1162037"/>
                </a:lnTo>
                <a:lnTo>
                  <a:pt x="707555" y="1205649"/>
                </a:lnTo>
                <a:lnTo>
                  <a:pt x="724916" y="1248575"/>
                </a:lnTo>
                <a:lnTo>
                  <a:pt x="744588" y="1290726"/>
                </a:lnTo>
                <a:lnTo>
                  <a:pt x="766572" y="1332001"/>
                </a:lnTo>
                <a:lnTo>
                  <a:pt x="790879" y="1372298"/>
                </a:lnTo>
                <a:lnTo>
                  <a:pt x="817499" y="1411516"/>
                </a:lnTo>
                <a:lnTo>
                  <a:pt x="846442" y="1449578"/>
                </a:lnTo>
                <a:lnTo>
                  <a:pt x="877684" y="1486357"/>
                </a:lnTo>
                <a:lnTo>
                  <a:pt x="911250" y="1521777"/>
                </a:lnTo>
                <a:lnTo>
                  <a:pt x="2007539" y="2618600"/>
                </a:lnTo>
                <a:lnTo>
                  <a:pt x="2043074" y="2647581"/>
                </a:lnTo>
                <a:lnTo>
                  <a:pt x="2082495" y="2668168"/>
                </a:lnTo>
                <a:lnTo>
                  <a:pt x="2124608" y="2680449"/>
                </a:lnTo>
                <a:lnTo>
                  <a:pt x="2168271" y="2684513"/>
                </a:lnTo>
                <a:lnTo>
                  <a:pt x="2211933" y="2680449"/>
                </a:lnTo>
                <a:lnTo>
                  <a:pt x="2254046" y="2668168"/>
                </a:lnTo>
                <a:lnTo>
                  <a:pt x="2293455" y="2647581"/>
                </a:lnTo>
                <a:lnTo>
                  <a:pt x="2329002" y="2618600"/>
                </a:lnTo>
                <a:lnTo>
                  <a:pt x="2363482" y="2584107"/>
                </a:lnTo>
                <a:lnTo>
                  <a:pt x="3425279" y="1521777"/>
                </a:lnTo>
                <a:lnTo>
                  <a:pt x="3458845" y="1486357"/>
                </a:lnTo>
                <a:lnTo>
                  <a:pt x="3490099" y="1449578"/>
                </a:lnTo>
                <a:lnTo>
                  <a:pt x="3519030" y="1411516"/>
                </a:lnTo>
                <a:lnTo>
                  <a:pt x="3545649" y="1372298"/>
                </a:lnTo>
                <a:lnTo>
                  <a:pt x="3569957" y="1332001"/>
                </a:lnTo>
                <a:lnTo>
                  <a:pt x="3591941" y="1290726"/>
                </a:lnTo>
                <a:lnTo>
                  <a:pt x="3611626" y="1248575"/>
                </a:lnTo>
                <a:lnTo>
                  <a:pt x="3628987" y="1205649"/>
                </a:lnTo>
                <a:lnTo>
                  <a:pt x="3644023" y="1162037"/>
                </a:lnTo>
                <a:lnTo>
                  <a:pt x="3656761" y="1117841"/>
                </a:lnTo>
                <a:lnTo>
                  <a:pt x="3667175" y="1073162"/>
                </a:lnTo>
                <a:lnTo>
                  <a:pt x="3675278" y="1028077"/>
                </a:lnTo>
                <a:lnTo>
                  <a:pt x="3681069" y="982713"/>
                </a:lnTo>
                <a:lnTo>
                  <a:pt x="3684536" y="937158"/>
                </a:lnTo>
                <a:lnTo>
                  <a:pt x="3685692" y="89150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5555" rIns="0" bIns="0" rtlCol="0" vert="horz">
            <a:spAutoFit/>
          </a:bodyPr>
          <a:lstStyle/>
          <a:p>
            <a:pPr marL="1690370">
              <a:lnSpc>
                <a:spcPct val="100000"/>
              </a:lnSpc>
              <a:spcBef>
                <a:spcPts val="100"/>
              </a:spcBef>
            </a:pPr>
            <a:r>
              <a:rPr dirty="0" sz="7000" spc="65"/>
              <a:t>I</a:t>
            </a:r>
            <a:r>
              <a:rPr dirty="0" sz="7000" spc="60"/>
              <a:t>M</a:t>
            </a:r>
            <a:r>
              <a:rPr dirty="0" sz="7000" spc="-465"/>
              <a:t>P</a:t>
            </a:r>
            <a:r>
              <a:rPr dirty="0" sz="7000" spc="60"/>
              <a:t>AC</a:t>
            </a:r>
            <a:r>
              <a:rPr dirty="0" sz="7000" spc="65"/>
              <a:t>T</a:t>
            </a:r>
            <a:r>
              <a:rPr dirty="0" sz="7000" spc="-254"/>
              <a:t> </a:t>
            </a:r>
            <a:r>
              <a:rPr dirty="0" sz="7000"/>
              <a:t>ON</a:t>
            </a:r>
            <a:r>
              <a:rPr dirty="0" sz="7000" spc="-265"/>
              <a:t> </a:t>
            </a:r>
            <a:r>
              <a:rPr dirty="0" sz="7000" spc="15"/>
              <a:t>H</a:t>
            </a:r>
            <a:r>
              <a:rPr dirty="0" sz="7000" spc="10"/>
              <a:t>E</a:t>
            </a:r>
            <a:r>
              <a:rPr dirty="0" sz="7000" spc="15"/>
              <a:t>A</a:t>
            </a:r>
            <a:r>
              <a:rPr dirty="0" sz="7000" spc="-500"/>
              <a:t>L</a:t>
            </a:r>
            <a:r>
              <a:rPr dirty="0" sz="7000" spc="15"/>
              <a:t>THCAR</a:t>
            </a:r>
            <a:r>
              <a:rPr dirty="0" sz="7000" spc="20"/>
              <a:t>E</a:t>
            </a:r>
            <a:endParaRPr sz="70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4891" y="3041450"/>
            <a:ext cx="95250" cy="952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853086" y="2813485"/>
            <a:ext cx="5454015" cy="5028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7350">
              <a:lnSpc>
                <a:spcPct val="114599"/>
              </a:lnSpc>
              <a:spcBef>
                <a:spcPts val="100"/>
              </a:spcBef>
            </a:pPr>
            <a:r>
              <a:rPr dirty="0" sz="2400" spc="-155">
                <a:latin typeface="Trebuchet MS"/>
                <a:cs typeface="Trebuchet MS"/>
              </a:rPr>
              <a:t>This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95">
                <a:latin typeface="Trebuchet MS"/>
                <a:cs typeface="Trebuchet MS"/>
              </a:rPr>
              <a:t>system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helps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reduce</a:t>
            </a:r>
            <a:r>
              <a:rPr dirty="0" sz="2400" spc="-10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the </a:t>
            </a:r>
            <a:r>
              <a:rPr dirty="0" sz="2400">
                <a:latin typeface="Trebuchet MS"/>
                <a:cs typeface="Trebuchet MS"/>
              </a:rPr>
              <a:t>spread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of </a:t>
            </a:r>
            <a:r>
              <a:rPr dirty="0" sz="2400" spc="-105">
                <a:latin typeface="Trebuchet MS"/>
                <a:cs typeface="Trebuchet MS"/>
              </a:rPr>
              <a:t>harmful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toxic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content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online </a:t>
            </a:r>
            <a:r>
              <a:rPr dirty="0" sz="2400" spc="-45">
                <a:latin typeface="Trebuchet MS"/>
                <a:cs typeface="Trebuchet MS"/>
              </a:rPr>
              <a:t>healthcare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05">
                <a:latin typeface="Trebuchet MS"/>
                <a:cs typeface="Trebuchet MS"/>
              </a:rPr>
              <a:t>platforms,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improving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the </a:t>
            </a:r>
            <a:r>
              <a:rPr dirty="0" sz="2400" spc="-90">
                <a:latin typeface="Trebuchet MS"/>
                <a:cs typeface="Trebuchet MS"/>
              </a:rPr>
              <a:t>overall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communication</a:t>
            </a:r>
            <a:r>
              <a:rPr dirty="0" sz="2400" spc="-6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environment.</a:t>
            </a:r>
            <a:endParaRPr sz="2400">
              <a:latin typeface="Trebuchet MS"/>
              <a:cs typeface="Trebuchet MS"/>
            </a:endParaRPr>
          </a:p>
          <a:p>
            <a:pPr marL="12700" marR="252095">
              <a:lnSpc>
                <a:spcPct val="114599"/>
              </a:lnSpc>
              <a:spcBef>
                <a:spcPts val="2375"/>
              </a:spcBef>
            </a:pPr>
            <a:r>
              <a:rPr dirty="0" sz="2400" spc="-160">
                <a:latin typeface="Trebuchet MS"/>
                <a:cs typeface="Trebuchet MS"/>
              </a:rPr>
              <a:t>It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supports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patients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by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providing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100">
                <a:latin typeface="Trebuchet MS"/>
                <a:cs typeface="Trebuchet MS"/>
              </a:rPr>
              <a:t>a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safer </a:t>
            </a:r>
            <a:r>
              <a:rPr dirty="0" sz="2400">
                <a:latin typeface="Trebuchet MS"/>
                <a:cs typeface="Trebuchet MS"/>
              </a:rPr>
              <a:t>space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to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share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30">
                <a:latin typeface="Trebuchet MS"/>
                <a:cs typeface="Trebuchet MS"/>
              </a:rPr>
              <a:t>their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concerns</a:t>
            </a:r>
            <a:r>
              <a:rPr dirty="0" sz="2400" spc="-7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without </a:t>
            </a:r>
            <a:r>
              <a:rPr dirty="0" sz="2400" spc="-25">
                <a:latin typeface="Trebuchet MS"/>
                <a:cs typeface="Trebuchet MS"/>
              </a:rPr>
              <a:t>fear</a:t>
            </a:r>
            <a:r>
              <a:rPr dirty="0" sz="2400" spc="-1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harassment</a:t>
            </a:r>
            <a:r>
              <a:rPr dirty="0" sz="2400" spc="-130">
                <a:latin typeface="Trebuchet MS"/>
                <a:cs typeface="Trebuchet MS"/>
              </a:rPr>
              <a:t> </a:t>
            </a:r>
            <a:r>
              <a:rPr dirty="0" sz="2400" spc="-65">
                <a:latin typeface="Trebuchet MS"/>
                <a:cs typeface="Trebuchet MS"/>
              </a:rPr>
              <a:t>or</a:t>
            </a:r>
            <a:r>
              <a:rPr dirty="0" sz="2400" spc="-114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negativity.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599"/>
              </a:lnSpc>
            </a:pPr>
            <a:r>
              <a:rPr dirty="0" sz="2400" spc="-50">
                <a:latin typeface="Trebuchet MS"/>
                <a:cs typeface="Trebuchet MS"/>
              </a:rPr>
              <a:t>Healthcare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professionals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can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also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55">
                <a:latin typeface="Trebuchet MS"/>
                <a:cs typeface="Trebuchet MS"/>
              </a:rPr>
              <a:t>benefit </a:t>
            </a:r>
            <a:r>
              <a:rPr dirty="0" sz="2400" spc="-100">
                <a:latin typeface="Trebuchet MS"/>
                <a:cs typeface="Trebuchet MS"/>
              </a:rPr>
              <a:t>from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cleaner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more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meaningful discussions.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4891" y="6787093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4891" y="5019667"/>
            <a:ext cx="95250" cy="952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414384"/>
            <a:ext cx="2899009" cy="18668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86684" y="8414384"/>
            <a:ext cx="2901316" cy="1866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65870" y="726640"/>
            <a:ext cx="8597900" cy="2006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dirty="0"/>
              <a:t>CONCLUSION</a:t>
            </a:r>
            <a:r>
              <a:rPr dirty="0" spc="-185"/>
              <a:t> </a:t>
            </a:r>
            <a:r>
              <a:rPr dirty="0"/>
              <a:t>&amp;</a:t>
            </a:r>
            <a:r>
              <a:rPr dirty="0" spc="-185"/>
              <a:t> </a:t>
            </a:r>
            <a:r>
              <a:rPr dirty="0" spc="-10"/>
              <a:t>FUTURE </a:t>
            </a:r>
            <a:r>
              <a:rPr dirty="0" spc="-20"/>
              <a:t>WORK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711673" y="3463925"/>
            <a:ext cx="16751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8980" algn="l"/>
              </a:tabLst>
            </a:pPr>
            <a:r>
              <a:rPr dirty="0" sz="2400" spc="-20">
                <a:latin typeface="Trebuchet MS"/>
                <a:cs typeface="Trebuchet MS"/>
              </a:rPr>
              <a:t>This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75">
                <a:latin typeface="Trebuchet MS"/>
                <a:cs typeface="Trebuchet MS"/>
              </a:rPr>
              <a:t>project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96181" y="3463925"/>
            <a:ext cx="4573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2475" algn="l"/>
                <a:tab pos="2787015" algn="l"/>
                <a:tab pos="3617595" algn="l"/>
              </a:tabLst>
            </a:pPr>
            <a:r>
              <a:rPr dirty="0" sz="2400" spc="-10">
                <a:latin typeface="Trebuchet MS"/>
                <a:cs typeface="Trebuchet MS"/>
              </a:rPr>
              <a:t>demonstrates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20">
                <a:latin typeface="Trebuchet MS"/>
                <a:cs typeface="Trebuchet MS"/>
              </a:rPr>
              <a:t>that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20">
                <a:latin typeface="Trebuchet MS"/>
                <a:cs typeface="Trebuchet MS"/>
              </a:rPr>
              <a:t>hate</a:t>
            </a:r>
            <a:r>
              <a:rPr dirty="0" sz="2400">
                <a:latin typeface="Trebuchet MS"/>
                <a:cs typeface="Trebuchet MS"/>
              </a:rPr>
              <a:t>	</a:t>
            </a:r>
            <a:r>
              <a:rPr dirty="0" sz="2400" spc="-10">
                <a:latin typeface="Trebuchet MS"/>
                <a:cs typeface="Trebuchet MS"/>
              </a:rPr>
              <a:t>speech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11673" y="3829684"/>
            <a:ext cx="645795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rebuchet MS"/>
                <a:cs typeface="Trebuchet MS"/>
              </a:rPr>
              <a:t>detection</a:t>
            </a:r>
            <a:r>
              <a:rPr dirty="0" sz="2400" spc="204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using</a:t>
            </a:r>
            <a:r>
              <a:rPr dirty="0" sz="2400" spc="204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NLP</a:t>
            </a:r>
            <a:r>
              <a:rPr dirty="0" sz="2400" spc="210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204">
                <a:latin typeface="Trebuchet MS"/>
                <a:cs typeface="Trebuchet MS"/>
              </a:rPr>
              <a:t>  </a:t>
            </a:r>
            <a:r>
              <a:rPr dirty="0" sz="2400">
                <a:latin typeface="Trebuchet MS"/>
                <a:cs typeface="Trebuchet MS"/>
              </a:rPr>
              <a:t>machine</a:t>
            </a:r>
            <a:r>
              <a:rPr dirty="0" sz="2400" spc="210">
                <a:latin typeface="Trebuchet MS"/>
                <a:cs typeface="Trebuchet MS"/>
              </a:rPr>
              <a:t>  </a:t>
            </a:r>
            <a:r>
              <a:rPr dirty="0" sz="2400" spc="-50">
                <a:latin typeface="Trebuchet MS"/>
                <a:cs typeface="Trebuchet MS"/>
              </a:rPr>
              <a:t>learning </a:t>
            </a:r>
            <a:r>
              <a:rPr dirty="0" sz="2400">
                <a:latin typeface="Trebuchet MS"/>
                <a:cs typeface="Trebuchet MS"/>
              </a:rPr>
              <a:t>techniques</a:t>
            </a:r>
            <a:r>
              <a:rPr dirty="0" sz="2400" spc="4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is</a:t>
            </a:r>
            <a:r>
              <a:rPr dirty="0" sz="2400" spc="4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both</a:t>
            </a:r>
            <a:r>
              <a:rPr dirty="0" sz="2400" spc="4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effective</a:t>
            </a:r>
            <a:r>
              <a:rPr dirty="0" sz="2400" spc="4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49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practical</a:t>
            </a:r>
            <a:r>
              <a:rPr dirty="0" sz="2400" spc="495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in </a:t>
            </a:r>
            <a:r>
              <a:rPr dirty="0" sz="2400" spc="-45">
                <a:latin typeface="Trebuchet MS"/>
                <a:cs typeface="Trebuchet MS"/>
              </a:rPr>
              <a:t>healthcare</a:t>
            </a:r>
            <a:r>
              <a:rPr dirty="0" sz="2400" spc="-12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environments.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-19050" y="615393"/>
            <a:ext cx="18326100" cy="2159000"/>
            <a:chOff x="-19050" y="615393"/>
            <a:chExt cx="18326100" cy="2159000"/>
          </a:xfrm>
        </p:grpSpPr>
        <p:sp>
          <p:nvSpPr>
            <p:cNvPr id="9" name="object 9" descr=""/>
            <p:cNvSpPr/>
            <p:nvPr/>
          </p:nvSpPr>
          <p:spPr>
            <a:xfrm>
              <a:off x="1268019" y="1480839"/>
              <a:ext cx="17020540" cy="1274445"/>
            </a:xfrm>
            <a:custGeom>
              <a:avLst/>
              <a:gdLst/>
              <a:ahLst/>
              <a:cxnLst/>
              <a:rect l="l" t="t" r="r" b="b"/>
              <a:pathLst>
                <a:path w="17020540" h="1274445">
                  <a:moveTo>
                    <a:pt x="0" y="0"/>
                  </a:moveTo>
                  <a:lnTo>
                    <a:pt x="0" y="1045402"/>
                  </a:lnTo>
                  <a:lnTo>
                    <a:pt x="4644" y="1091473"/>
                  </a:lnTo>
                  <a:lnTo>
                    <a:pt x="17964" y="1134384"/>
                  </a:lnTo>
                  <a:lnTo>
                    <a:pt x="39041" y="1173215"/>
                  </a:lnTo>
                  <a:lnTo>
                    <a:pt x="66955" y="1207047"/>
                  </a:lnTo>
                  <a:lnTo>
                    <a:pt x="100787" y="1234961"/>
                  </a:lnTo>
                  <a:lnTo>
                    <a:pt x="139618" y="1256038"/>
                  </a:lnTo>
                  <a:lnTo>
                    <a:pt x="182529" y="1269358"/>
                  </a:lnTo>
                  <a:lnTo>
                    <a:pt x="228599" y="1274003"/>
                  </a:lnTo>
                  <a:lnTo>
                    <a:pt x="17019979" y="127400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634443"/>
              <a:ext cx="13127355" cy="846455"/>
            </a:xfrm>
            <a:custGeom>
              <a:avLst/>
              <a:gdLst/>
              <a:ahLst/>
              <a:cxnLst/>
              <a:rect l="l" t="t" r="r" b="b"/>
              <a:pathLst>
                <a:path w="13127355" h="846455">
                  <a:moveTo>
                    <a:pt x="0" y="0"/>
                  </a:moveTo>
                  <a:lnTo>
                    <a:pt x="7230" y="728"/>
                  </a:lnTo>
                  <a:lnTo>
                    <a:pt x="12898469" y="728"/>
                  </a:lnTo>
                  <a:lnTo>
                    <a:pt x="12944540" y="5373"/>
                  </a:lnTo>
                  <a:lnTo>
                    <a:pt x="12987451" y="18693"/>
                  </a:lnTo>
                  <a:lnTo>
                    <a:pt x="13026282" y="39770"/>
                  </a:lnTo>
                  <a:lnTo>
                    <a:pt x="13060114" y="67684"/>
                  </a:lnTo>
                  <a:lnTo>
                    <a:pt x="13088028" y="101516"/>
                  </a:lnTo>
                  <a:lnTo>
                    <a:pt x="13109104" y="140347"/>
                  </a:lnTo>
                  <a:lnTo>
                    <a:pt x="13122425" y="183257"/>
                  </a:lnTo>
                  <a:lnTo>
                    <a:pt x="13127069" y="229328"/>
                  </a:lnTo>
                  <a:lnTo>
                    <a:pt x="13127069" y="829305"/>
                  </a:lnTo>
                  <a:lnTo>
                    <a:pt x="13127069" y="833837"/>
                  </a:lnTo>
                  <a:lnTo>
                    <a:pt x="13125268" y="838184"/>
                  </a:lnTo>
                  <a:lnTo>
                    <a:pt x="13122063" y="841389"/>
                  </a:lnTo>
                  <a:lnTo>
                    <a:pt x="13118858" y="844594"/>
                  </a:lnTo>
                  <a:lnTo>
                    <a:pt x="13114511" y="846395"/>
                  </a:lnTo>
                  <a:lnTo>
                    <a:pt x="13109978" y="846395"/>
                  </a:lnTo>
                  <a:lnTo>
                    <a:pt x="13092888" y="84639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864153" y="3410584"/>
            <a:ext cx="6457950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latin typeface="Trebuchet MS"/>
                <a:cs typeface="Trebuchet MS"/>
              </a:rPr>
              <a:t>The</a:t>
            </a:r>
            <a:r>
              <a:rPr dirty="0" sz="2400" spc="5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combination</a:t>
            </a:r>
            <a:r>
              <a:rPr dirty="0" sz="2400" spc="5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of</a:t>
            </a:r>
            <a:r>
              <a:rPr dirty="0" sz="2400" spc="53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feature</a:t>
            </a:r>
            <a:r>
              <a:rPr dirty="0" sz="2400" spc="5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engineering,</a:t>
            </a:r>
            <a:r>
              <a:rPr dirty="0" sz="2400" spc="530">
                <a:latin typeface="Trebuchet MS"/>
                <a:cs typeface="Trebuchet MS"/>
              </a:rPr>
              <a:t> </a:t>
            </a:r>
            <a:r>
              <a:rPr dirty="0" sz="2400" spc="-114">
                <a:latin typeface="Trebuchet MS"/>
                <a:cs typeface="Trebuchet MS"/>
              </a:rPr>
              <a:t>risk </a:t>
            </a:r>
            <a:r>
              <a:rPr dirty="0" sz="2400">
                <a:latin typeface="Trebuchet MS"/>
                <a:cs typeface="Trebuchet MS"/>
              </a:rPr>
              <a:t>scoring,</a:t>
            </a:r>
            <a:r>
              <a:rPr dirty="0" sz="2400" spc="2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and</a:t>
            </a:r>
            <a:r>
              <a:rPr dirty="0" sz="2400" spc="2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advanced</a:t>
            </a:r>
            <a:r>
              <a:rPr dirty="0" sz="2400" spc="2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models</a:t>
            </a:r>
            <a:r>
              <a:rPr dirty="0" sz="2400" spc="24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provides</a:t>
            </a:r>
            <a:r>
              <a:rPr dirty="0" sz="2400" spc="240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strong </a:t>
            </a:r>
            <a:r>
              <a:rPr dirty="0" sz="2400" spc="-45">
                <a:latin typeface="Trebuchet MS"/>
                <a:cs typeface="Trebuchet MS"/>
              </a:rPr>
              <a:t>performance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in</a:t>
            </a:r>
            <a:r>
              <a:rPr dirty="0" sz="2400" spc="-75">
                <a:latin typeface="Trebuchet MS"/>
                <a:cs typeface="Trebuchet MS"/>
              </a:rPr>
              <a:t> identifying </a:t>
            </a:r>
            <a:r>
              <a:rPr dirty="0" sz="2400" spc="-105">
                <a:latin typeface="Trebuchet MS"/>
                <a:cs typeface="Trebuchet MS"/>
              </a:rPr>
              <a:t>harmful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content.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7109" y="6778118"/>
            <a:ext cx="104775" cy="1047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7109" y="7254368"/>
            <a:ext cx="104775" cy="1047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7109" y="7730618"/>
            <a:ext cx="104775" cy="10477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7109" y="8206868"/>
            <a:ext cx="104775" cy="10477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711673" y="5486844"/>
            <a:ext cx="12221210" cy="2963545"/>
          </a:xfrm>
          <a:prstGeom prst="rect">
            <a:avLst/>
          </a:prstGeom>
        </p:spPr>
        <p:txBody>
          <a:bodyPr wrap="square" lIns="0" tIns="309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0"/>
              </a:spcBef>
              <a:tabLst>
                <a:tab pos="2158365" algn="l"/>
              </a:tabLst>
            </a:pPr>
            <a:r>
              <a:rPr dirty="0" sz="3900" spc="-10" b="1">
                <a:latin typeface="Arial"/>
                <a:cs typeface="Arial"/>
              </a:rPr>
              <a:t>FUTURE</a:t>
            </a:r>
            <a:r>
              <a:rPr dirty="0" sz="3900" b="1">
                <a:latin typeface="Arial"/>
                <a:cs typeface="Arial"/>
              </a:rPr>
              <a:t>	</a:t>
            </a:r>
            <a:r>
              <a:rPr dirty="0" sz="3900" spc="-10" b="1">
                <a:latin typeface="Arial"/>
                <a:cs typeface="Arial"/>
              </a:rPr>
              <a:t>WORK:</a:t>
            </a:r>
            <a:endParaRPr sz="3900">
              <a:latin typeface="Arial"/>
              <a:cs typeface="Arial"/>
            </a:endParaRPr>
          </a:p>
          <a:p>
            <a:pPr marL="1423035" marR="202565">
              <a:lnSpc>
                <a:spcPct val="115700"/>
              </a:lnSpc>
              <a:spcBef>
                <a:spcPts val="1110"/>
              </a:spcBef>
            </a:pPr>
            <a:r>
              <a:rPr dirty="0" sz="2700">
                <a:latin typeface="Arial MT"/>
                <a:cs typeface="Arial MT"/>
              </a:rPr>
              <a:t>USE</a:t>
            </a:r>
            <a:r>
              <a:rPr dirty="0" sz="2700" spc="-4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REAL-WORLD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114">
                <a:latin typeface="Arial MT"/>
                <a:cs typeface="Arial MT"/>
              </a:rPr>
              <a:t>DATA</a:t>
            </a:r>
            <a:r>
              <a:rPr dirty="0" sz="2700" spc="-15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FROM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PLATFORMS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LIKE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REDDIT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OHCS </a:t>
            </a:r>
            <a:r>
              <a:rPr dirty="0" sz="2700">
                <a:latin typeface="Arial MT"/>
                <a:cs typeface="Arial MT"/>
              </a:rPr>
              <a:t>IMPROVE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MODEL</a:t>
            </a:r>
            <a:r>
              <a:rPr dirty="0" sz="2700" spc="-25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ACCURACY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WITH</a:t>
            </a:r>
            <a:r>
              <a:rPr dirty="0" sz="2700" spc="-1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LARGER</a:t>
            </a:r>
            <a:r>
              <a:rPr dirty="0" sz="2700" spc="-1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DATASETS</a:t>
            </a:r>
            <a:endParaRPr sz="2700">
              <a:latin typeface="Arial MT"/>
              <a:cs typeface="Arial MT"/>
            </a:endParaRPr>
          </a:p>
          <a:p>
            <a:pPr marL="1423035">
              <a:lnSpc>
                <a:spcPct val="100000"/>
              </a:lnSpc>
              <a:spcBef>
                <a:spcPts val="509"/>
              </a:spcBef>
            </a:pPr>
            <a:r>
              <a:rPr dirty="0" sz="2700">
                <a:latin typeface="Arial MT"/>
                <a:cs typeface="Arial MT"/>
              </a:rPr>
              <a:t>DEPLOY</a:t>
            </a:r>
            <a:r>
              <a:rPr dirty="0" sz="2700" spc="-12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SYSTEM</a:t>
            </a:r>
            <a:r>
              <a:rPr dirty="0" sz="2700" spc="-16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AS</a:t>
            </a:r>
            <a:r>
              <a:rPr dirty="0" sz="2700" spc="-17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</a:t>
            </a:r>
            <a:r>
              <a:rPr dirty="0" sz="2700" spc="-16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REAL-TIME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MONITORING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TOOL</a:t>
            </a:r>
            <a:endParaRPr sz="2700">
              <a:latin typeface="Arial MT"/>
              <a:cs typeface="Arial MT"/>
            </a:endParaRPr>
          </a:p>
          <a:p>
            <a:pPr marL="1423035">
              <a:lnSpc>
                <a:spcPct val="100000"/>
              </a:lnSpc>
              <a:spcBef>
                <a:spcPts val="509"/>
              </a:spcBef>
            </a:pPr>
            <a:r>
              <a:rPr dirty="0" sz="2700" spc="-10">
                <a:latin typeface="Arial MT"/>
                <a:cs typeface="Arial MT"/>
              </a:rPr>
              <a:t>INTEGRATE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EXPLAINABLE</a:t>
            </a:r>
            <a:r>
              <a:rPr dirty="0" sz="2700" spc="-17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AI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(XAI)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FOR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BETTER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TRANSPARENCY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414384"/>
            <a:ext cx="2899009" cy="18668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86684" y="8414384"/>
            <a:ext cx="2901316" cy="18668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-19050" y="615393"/>
            <a:ext cx="18326100" cy="2159000"/>
            <a:chOff x="-19050" y="615393"/>
            <a:chExt cx="18326100" cy="2159000"/>
          </a:xfrm>
        </p:grpSpPr>
        <p:sp>
          <p:nvSpPr>
            <p:cNvPr id="6" name="object 6" descr=""/>
            <p:cNvSpPr/>
            <p:nvPr/>
          </p:nvSpPr>
          <p:spPr>
            <a:xfrm>
              <a:off x="1268019" y="1480839"/>
              <a:ext cx="17020540" cy="1274445"/>
            </a:xfrm>
            <a:custGeom>
              <a:avLst/>
              <a:gdLst/>
              <a:ahLst/>
              <a:cxnLst/>
              <a:rect l="l" t="t" r="r" b="b"/>
              <a:pathLst>
                <a:path w="17020540" h="1274445">
                  <a:moveTo>
                    <a:pt x="0" y="0"/>
                  </a:moveTo>
                  <a:lnTo>
                    <a:pt x="0" y="1045402"/>
                  </a:lnTo>
                  <a:lnTo>
                    <a:pt x="4644" y="1091473"/>
                  </a:lnTo>
                  <a:lnTo>
                    <a:pt x="17964" y="1134384"/>
                  </a:lnTo>
                  <a:lnTo>
                    <a:pt x="39041" y="1173215"/>
                  </a:lnTo>
                  <a:lnTo>
                    <a:pt x="66955" y="1207047"/>
                  </a:lnTo>
                  <a:lnTo>
                    <a:pt x="100787" y="1234961"/>
                  </a:lnTo>
                  <a:lnTo>
                    <a:pt x="139618" y="1256038"/>
                  </a:lnTo>
                  <a:lnTo>
                    <a:pt x="182529" y="1269358"/>
                  </a:lnTo>
                  <a:lnTo>
                    <a:pt x="228599" y="1274003"/>
                  </a:lnTo>
                  <a:lnTo>
                    <a:pt x="17019979" y="127400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634443"/>
              <a:ext cx="13127355" cy="846455"/>
            </a:xfrm>
            <a:custGeom>
              <a:avLst/>
              <a:gdLst/>
              <a:ahLst/>
              <a:cxnLst/>
              <a:rect l="l" t="t" r="r" b="b"/>
              <a:pathLst>
                <a:path w="13127355" h="846455">
                  <a:moveTo>
                    <a:pt x="0" y="0"/>
                  </a:moveTo>
                  <a:lnTo>
                    <a:pt x="7230" y="728"/>
                  </a:lnTo>
                  <a:lnTo>
                    <a:pt x="12898469" y="728"/>
                  </a:lnTo>
                  <a:lnTo>
                    <a:pt x="12944540" y="5373"/>
                  </a:lnTo>
                  <a:lnTo>
                    <a:pt x="12987451" y="18693"/>
                  </a:lnTo>
                  <a:lnTo>
                    <a:pt x="13026282" y="39770"/>
                  </a:lnTo>
                  <a:lnTo>
                    <a:pt x="13060114" y="67684"/>
                  </a:lnTo>
                  <a:lnTo>
                    <a:pt x="13088028" y="101516"/>
                  </a:lnTo>
                  <a:lnTo>
                    <a:pt x="13109104" y="140347"/>
                  </a:lnTo>
                  <a:lnTo>
                    <a:pt x="13122425" y="183257"/>
                  </a:lnTo>
                  <a:lnTo>
                    <a:pt x="13127069" y="229328"/>
                  </a:lnTo>
                  <a:lnTo>
                    <a:pt x="13127069" y="829305"/>
                  </a:lnTo>
                  <a:lnTo>
                    <a:pt x="13127069" y="833837"/>
                  </a:lnTo>
                  <a:lnTo>
                    <a:pt x="13125268" y="838184"/>
                  </a:lnTo>
                  <a:lnTo>
                    <a:pt x="13122063" y="841389"/>
                  </a:lnTo>
                  <a:lnTo>
                    <a:pt x="13118858" y="844594"/>
                  </a:lnTo>
                  <a:lnTo>
                    <a:pt x="13114511" y="846395"/>
                  </a:lnTo>
                  <a:lnTo>
                    <a:pt x="13109978" y="846395"/>
                  </a:lnTo>
                  <a:lnTo>
                    <a:pt x="13092888" y="84639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141759" y="3051597"/>
            <a:ext cx="15565119" cy="150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6385">
              <a:lnSpc>
                <a:spcPct val="115399"/>
              </a:lnSpc>
              <a:spcBef>
                <a:spcPts val="100"/>
              </a:spcBef>
              <a:buAutoNum type="arabicParenR"/>
              <a:tabLst>
                <a:tab pos="6682105" algn="l"/>
              </a:tabLst>
            </a:pPr>
            <a:r>
              <a:rPr dirty="0" sz="1950">
                <a:latin typeface="Arial MT"/>
                <a:cs typeface="Arial MT"/>
              </a:rPr>
              <a:t>C.</a:t>
            </a:r>
            <a:r>
              <a:rPr dirty="0" sz="1950" spc="-9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Hutto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and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E.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Gilbert,</a:t>
            </a:r>
            <a:r>
              <a:rPr dirty="0" sz="1950" spc="-40">
                <a:latin typeface="Arial MT"/>
                <a:cs typeface="Arial MT"/>
              </a:rPr>
              <a:t> “VADER:</a:t>
            </a:r>
            <a:r>
              <a:rPr dirty="0" sz="1950" spc="-11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</a:t>
            </a:r>
            <a:r>
              <a:rPr dirty="0" sz="1950" spc="-13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Parsimonious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Rule-</a:t>
            </a:r>
            <a:r>
              <a:rPr dirty="0" sz="1950">
                <a:latin typeface="Arial MT"/>
                <a:cs typeface="Arial MT"/>
              </a:rPr>
              <a:t>Based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Model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for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 spc="-20">
                <a:latin typeface="Arial MT"/>
                <a:cs typeface="Arial MT"/>
              </a:rPr>
              <a:t>Sentiment</a:t>
            </a:r>
            <a:r>
              <a:rPr dirty="0" sz="1950" spc="-114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Analysis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of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Social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Media</a:t>
            </a:r>
            <a:r>
              <a:rPr dirty="0" sz="1950" spc="-7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Text”,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ICWSM,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vol.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8,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no.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1,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 spc="-25">
                <a:latin typeface="Arial MT"/>
                <a:cs typeface="Arial MT"/>
              </a:rPr>
              <a:t>pp. </a:t>
            </a:r>
            <a:r>
              <a:rPr dirty="0" sz="1950" spc="-25">
                <a:latin typeface="Arial MT"/>
                <a:cs typeface="Arial MT"/>
              </a:rPr>
              <a:t>	</a:t>
            </a:r>
            <a:r>
              <a:rPr dirty="0" sz="1950" spc="-20">
                <a:latin typeface="Arial MT"/>
                <a:cs typeface="Arial MT"/>
              </a:rPr>
              <a:t>216-</a:t>
            </a:r>
            <a:r>
              <a:rPr dirty="0" sz="1950">
                <a:latin typeface="Arial MT"/>
                <a:cs typeface="Arial MT"/>
              </a:rPr>
              <a:t>225,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May</a:t>
            </a:r>
            <a:r>
              <a:rPr dirty="0" sz="1950" spc="-4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2014.</a:t>
            </a:r>
            <a:endParaRPr sz="1950">
              <a:latin typeface="Arial MT"/>
              <a:cs typeface="Arial MT"/>
            </a:endParaRPr>
          </a:p>
          <a:p>
            <a:pPr marL="376555" marR="8890" indent="-293370">
              <a:lnSpc>
                <a:spcPct val="115599"/>
              </a:lnSpc>
              <a:spcBef>
                <a:spcPts val="730"/>
              </a:spcBef>
              <a:buAutoNum type="arabicParenR"/>
              <a:tabLst>
                <a:tab pos="3509010" algn="l"/>
              </a:tabLst>
            </a:pPr>
            <a:r>
              <a:rPr dirty="0" sz="2000">
                <a:latin typeface="Arial MT"/>
                <a:cs typeface="Arial MT"/>
              </a:rPr>
              <a:t>Ramos,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G.,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Batista,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60">
                <a:latin typeface="Arial MT"/>
                <a:cs typeface="Arial MT"/>
              </a:rPr>
              <a:t>F.,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Ribeiro,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R.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al.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comprehensive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review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automatic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hate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speech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detection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transformer.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Soc. </a:t>
            </a:r>
            <a:r>
              <a:rPr dirty="0" sz="2000" spc="-20">
                <a:latin typeface="Arial MT"/>
                <a:cs typeface="Arial MT"/>
              </a:rPr>
              <a:t>	</a:t>
            </a:r>
            <a:r>
              <a:rPr dirty="0" sz="2000" spc="-35">
                <a:latin typeface="Arial MT"/>
                <a:cs typeface="Arial MT"/>
              </a:rPr>
              <a:t>Netw.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Anal.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Min.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14,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204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(2024).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https://doi.org/10.1007/s13278-024-01361-</a:t>
            </a:r>
            <a:r>
              <a:rPr dirty="0" sz="2000" spc="-50"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" y="8981554"/>
            <a:ext cx="2806699" cy="130544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71771" y="0"/>
            <a:ext cx="2806699" cy="13038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92044" y="3881122"/>
            <a:ext cx="8303895" cy="1701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0"/>
              <a:t>THANK</a:t>
            </a:r>
            <a:r>
              <a:rPr dirty="0" sz="11000" spc="-610"/>
              <a:t> </a:t>
            </a:r>
            <a:r>
              <a:rPr dirty="0" sz="11000" spc="-25"/>
              <a:t>YOU</a:t>
            </a:r>
            <a:endParaRPr sz="11000"/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75935" y="9531890"/>
            <a:ext cx="1514448" cy="7543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01910" y="0"/>
            <a:ext cx="1514474" cy="75819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5191376" y="9213896"/>
            <a:ext cx="3096895" cy="1071880"/>
          </a:xfrm>
          <a:custGeom>
            <a:avLst/>
            <a:gdLst/>
            <a:ahLst/>
            <a:cxnLst/>
            <a:rect l="l" t="t" r="r" b="b"/>
            <a:pathLst>
              <a:path w="3096894" h="1071879">
                <a:moveTo>
                  <a:pt x="40711" y="1071879"/>
                </a:moveTo>
                <a:lnTo>
                  <a:pt x="0" y="1071879"/>
                </a:lnTo>
                <a:lnTo>
                  <a:pt x="5621" y="1060449"/>
                </a:lnTo>
                <a:lnTo>
                  <a:pt x="25841" y="1019809"/>
                </a:lnTo>
                <a:lnTo>
                  <a:pt x="47010" y="979169"/>
                </a:lnTo>
                <a:lnTo>
                  <a:pt x="69112" y="939799"/>
                </a:lnTo>
                <a:lnTo>
                  <a:pt x="92133" y="901699"/>
                </a:lnTo>
                <a:lnTo>
                  <a:pt x="116058" y="863599"/>
                </a:lnTo>
                <a:lnTo>
                  <a:pt x="140872" y="825499"/>
                </a:lnTo>
                <a:lnTo>
                  <a:pt x="166561" y="788669"/>
                </a:lnTo>
                <a:lnTo>
                  <a:pt x="193110" y="751839"/>
                </a:lnTo>
                <a:lnTo>
                  <a:pt x="220503" y="716279"/>
                </a:lnTo>
                <a:lnTo>
                  <a:pt x="248727" y="680719"/>
                </a:lnTo>
                <a:lnTo>
                  <a:pt x="277765" y="646429"/>
                </a:lnTo>
                <a:lnTo>
                  <a:pt x="307604" y="613409"/>
                </a:lnTo>
                <a:lnTo>
                  <a:pt x="338229" y="580389"/>
                </a:lnTo>
                <a:lnTo>
                  <a:pt x="369624" y="548639"/>
                </a:lnTo>
                <a:lnTo>
                  <a:pt x="401776" y="516889"/>
                </a:lnTo>
                <a:lnTo>
                  <a:pt x="434669" y="486409"/>
                </a:lnTo>
                <a:lnTo>
                  <a:pt x="468287" y="455929"/>
                </a:lnTo>
                <a:lnTo>
                  <a:pt x="502618" y="427989"/>
                </a:lnTo>
                <a:lnTo>
                  <a:pt x="537645" y="398779"/>
                </a:lnTo>
                <a:lnTo>
                  <a:pt x="573354" y="372109"/>
                </a:lnTo>
                <a:lnTo>
                  <a:pt x="609730" y="345439"/>
                </a:lnTo>
                <a:lnTo>
                  <a:pt x="646759" y="320039"/>
                </a:lnTo>
                <a:lnTo>
                  <a:pt x="684424" y="294639"/>
                </a:lnTo>
                <a:lnTo>
                  <a:pt x="722713" y="270509"/>
                </a:lnTo>
                <a:lnTo>
                  <a:pt x="761609" y="247649"/>
                </a:lnTo>
                <a:lnTo>
                  <a:pt x="841166" y="204469"/>
                </a:lnTo>
                <a:lnTo>
                  <a:pt x="881797" y="184149"/>
                </a:lnTo>
                <a:lnTo>
                  <a:pt x="922977" y="165099"/>
                </a:lnTo>
                <a:lnTo>
                  <a:pt x="1006922" y="129539"/>
                </a:lnTo>
                <a:lnTo>
                  <a:pt x="1049658" y="113029"/>
                </a:lnTo>
                <a:lnTo>
                  <a:pt x="1092884" y="97789"/>
                </a:lnTo>
                <a:lnTo>
                  <a:pt x="1136584" y="83819"/>
                </a:lnTo>
                <a:lnTo>
                  <a:pt x="1225348" y="58419"/>
                </a:lnTo>
                <a:lnTo>
                  <a:pt x="1270383" y="46989"/>
                </a:lnTo>
                <a:lnTo>
                  <a:pt x="1361683" y="29209"/>
                </a:lnTo>
                <a:lnTo>
                  <a:pt x="1454526" y="13969"/>
                </a:lnTo>
                <a:lnTo>
                  <a:pt x="1501488" y="8889"/>
                </a:lnTo>
                <a:lnTo>
                  <a:pt x="1596423" y="1269"/>
                </a:lnTo>
                <a:lnTo>
                  <a:pt x="1644364" y="0"/>
                </a:lnTo>
                <a:lnTo>
                  <a:pt x="1740841" y="0"/>
                </a:lnTo>
                <a:lnTo>
                  <a:pt x="1788783" y="1269"/>
                </a:lnTo>
                <a:lnTo>
                  <a:pt x="1883716" y="8889"/>
                </a:lnTo>
                <a:lnTo>
                  <a:pt x="1930678" y="13969"/>
                </a:lnTo>
                <a:lnTo>
                  <a:pt x="2061727" y="35559"/>
                </a:lnTo>
                <a:lnTo>
                  <a:pt x="1692603" y="35559"/>
                </a:lnTo>
                <a:lnTo>
                  <a:pt x="1596827" y="38099"/>
                </a:lnTo>
                <a:lnTo>
                  <a:pt x="1502313" y="45719"/>
                </a:lnTo>
                <a:lnTo>
                  <a:pt x="1455568" y="50799"/>
                </a:lnTo>
                <a:lnTo>
                  <a:pt x="1363176" y="66039"/>
                </a:lnTo>
                <a:lnTo>
                  <a:pt x="1317560" y="74929"/>
                </a:lnTo>
                <a:lnTo>
                  <a:pt x="1227564" y="95249"/>
                </a:lnTo>
                <a:lnTo>
                  <a:pt x="1183215" y="107949"/>
                </a:lnTo>
                <a:lnTo>
                  <a:pt x="1095889" y="135889"/>
                </a:lnTo>
                <a:lnTo>
                  <a:pt x="1052943" y="151129"/>
                </a:lnTo>
                <a:lnTo>
                  <a:pt x="1010495" y="167639"/>
                </a:lnTo>
                <a:lnTo>
                  <a:pt x="927156" y="203199"/>
                </a:lnTo>
                <a:lnTo>
                  <a:pt x="845992" y="243839"/>
                </a:lnTo>
                <a:lnTo>
                  <a:pt x="806264" y="264159"/>
                </a:lnTo>
                <a:lnTo>
                  <a:pt x="728593" y="309879"/>
                </a:lnTo>
                <a:lnTo>
                  <a:pt x="690680" y="334009"/>
                </a:lnTo>
                <a:lnTo>
                  <a:pt x="653402" y="359409"/>
                </a:lnTo>
                <a:lnTo>
                  <a:pt x="616775" y="384809"/>
                </a:lnTo>
                <a:lnTo>
                  <a:pt x="580814" y="412749"/>
                </a:lnTo>
                <a:lnTo>
                  <a:pt x="545534" y="439419"/>
                </a:lnTo>
                <a:lnTo>
                  <a:pt x="510950" y="468629"/>
                </a:lnTo>
                <a:lnTo>
                  <a:pt x="477078" y="497839"/>
                </a:lnTo>
                <a:lnTo>
                  <a:pt x="443932" y="527049"/>
                </a:lnTo>
                <a:lnTo>
                  <a:pt x="411528" y="558799"/>
                </a:lnTo>
                <a:lnTo>
                  <a:pt x="379882" y="590549"/>
                </a:lnTo>
                <a:lnTo>
                  <a:pt x="349008" y="622299"/>
                </a:lnTo>
                <a:lnTo>
                  <a:pt x="318921" y="655319"/>
                </a:lnTo>
                <a:lnTo>
                  <a:pt x="289638" y="689609"/>
                </a:lnTo>
                <a:lnTo>
                  <a:pt x="261173" y="723899"/>
                </a:lnTo>
                <a:lnTo>
                  <a:pt x="233541" y="759459"/>
                </a:lnTo>
                <a:lnTo>
                  <a:pt x="206757" y="795019"/>
                </a:lnTo>
                <a:lnTo>
                  <a:pt x="180837" y="831849"/>
                </a:lnTo>
                <a:lnTo>
                  <a:pt x="155797" y="868679"/>
                </a:lnTo>
                <a:lnTo>
                  <a:pt x="131650" y="906779"/>
                </a:lnTo>
                <a:lnTo>
                  <a:pt x="108413" y="946149"/>
                </a:lnTo>
                <a:lnTo>
                  <a:pt x="86101" y="984249"/>
                </a:lnTo>
                <a:lnTo>
                  <a:pt x="64729" y="1024889"/>
                </a:lnTo>
                <a:lnTo>
                  <a:pt x="44312" y="1065529"/>
                </a:lnTo>
                <a:lnTo>
                  <a:pt x="40711" y="1071879"/>
                </a:lnTo>
                <a:close/>
              </a:path>
              <a:path w="3096894" h="1071879">
                <a:moveTo>
                  <a:pt x="3096623" y="690879"/>
                </a:moveTo>
                <a:lnTo>
                  <a:pt x="3095514" y="689609"/>
                </a:lnTo>
                <a:lnTo>
                  <a:pt x="3066233" y="655319"/>
                </a:lnTo>
                <a:lnTo>
                  <a:pt x="3036149" y="622299"/>
                </a:lnTo>
                <a:lnTo>
                  <a:pt x="3005277" y="590549"/>
                </a:lnTo>
                <a:lnTo>
                  <a:pt x="2973632" y="558799"/>
                </a:lnTo>
                <a:lnTo>
                  <a:pt x="2941231" y="527049"/>
                </a:lnTo>
                <a:lnTo>
                  <a:pt x="2908087" y="497839"/>
                </a:lnTo>
                <a:lnTo>
                  <a:pt x="2874217" y="468629"/>
                </a:lnTo>
                <a:lnTo>
                  <a:pt x="2839635" y="439419"/>
                </a:lnTo>
                <a:lnTo>
                  <a:pt x="2804357" y="412749"/>
                </a:lnTo>
                <a:lnTo>
                  <a:pt x="2768398" y="384809"/>
                </a:lnTo>
                <a:lnTo>
                  <a:pt x="2731773" y="359409"/>
                </a:lnTo>
                <a:lnTo>
                  <a:pt x="2694498" y="334009"/>
                </a:lnTo>
                <a:lnTo>
                  <a:pt x="2656587" y="309879"/>
                </a:lnTo>
                <a:lnTo>
                  <a:pt x="2578919" y="264159"/>
                </a:lnTo>
                <a:lnTo>
                  <a:pt x="2539194" y="243839"/>
                </a:lnTo>
                <a:lnTo>
                  <a:pt x="2458034" y="203199"/>
                </a:lnTo>
                <a:lnTo>
                  <a:pt x="2374697" y="167639"/>
                </a:lnTo>
                <a:lnTo>
                  <a:pt x="2332251" y="151129"/>
                </a:lnTo>
                <a:lnTo>
                  <a:pt x="2289307" y="135889"/>
                </a:lnTo>
                <a:lnTo>
                  <a:pt x="2201983" y="107949"/>
                </a:lnTo>
                <a:lnTo>
                  <a:pt x="2157635" y="95249"/>
                </a:lnTo>
                <a:lnTo>
                  <a:pt x="2067641" y="74929"/>
                </a:lnTo>
                <a:lnTo>
                  <a:pt x="2022026" y="66039"/>
                </a:lnTo>
                <a:lnTo>
                  <a:pt x="1929636" y="50799"/>
                </a:lnTo>
                <a:lnTo>
                  <a:pt x="1882891" y="45719"/>
                </a:lnTo>
                <a:lnTo>
                  <a:pt x="1788378" y="38099"/>
                </a:lnTo>
                <a:lnTo>
                  <a:pt x="1692603" y="35559"/>
                </a:lnTo>
                <a:lnTo>
                  <a:pt x="2061727" y="35559"/>
                </a:lnTo>
                <a:lnTo>
                  <a:pt x="2114818" y="46989"/>
                </a:lnTo>
                <a:lnTo>
                  <a:pt x="2159851" y="58419"/>
                </a:lnTo>
                <a:lnTo>
                  <a:pt x="2248613" y="83819"/>
                </a:lnTo>
                <a:lnTo>
                  <a:pt x="2292312" y="97789"/>
                </a:lnTo>
                <a:lnTo>
                  <a:pt x="2335536" y="113029"/>
                </a:lnTo>
                <a:lnTo>
                  <a:pt x="2378271" y="129539"/>
                </a:lnTo>
                <a:lnTo>
                  <a:pt x="2462213" y="165099"/>
                </a:lnTo>
                <a:lnTo>
                  <a:pt x="2503391" y="184149"/>
                </a:lnTo>
                <a:lnTo>
                  <a:pt x="2544020" y="204469"/>
                </a:lnTo>
                <a:lnTo>
                  <a:pt x="2623573" y="247649"/>
                </a:lnTo>
                <a:lnTo>
                  <a:pt x="2662468" y="270509"/>
                </a:lnTo>
                <a:lnTo>
                  <a:pt x="2700754" y="294639"/>
                </a:lnTo>
                <a:lnTo>
                  <a:pt x="2738418" y="320039"/>
                </a:lnTo>
                <a:lnTo>
                  <a:pt x="2775444" y="345439"/>
                </a:lnTo>
                <a:lnTo>
                  <a:pt x="2811818" y="372109"/>
                </a:lnTo>
                <a:lnTo>
                  <a:pt x="2847525" y="398779"/>
                </a:lnTo>
                <a:lnTo>
                  <a:pt x="2882550" y="426719"/>
                </a:lnTo>
                <a:lnTo>
                  <a:pt x="2916879" y="455929"/>
                </a:lnTo>
                <a:lnTo>
                  <a:pt x="2950495" y="486409"/>
                </a:lnTo>
                <a:lnTo>
                  <a:pt x="2983386" y="516889"/>
                </a:lnTo>
                <a:lnTo>
                  <a:pt x="3015535" y="548639"/>
                </a:lnTo>
                <a:lnTo>
                  <a:pt x="3046928" y="580389"/>
                </a:lnTo>
                <a:lnTo>
                  <a:pt x="3077551" y="613409"/>
                </a:lnTo>
                <a:lnTo>
                  <a:pt x="3096623" y="634999"/>
                </a:lnTo>
                <a:lnTo>
                  <a:pt x="3096623" y="690879"/>
                </a:lnTo>
                <a:close/>
              </a:path>
              <a:path w="3096894" h="1071879">
                <a:moveTo>
                  <a:pt x="474947" y="1071879"/>
                </a:moveTo>
                <a:lnTo>
                  <a:pt x="431140" y="1071879"/>
                </a:lnTo>
                <a:lnTo>
                  <a:pt x="451294" y="1041399"/>
                </a:lnTo>
                <a:lnTo>
                  <a:pt x="476989" y="1004569"/>
                </a:lnTo>
                <a:lnTo>
                  <a:pt x="503762" y="967739"/>
                </a:lnTo>
                <a:lnTo>
                  <a:pt x="531591" y="932179"/>
                </a:lnTo>
                <a:lnTo>
                  <a:pt x="560451" y="897889"/>
                </a:lnTo>
                <a:lnTo>
                  <a:pt x="590320" y="864869"/>
                </a:lnTo>
                <a:lnTo>
                  <a:pt x="621173" y="831849"/>
                </a:lnTo>
                <a:lnTo>
                  <a:pt x="652989" y="800099"/>
                </a:lnTo>
                <a:lnTo>
                  <a:pt x="685742" y="768349"/>
                </a:lnTo>
                <a:lnTo>
                  <a:pt x="719411" y="739139"/>
                </a:lnTo>
                <a:lnTo>
                  <a:pt x="753971" y="709929"/>
                </a:lnTo>
                <a:lnTo>
                  <a:pt x="789399" y="681989"/>
                </a:lnTo>
                <a:lnTo>
                  <a:pt x="825672" y="655319"/>
                </a:lnTo>
                <a:lnTo>
                  <a:pt x="862767" y="629919"/>
                </a:lnTo>
                <a:lnTo>
                  <a:pt x="900660" y="605789"/>
                </a:lnTo>
                <a:lnTo>
                  <a:pt x="939328" y="581659"/>
                </a:lnTo>
                <a:lnTo>
                  <a:pt x="1018894" y="538479"/>
                </a:lnTo>
                <a:lnTo>
                  <a:pt x="1059747" y="518159"/>
                </a:lnTo>
                <a:lnTo>
                  <a:pt x="1101280" y="499109"/>
                </a:lnTo>
                <a:lnTo>
                  <a:pt x="1186298" y="466089"/>
                </a:lnTo>
                <a:lnTo>
                  <a:pt x="1229736" y="450849"/>
                </a:lnTo>
                <a:lnTo>
                  <a:pt x="1273762" y="436879"/>
                </a:lnTo>
                <a:lnTo>
                  <a:pt x="1363484" y="414019"/>
                </a:lnTo>
                <a:lnTo>
                  <a:pt x="1455279" y="396239"/>
                </a:lnTo>
                <a:lnTo>
                  <a:pt x="1501894" y="389889"/>
                </a:lnTo>
                <a:lnTo>
                  <a:pt x="1548958" y="384809"/>
                </a:lnTo>
                <a:lnTo>
                  <a:pt x="1596446" y="380999"/>
                </a:lnTo>
                <a:lnTo>
                  <a:pt x="1644336" y="378459"/>
                </a:lnTo>
                <a:lnTo>
                  <a:pt x="1692603" y="377189"/>
                </a:lnTo>
                <a:lnTo>
                  <a:pt x="1740870" y="378459"/>
                </a:lnTo>
                <a:lnTo>
                  <a:pt x="1788759" y="380999"/>
                </a:lnTo>
                <a:lnTo>
                  <a:pt x="1836248" y="384809"/>
                </a:lnTo>
                <a:lnTo>
                  <a:pt x="1883311" y="389889"/>
                </a:lnTo>
                <a:lnTo>
                  <a:pt x="1929927" y="396239"/>
                </a:lnTo>
                <a:lnTo>
                  <a:pt x="2021721" y="414019"/>
                </a:lnTo>
                <a:lnTo>
                  <a:pt x="1692603" y="414019"/>
                </a:lnTo>
                <a:lnTo>
                  <a:pt x="1644587" y="415289"/>
                </a:lnTo>
                <a:lnTo>
                  <a:pt x="1596956" y="417829"/>
                </a:lnTo>
                <a:lnTo>
                  <a:pt x="1549732" y="421639"/>
                </a:lnTo>
                <a:lnTo>
                  <a:pt x="1502940" y="426719"/>
                </a:lnTo>
                <a:lnTo>
                  <a:pt x="1456605" y="433069"/>
                </a:lnTo>
                <a:lnTo>
                  <a:pt x="1365399" y="450849"/>
                </a:lnTo>
                <a:lnTo>
                  <a:pt x="1320578" y="462279"/>
                </a:lnTo>
                <a:lnTo>
                  <a:pt x="1276309" y="474979"/>
                </a:lnTo>
                <a:lnTo>
                  <a:pt x="1232618" y="488949"/>
                </a:lnTo>
                <a:lnTo>
                  <a:pt x="1189528" y="504189"/>
                </a:lnTo>
                <a:lnTo>
                  <a:pt x="1147063" y="520699"/>
                </a:lnTo>
                <a:lnTo>
                  <a:pt x="1105249" y="538479"/>
                </a:lnTo>
                <a:lnTo>
                  <a:pt x="1064108" y="557529"/>
                </a:lnTo>
                <a:lnTo>
                  <a:pt x="983944" y="598169"/>
                </a:lnTo>
                <a:lnTo>
                  <a:pt x="944970" y="621029"/>
                </a:lnTo>
                <a:lnTo>
                  <a:pt x="906766" y="645159"/>
                </a:lnTo>
                <a:lnTo>
                  <a:pt x="869357" y="669289"/>
                </a:lnTo>
                <a:lnTo>
                  <a:pt x="832767" y="695959"/>
                </a:lnTo>
                <a:lnTo>
                  <a:pt x="797020" y="722629"/>
                </a:lnTo>
                <a:lnTo>
                  <a:pt x="762141" y="750569"/>
                </a:lnTo>
                <a:lnTo>
                  <a:pt x="728153" y="779779"/>
                </a:lnTo>
                <a:lnTo>
                  <a:pt x="695080" y="810259"/>
                </a:lnTo>
                <a:lnTo>
                  <a:pt x="662947" y="842009"/>
                </a:lnTo>
                <a:lnTo>
                  <a:pt x="631779" y="873759"/>
                </a:lnTo>
                <a:lnTo>
                  <a:pt x="601598" y="906779"/>
                </a:lnTo>
                <a:lnTo>
                  <a:pt x="572430" y="941069"/>
                </a:lnTo>
                <a:lnTo>
                  <a:pt x="544298" y="975359"/>
                </a:lnTo>
                <a:lnTo>
                  <a:pt x="517227" y="1010919"/>
                </a:lnTo>
                <a:lnTo>
                  <a:pt x="491241" y="1047749"/>
                </a:lnTo>
                <a:lnTo>
                  <a:pt x="474947" y="1071879"/>
                </a:lnTo>
                <a:close/>
              </a:path>
              <a:path w="3096894" h="1071879">
                <a:moveTo>
                  <a:pt x="2954092" y="1071879"/>
                </a:moveTo>
                <a:lnTo>
                  <a:pt x="2910208" y="1071879"/>
                </a:lnTo>
                <a:lnTo>
                  <a:pt x="2893940" y="1047749"/>
                </a:lnTo>
                <a:lnTo>
                  <a:pt x="2867952" y="1010919"/>
                </a:lnTo>
                <a:lnTo>
                  <a:pt x="2840879" y="975359"/>
                </a:lnTo>
                <a:lnTo>
                  <a:pt x="2812746" y="941069"/>
                </a:lnTo>
                <a:lnTo>
                  <a:pt x="2783576" y="906779"/>
                </a:lnTo>
                <a:lnTo>
                  <a:pt x="2753394" y="873759"/>
                </a:lnTo>
                <a:lnTo>
                  <a:pt x="2722224" y="842009"/>
                </a:lnTo>
                <a:lnTo>
                  <a:pt x="2690090" y="810259"/>
                </a:lnTo>
                <a:lnTo>
                  <a:pt x="2657016" y="779779"/>
                </a:lnTo>
                <a:lnTo>
                  <a:pt x="2623027" y="750569"/>
                </a:lnTo>
                <a:lnTo>
                  <a:pt x="2588146" y="722629"/>
                </a:lnTo>
                <a:lnTo>
                  <a:pt x="2552399" y="695959"/>
                </a:lnTo>
                <a:lnTo>
                  <a:pt x="2515808" y="669289"/>
                </a:lnTo>
                <a:lnTo>
                  <a:pt x="2478399" y="645159"/>
                </a:lnTo>
                <a:lnTo>
                  <a:pt x="2440195" y="621029"/>
                </a:lnTo>
                <a:lnTo>
                  <a:pt x="2401221" y="598169"/>
                </a:lnTo>
                <a:lnTo>
                  <a:pt x="2321058" y="557529"/>
                </a:lnTo>
                <a:lnTo>
                  <a:pt x="2279918" y="538479"/>
                </a:lnTo>
                <a:lnTo>
                  <a:pt x="2238104" y="520699"/>
                </a:lnTo>
                <a:lnTo>
                  <a:pt x="2195641" y="504189"/>
                </a:lnTo>
                <a:lnTo>
                  <a:pt x="2152552" y="488949"/>
                </a:lnTo>
                <a:lnTo>
                  <a:pt x="2108863" y="474979"/>
                </a:lnTo>
                <a:lnTo>
                  <a:pt x="2064597" y="462279"/>
                </a:lnTo>
                <a:lnTo>
                  <a:pt x="2019778" y="450849"/>
                </a:lnTo>
                <a:lnTo>
                  <a:pt x="1928579" y="433069"/>
                </a:lnTo>
                <a:lnTo>
                  <a:pt x="1882247" y="426719"/>
                </a:lnTo>
                <a:lnTo>
                  <a:pt x="1835459" y="421639"/>
                </a:lnTo>
                <a:lnTo>
                  <a:pt x="1788240" y="417829"/>
                </a:lnTo>
                <a:lnTo>
                  <a:pt x="1740613" y="415289"/>
                </a:lnTo>
                <a:lnTo>
                  <a:pt x="1692603" y="414019"/>
                </a:lnTo>
                <a:lnTo>
                  <a:pt x="2021721" y="414019"/>
                </a:lnTo>
                <a:lnTo>
                  <a:pt x="2111444" y="436879"/>
                </a:lnTo>
                <a:lnTo>
                  <a:pt x="2155469" y="450849"/>
                </a:lnTo>
                <a:lnTo>
                  <a:pt x="2198907" y="466089"/>
                </a:lnTo>
                <a:lnTo>
                  <a:pt x="2283925" y="499109"/>
                </a:lnTo>
                <a:lnTo>
                  <a:pt x="2325459" y="518159"/>
                </a:lnTo>
                <a:lnTo>
                  <a:pt x="2366311" y="538479"/>
                </a:lnTo>
                <a:lnTo>
                  <a:pt x="2445878" y="581659"/>
                </a:lnTo>
                <a:lnTo>
                  <a:pt x="2484546" y="605789"/>
                </a:lnTo>
                <a:lnTo>
                  <a:pt x="2522438" y="629919"/>
                </a:lnTo>
                <a:lnTo>
                  <a:pt x="2559533" y="655319"/>
                </a:lnTo>
                <a:lnTo>
                  <a:pt x="2595806" y="681989"/>
                </a:lnTo>
                <a:lnTo>
                  <a:pt x="2631235" y="709929"/>
                </a:lnTo>
                <a:lnTo>
                  <a:pt x="2665795" y="739139"/>
                </a:lnTo>
                <a:lnTo>
                  <a:pt x="2699463" y="768349"/>
                </a:lnTo>
                <a:lnTo>
                  <a:pt x="2732217" y="800099"/>
                </a:lnTo>
                <a:lnTo>
                  <a:pt x="2764032" y="831849"/>
                </a:lnTo>
                <a:lnTo>
                  <a:pt x="2794886" y="864869"/>
                </a:lnTo>
                <a:lnTo>
                  <a:pt x="2824754" y="897889"/>
                </a:lnTo>
                <a:lnTo>
                  <a:pt x="2853615" y="932179"/>
                </a:lnTo>
                <a:lnTo>
                  <a:pt x="2881443" y="967739"/>
                </a:lnTo>
                <a:lnTo>
                  <a:pt x="2908217" y="1004569"/>
                </a:lnTo>
                <a:lnTo>
                  <a:pt x="2933912" y="1041399"/>
                </a:lnTo>
                <a:lnTo>
                  <a:pt x="2954092" y="1071879"/>
                </a:lnTo>
                <a:close/>
              </a:path>
              <a:path w="3096894" h="1071879">
                <a:moveTo>
                  <a:pt x="1733596" y="756919"/>
                </a:moveTo>
                <a:lnTo>
                  <a:pt x="1651488" y="756919"/>
                </a:lnTo>
                <a:lnTo>
                  <a:pt x="1665168" y="755649"/>
                </a:lnTo>
                <a:lnTo>
                  <a:pt x="1719915" y="755649"/>
                </a:lnTo>
                <a:lnTo>
                  <a:pt x="1733596" y="756919"/>
                </a:lnTo>
                <a:close/>
              </a:path>
              <a:path w="3096894" h="1071879">
                <a:moveTo>
                  <a:pt x="1760941" y="758189"/>
                </a:moveTo>
                <a:lnTo>
                  <a:pt x="1624143" y="758189"/>
                </a:lnTo>
                <a:lnTo>
                  <a:pt x="1637811" y="756919"/>
                </a:lnTo>
                <a:lnTo>
                  <a:pt x="1747272" y="756919"/>
                </a:lnTo>
                <a:lnTo>
                  <a:pt x="1760941" y="758189"/>
                </a:lnTo>
                <a:close/>
              </a:path>
              <a:path w="3096894" h="1071879">
                <a:moveTo>
                  <a:pt x="967638" y="1071879"/>
                </a:moveTo>
                <a:lnTo>
                  <a:pt x="913918" y="1071879"/>
                </a:lnTo>
                <a:lnTo>
                  <a:pt x="923417" y="1062989"/>
                </a:lnTo>
                <a:lnTo>
                  <a:pt x="933387" y="1054099"/>
                </a:lnTo>
                <a:lnTo>
                  <a:pt x="943474" y="1045209"/>
                </a:lnTo>
                <a:lnTo>
                  <a:pt x="953673" y="1035049"/>
                </a:lnTo>
                <a:lnTo>
                  <a:pt x="963982" y="1026159"/>
                </a:lnTo>
                <a:lnTo>
                  <a:pt x="984929" y="1008379"/>
                </a:lnTo>
                <a:lnTo>
                  <a:pt x="995564" y="1000759"/>
                </a:lnTo>
                <a:lnTo>
                  <a:pt x="1017144" y="982979"/>
                </a:lnTo>
                <a:lnTo>
                  <a:pt x="1039134" y="967739"/>
                </a:lnTo>
                <a:lnTo>
                  <a:pt x="1050276" y="958849"/>
                </a:lnTo>
                <a:lnTo>
                  <a:pt x="1061514" y="951229"/>
                </a:lnTo>
                <a:lnTo>
                  <a:pt x="1095797" y="928369"/>
                </a:lnTo>
                <a:lnTo>
                  <a:pt x="1107405" y="922019"/>
                </a:lnTo>
                <a:lnTo>
                  <a:pt x="1119103" y="914399"/>
                </a:lnTo>
                <a:lnTo>
                  <a:pt x="1130888" y="908049"/>
                </a:lnTo>
                <a:lnTo>
                  <a:pt x="1142755" y="900429"/>
                </a:lnTo>
                <a:lnTo>
                  <a:pt x="1154705" y="894079"/>
                </a:lnTo>
                <a:lnTo>
                  <a:pt x="1215640" y="862329"/>
                </a:lnTo>
                <a:lnTo>
                  <a:pt x="1228050" y="857249"/>
                </a:lnTo>
                <a:lnTo>
                  <a:pt x="1240529" y="850899"/>
                </a:lnTo>
                <a:lnTo>
                  <a:pt x="1316770" y="820419"/>
                </a:lnTo>
                <a:lnTo>
                  <a:pt x="1329687" y="816609"/>
                </a:lnTo>
                <a:lnTo>
                  <a:pt x="1342656" y="811529"/>
                </a:lnTo>
                <a:lnTo>
                  <a:pt x="1421518" y="788669"/>
                </a:lnTo>
                <a:lnTo>
                  <a:pt x="1434817" y="786129"/>
                </a:lnTo>
                <a:lnTo>
                  <a:pt x="1448153" y="782319"/>
                </a:lnTo>
                <a:lnTo>
                  <a:pt x="1515348" y="769619"/>
                </a:lnTo>
                <a:lnTo>
                  <a:pt x="1528877" y="768349"/>
                </a:lnTo>
                <a:lnTo>
                  <a:pt x="1542430" y="765809"/>
                </a:lnTo>
                <a:lnTo>
                  <a:pt x="1556003" y="764539"/>
                </a:lnTo>
                <a:lnTo>
                  <a:pt x="1569597" y="761999"/>
                </a:lnTo>
                <a:lnTo>
                  <a:pt x="1610487" y="758189"/>
                </a:lnTo>
                <a:lnTo>
                  <a:pt x="1774596" y="758189"/>
                </a:lnTo>
                <a:lnTo>
                  <a:pt x="1815486" y="761999"/>
                </a:lnTo>
                <a:lnTo>
                  <a:pt x="1829080" y="764539"/>
                </a:lnTo>
                <a:lnTo>
                  <a:pt x="1842653" y="765809"/>
                </a:lnTo>
                <a:lnTo>
                  <a:pt x="1856206" y="768349"/>
                </a:lnTo>
                <a:lnTo>
                  <a:pt x="1869735" y="769619"/>
                </a:lnTo>
                <a:lnTo>
                  <a:pt x="1936929" y="782319"/>
                </a:lnTo>
                <a:lnTo>
                  <a:pt x="1950265" y="786129"/>
                </a:lnTo>
                <a:lnTo>
                  <a:pt x="1963564" y="788669"/>
                </a:lnTo>
                <a:lnTo>
                  <a:pt x="1976777" y="792479"/>
                </a:lnTo>
                <a:lnTo>
                  <a:pt x="1666131" y="792479"/>
                </a:lnTo>
                <a:lnTo>
                  <a:pt x="1652902" y="793749"/>
                </a:lnTo>
                <a:lnTo>
                  <a:pt x="1639676" y="793749"/>
                </a:lnTo>
                <a:lnTo>
                  <a:pt x="1626458" y="795019"/>
                </a:lnTo>
                <a:lnTo>
                  <a:pt x="1613252" y="795019"/>
                </a:lnTo>
                <a:lnTo>
                  <a:pt x="1560564" y="800099"/>
                </a:lnTo>
                <a:lnTo>
                  <a:pt x="1547438" y="802639"/>
                </a:lnTo>
                <a:lnTo>
                  <a:pt x="1534331" y="803909"/>
                </a:lnTo>
                <a:lnTo>
                  <a:pt x="1508194" y="808989"/>
                </a:lnTo>
                <a:lnTo>
                  <a:pt x="1495166" y="810259"/>
                </a:lnTo>
                <a:lnTo>
                  <a:pt x="1469199" y="815339"/>
                </a:lnTo>
                <a:lnTo>
                  <a:pt x="1456267" y="819149"/>
                </a:lnTo>
                <a:lnTo>
                  <a:pt x="1443371" y="821689"/>
                </a:lnTo>
                <a:lnTo>
                  <a:pt x="1430510" y="825499"/>
                </a:lnTo>
                <a:lnTo>
                  <a:pt x="1417688" y="828039"/>
                </a:lnTo>
                <a:lnTo>
                  <a:pt x="1341704" y="850899"/>
                </a:lnTo>
                <a:lnTo>
                  <a:pt x="1329212" y="855979"/>
                </a:lnTo>
                <a:lnTo>
                  <a:pt x="1316775" y="859789"/>
                </a:lnTo>
                <a:lnTo>
                  <a:pt x="1243415" y="890269"/>
                </a:lnTo>
                <a:lnTo>
                  <a:pt x="1231413" y="896619"/>
                </a:lnTo>
                <a:lnTo>
                  <a:pt x="1219480" y="901699"/>
                </a:lnTo>
                <a:lnTo>
                  <a:pt x="1207621" y="908049"/>
                </a:lnTo>
                <a:lnTo>
                  <a:pt x="1195835" y="913129"/>
                </a:lnTo>
                <a:lnTo>
                  <a:pt x="1160928" y="932179"/>
                </a:lnTo>
                <a:lnTo>
                  <a:pt x="1149451" y="939799"/>
                </a:lnTo>
                <a:lnTo>
                  <a:pt x="1126742" y="952499"/>
                </a:lnTo>
                <a:lnTo>
                  <a:pt x="1115515" y="960119"/>
                </a:lnTo>
                <a:lnTo>
                  <a:pt x="1104376" y="966469"/>
                </a:lnTo>
                <a:lnTo>
                  <a:pt x="1071493" y="989329"/>
                </a:lnTo>
                <a:lnTo>
                  <a:pt x="1039451" y="1012189"/>
                </a:lnTo>
                <a:lnTo>
                  <a:pt x="1028966" y="1021079"/>
                </a:lnTo>
                <a:lnTo>
                  <a:pt x="1018582" y="1028699"/>
                </a:lnTo>
                <a:lnTo>
                  <a:pt x="1008297" y="1037589"/>
                </a:lnTo>
                <a:lnTo>
                  <a:pt x="998115" y="1045209"/>
                </a:lnTo>
                <a:lnTo>
                  <a:pt x="978069" y="1062989"/>
                </a:lnTo>
                <a:lnTo>
                  <a:pt x="967638" y="1071879"/>
                </a:lnTo>
                <a:close/>
              </a:path>
              <a:path w="3096894" h="1071879">
                <a:moveTo>
                  <a:pt x="2471103" y="1071879"/>
                </a:moveTo>
                <a:lnTo>
                  <a:pt x="2416573" y="1071879"/>
                </a:lnTo>
                <a:lnTo>
                  <a:pt x="2406715" y="1062989"/>
                </a:lnTo>
                <a:lnTo>
                  <a:pt x="2396751" y="1055369"/>
                </a:lnTo>
                <a:lnTo>
                  <a:pt x="2376505" y="1037589"/>
                </a:lnTo>
                <a:lnTo>
                  <a:pt x="2366226" y="1029969"/>
                </a:lnTo>
                <a:lnTo>
                  <a:pt x="2355847" y="1021079"/>
                </a:lnTo>
                <a:lnTo>
                  <a:pt x="2334791" y="1005839"/>
                </a:lnTo>
                <a:lnTo>
                  <a:pt x="2324116" y="996949"/>
                </a:lnTo>
                <a:lnTo>
                  <a:pt x="2302486" y="981709"/>
                </a:lnTo>
                <a:lnTo>
                  <a:pt x="2291531" y="975359"/>
                </a:lnTo>
                <a:lnTo>
                  <a:pt x="2269353" y="960119"/>
                </a:lnTo>
                <a:lnTo>
                  <a:pt x="2258134" y="953769"/>
                </a:lnTo>
                <a:lnTo>
                  <a:pt x="2246829" y="946149"/>
                </a:lnTo>
                <a:lnTo>
                  <a:pt x="2223971" y="933449"/>
                </a:lnTo>
                <a:lnTo>
                  <a:pt x="2165457" y="901699"/>
                </a:lnTo>
                <a:lnTo>
                  <a:pt x="2141539" y="891539"/>
                </a:lnTo>
                <a:lnTo>
                  <a:pt x="2129479" y="885189"/>
                </a:lnTo>
                <a:lnTo>
                  <a:pt x="2080597" y="864869"/>
                </a:lnTo>
                <a:lnTo>
                  <a:pt x="2068227" y="861059"/>
                </a:lnTo>
                <a:lnTo>
                  <a:pt x="2055798" y="855979"/>
                </a:lnTo>
                <a:lnTo>
                  <a:pt x="2043315" y="852169"/>
                </a:lnTo>
                <a:lnTo>
                  <a:pt x="2030780" y="847089"/>
                </a:lnTo>
                <a:lnTo>
                  <a:pt x="1967378" y="828039"/>
                </a:lnTo>
                <a:lnTo>
                  <a:pt x="1954564" y="825499"/>
                </a:lnTo>
                <a:lnTo>
                  <a:pt x="1941711" y="821689"/>
                </a:lnTo>
                <a:lnTo>
                  <a:pt x="1850802" y="803909"/>
                </a:lnTo>
                <a:lnTo>
                  <a:pt x="1824583" y="801369"/>
                </a:lnTo>
                <a:lnTo>
                  <a:pt x="1811443" y="798829"/>
                </a:lnTo>
                <a:lnTo>
                  <a:pt x="1771920" y="795019"/>
                </a:lnTo>
                <a:lnTo>
                  <a:pt x="1758720" y="795019"/>
                </a:lnTo>
                <a:lnTo>
                  <a:pt x="1745508" y="793749"/>
                </a:lnTo>
                <a:lnTo>
                  <a:pt x="1732288" y="793749"/>
                </a:lnTo>
                <a:lnTo>
                  <a:pt x="1719064" y="792479"/>
                </a:lnTo>
                <a:lnTo>
                  <a:pt x="1976777" y="792479"/>
                </a:lnTo>
                <a:lnTo>
                  <a:pt x="2042424" y="811529"/>
                </a:lnTo>
                <a:lnTo>
                  <a:pt x="2055394" y="816609"/>
                </a:lnTo>
                <a:lnTo>
                  <a:pt x="2068311" y="820419"/>
                </a:lnTo>
                <a:lnTo>
                  <a:pt x="2144550" y="850899"/>
                </a:lnTo>
                <a:lnTo>
                  <a:pt x="2157028" y="857249"/>
                </a:lnTo>
                <a:lnTo>
                  <a:pt x="2169438" y="862329"/>
                </a:lnTo>
                <a:lnTo>
                  <a:pt x="2230371" y="894079"/>
                </a:lnTo>
                <a:lnTo>
                  <a:pt x="2242321" y="900429"/>
                </a:lnTo>
                <a:lnTo>
                  <a:pt x="2254188" y="908049"/>
                </a:lnTo>
                <a:lnTo>
                  <a:pt x="2265972" y="914399"/>
                </a:lnTo>
                <a:lnTo>
                  <a:pt x="2277670" y="922019"/>
                </a:lnTo>
                <a:lnTo>
                  <a:pt x="2289278" y="928369"/>
                </a:lnTo>
                <a:lnTo>
                  <a:pt x="2323559" y="951229"/>
                </a:lnTo>
                <a:lnTo>
                  <a:pt x="2334797" y="958849"/>
                </a:lnTo>
                <a:lnTo>
                  <a:pt x="2345939" y="967739"/>
                </a:lnTo>
                <a:lnTo>
                  <a:pt x="2367928" y="982979"/>
                </a:lnTo>
                <a:lnTo>
                  <a:pt x="2389507" y="1000759"/>
                </a:lnTo>
                <a:lnTo>
                  <a:pt x="2400141" y="1008379"/>
                </a:lnTo>
                <a:lnTo>
                  <a:pt x="2421087" y="1026159"/>
                </a:lnTo>
                <a:lnTo>
                  <a:pt x="2431395" y="1035049"/>
                </a:lnTo>
                <a:lnTo>
                  <a:pt x="2441594" y="1045209"/>
                </a:lnTo>
                <a:lnTo>
                  <a:pt x="2451680" y="1054099"/>
                </a:lnTo>
                <a:lnTo>
                  <a:pt x="2461650" y="1062989"/>
                </a:lnTo>
                <a:lnTo>
                  <a:pt x="2471103" y="1071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0" y="-1"/>
            <a:ext cx="3093720" cy="1069340"/>
          </a:xfrm>
          <a:custGeom>
            <a:avLst/>
            <a:gdLst/>
            <a:ahLst/>
            <a:cxnLst/>
            <a:rect l="l" t="t" r="r" b="b"/>
            <a:pathLst>
              <a:path w="3093720" h="1069340">
                <a:moveTo>
                  <a:pt x="1450520" y="690879"/>
                </a:moveTo>
                <a:lnTo>
                  <a:pt x="1353991" y="690879"/>
                </a:lnTo>
                <a:lnTo>
                  <a:pt x="1306101" y="688339"/>
                </a:lnTo>
                <a:lnTo>
                  <a:pt x="1258613" y="684529"/>
                </a:lnTo>
                <a:lnTo>
                  <a:pt x="1211550" y="679449"/>
                </a:lnTo>
                <a:lnTo>
                  <a:pt x="1164934" y="673099"/>
                </a:lnTo>
                <a:lnTo>
                  <a:pt x="1073140" y="655319"/>
                </a:lnTo>
                <a:lnTo>
                  <a:pt x="1028008" y="643889"/>
                </a:lnTo>
                <a:lnTo>
                  <a:pt x="939391" y="618489"/>
                </a:lnTo>
                <a:lnTo>
                  <a:pt x="895954" y="603249"/>
                </a:lnTo>
                <a:lnTo>
                  <a:pt x="853127" y="586739"/>
                </a:lnTo>
                <a:lnTo>
                  <a:pt x="769402" y="551179"/>
                </a:lnTo>
                <a:lnTo>
                  <a:pt x="728550" y="530859"/>
                </a:lnTo>
                <a:lnTo>
                  <a:pt x="648983" y="487679"/>
                </a:lnTo>
                <a:lnTo>
                  <a:pt x="610315" y="463549"/>
                </a:lnTo>
                <a:lnTo>
                  <a:pt x="572422" y="439419"/>
                </a:lnTo>
                <a:lnTo>
                  <a:pt x="535328" y="414019"/>
                </a:lnTo>
                <a:lnTo>
                  <a:pt x="499054" y="386079"/>
                </a:lnTo>
                <a:lnTo>
                  <a:pt x="463626" y="359409"/>
                </a:lnTo>
                <a:lnTo>
                  <a:pt x="429066" y="330199"/>
                </a:lnTo>
                <a:lnTo>
                  <a:pt x="395398" y="299719"/>
                </a:lnTo>
                <a:lnTo>
                  <a:pt x="362644" y="269239"/>
                </a:lnTo>
                <a:lnTo>
                  <a:pt x="330829" y="237489"/>
                </a:lnTo>
                <a:lnTo>
                  <a:pt x="299975" y="204469"/>
                </a:lnTo>
                <a:lnTo>
                  <a:pt x="270106" y="171449"/>
                </a:lnTo>
                <a:lnTo>
                  <a:pt x="213418" y="101599"/>
                </a:lnTo>
                <a:lnTo>
                  <a:pt x="186644" y="64769"/>
                </a:lnTo>
                <a:lnTo>
                  <a:pt x="160949" y="27939"/>
                </a:lnTo>
                <a:lnTo>
                  <a:pt x="142621" y="0"/>
                </a:lnTo>
                <a:lnTo>
                  <a:pt x="186472" y="0"/>
                </a:lnTo>
                <a:lnTo>
                  <a:pt x="200896" y="21589"/>
                </a:lnTo>
                <a:lnTo>
                  <a:pt x="253954" y="93979"/>
                </a:lnTo>
                <a:lnTo>
                  <a:pt x="282085" y="128269"/>
                </a:lnTo>
                <a:lnTo>
                  <a:pt x="311253" y="162559"/>
                </a:lnTo>
                <a:lnTo>
                  <a:pt x="341434" y="195579"/>
                </a:lnTo>
                <a:lnTo>
                  <a:pt x="372603" y="227329"/>
                </a:lnTo>
                <a:lnTo>
                  <a:pt x="404735" y="259079"/>
                </a:lnTo>
                <a:lnTo>
                  <a:pt x="437808" y="288289"/>
                </a:lnTo>
                <a:lnTo>
                  <a:pt x="471796" y="317499"/>
                </a:lnTo>
                <a:lnTo>
                  <a:pt x="506676" y="346709"/>
                </a:lnTo>
                <a:lnTo>
                  <a:pt x="542423" y="373379"/>
                </a:lnTo>
                <a:lnTo>
                  <a:pt x="579013" y="398779"/>
                </a:lnTo>
                <a:lnTo>
                  <a:pt x="616422" y="424179"/>
                </a:lnTo>
                <a:lnTo>
                  <a:pt x="654625" y="448309"/>
                </a:lnTo>
                <a:lnTo>
                  <a:pt x="693599" y="469899"/>
                </a:lnTo>
                <a:lnTo>
                  <a:pt x="733320" y="491489"/>
                </a:lnTo>
                <a:lnTo>
                  <a:pt x="773763" y="511809"/>
                </a:lnTo>
                <a:lnTo>
                  <a:pt x="814904" y="530859"/>
                </a:lnTo>
                <a:lnTo>
                  <a:pt x="856719" y="548639"/>
                </a:lnTo>
                <a:lnTo>
                  <a:pt x="899183" y="565149"/>
                </a:lnTo>
                <a:lnTo>
                  <a:pt x="942273" y="580389"/>
                </a:lnTo>
                <a:lnTo>
                  <a:pt x="985965" y="594359"/>
                </a:lnTo>
                <a:lnTo>
                  <a:pt x="1030233" y="607059"/>
                </a:lnTo>
                <a:lnTo>
                  <a:pt x="1120405" y="627379"/>
                </a:lnTo>
                <a:lnTo>
                  <a:pt x="1212595" y="642619"/>
                </a:lnTo>
                <a:lnTo>
                  <a:pt x="1259387" y="647699"/>
                </a:lnTo>
                <a:lnTo>
                  <a:pt x="1306611" y="651509"/>
                </a:lnTo>
                <a:lnTo>
                  <a:pt x="1354243" y="654049"/>
                </a:lnTo>
                <a:lnTo>
                  <a:pt x="1736363" y="654049"/>
                </a:lnTo>
                <a:lnTo>
                  <a:pt x="1731348" y="655319"/>
                </a:lnTo>
                <a:lnTo>
                  <a:pt x="1639560" y="673099"/>
                </a:lnTo>
                <a:lnTo>
                  <a:pt x="1592948" y="679449"/>
                </a:lnTo>
                <a:lnTo>
                  <a:pt x="1545889" y="684529"/>
                </a:lnTo>
                <a:lnTo>
                  <a:pt x="1498405" y="688339"/>
                </a:lnTo>
                <a:lnTo>
                  <a:pt x="1450520" y="690879"/>
                </a:lnTo>
                <a:close/>
              </a:path>
              <a:path w="3093720" h="1069340">
                <a:moveTo>
                  <a:pt x="1470625" y="311149"/>
                </a:moveTo>
                <a:lnTo>
                  <a:pt x="1333859" y="311149"/>
                </a:lnTo>
                <a:lnTo>
                  <a:pt x="1252146" y="303529"/>
                </a:lnTo>
                <a:lnTo>
                  <a:pt x="1225064" y="298449"/>
                </a:lnTo>
                <a:lnTo>
                  <a:pt x="1211564" y="297179"/>
                </a:lnTo>
                <a:lnTo>
                  <a:pt x="1184650" y="292099"/>
                </a:lnTo>
                <a:lnTo>
                  <a:pt x="1171241" y="288289"/>
                </a:lnTo>
                <a:lnTo>
                  <a:pt x="1144532" y="283209"/>
                </a:lnTo>
                <a:lnTo>
                  <a:pt x="1131233" y="279399"/>
                </a:lnTo>
                <a:lnTo>
                  <a:pt x="1117974" y="276859"/>
                </a:lnTo>
                <a:lnTo>
                  <a:pt x="1065392" y="261619"/>
                </a:lnTo>
                <a:lnTo>
                  <a:pt x="1052370" y="256539"/>
                </a:lnTo>
                <a:lnTo>
                  <a:pt x="1039400" y="252729"/>
                </a:lnTo>
                <a:lnTo>
                  <a:pt x="1026482" y="247649"/>
                </a:lnTo>
                <a:lnTo>
                  <a:pt x="1013622" y="243839"/>
                </a:lnTo>
                <a:lnTo>
                  <a:pt x="962787" y="223519"/>
                </a:lnTo>
                <a:lnTo>
                  <a:pt x="950240" y="217169"/>
                </a:lnTo>
                <a:lnTo>
                  <a:pt x="937761" y="212089"/>
                </a:lnTo>
                <a:lnTo>
                  <a:pt x="925350" y="205739"/>
                </a:lnTo>
                <a:lnTo>
                  <a:pt x="913011" y="200659"/>
                </a:lnTo>
                <a:lnTo>
                  <a:pt x="864414" y="175259"/>
                </a:lnTo>
                <a:lnTo>
                  <a:pt x="852463" y="167639"/>
                </a:lnTo>
                <a:lnTo>
                  <a:pt x="828811" y="154939"/>
                </a:lnTo>
                <a:lnTo>
                  <a:pt x="793985" y="132079"/>
                </a:lnTo>
                <a:lnTo>
                  <a:pt x="782555" y="125729"/>
                </a:lnTo>
                <a:lnTo>
                  <a:pt x="771220" y="118109"/>
                </a:lnTo>
                <a:lnTo>
                  <a:pt x="759981" y="109219"/>
                </a:lnTo>
                <a:lnTo>
                  <a:pt x="737793" y="93979"/>
                </a:lnTo>
                <a:lnTo>
                  <a:pt x="726848" y="85089"/>
                </a:lnTo>
                <a:lnTo>
                  <a:pt x="716006" y="77469"/>
                </a:lnTo>
                <a:lnTo>
                  <a:pt x="705267" y="68579"/>
                </a:lnTo>
                <a:lnTo>
                  <a:pt x="684103" y="50799"/>
                </a:lnTo>
                <a:lnTo>
                  <a:pt x="663374" y="33019"/>
                </a:lnTo>
                <a:lnTo>
                  <a:pt x="643087" y="15239"/>
                </a:lnTo>
                <a:lnTo>
                  <a:pt x="633116" y="5079"/>
                </a:lnTo>
                <a:lnTo>
                  <a:pt x="626681" y="0"/>
                </a:lnTo>
                <a:lnTo>
                  <a:pt x="680422" y="0"/>
                </a:lnTo>
                <a:lnTo>
                  <a:pt x="687632" y="6349"/>
                </a:lnTo>
                <a:lnTo>
                  <a:pt x="697601" y="13969"/>
                </a:lnTo>
                <a:lnTo>
                  <a:pt x="717857" y="31749"/>
                </a:lnTo>
                <a:lnTo>
                  <a:pt x="728141" y="39369"/>
                </a:lnTo>
                <a:lnTo>
                  <a:pt x="738525" y="48259"/>
                </a:lnTo>
                <a:lnTo>
                  <a:pt x="749009" y="55879"/>
                </a:lnTo>
                <a:lnTo>
                  <a:pt x="759593" y="64769"/>
                </a:lnTo>
                <a:lnTo>
                  <a:pt x="791916" y="87629"/>
                </a:lnTo>
                <a:lnTo>
                  <a:pt x="802877" y="95249"/>
                </a:lnTo>
                <a:lnTo>
                  <a:pt x="813928" y="101599"/>
                </a:lnTo>
                <a:lnTo>
                  <a:pt x="825067" y="109219"/>
                </a:lnTo>
                <a:lnTo>
                  <a:pt x="836292" y="115569"/>
                </a:lnTo>
                <a:lnTo>
                  <a:pt x="847605" y="123189"/>
                </a:lnTo>
                <a:lnTo>
                  <a:pt x="905381" y="154939"/>
                </a:lnTo>
                <a:lnTo>
                  <a:pt x="929025" y="167639"/>
                </a:lnTo>
                <a:lnTo>
                  <a:pt x="940957" y="172719"/>
                </a:lnTo>
                <a:lnTo>
                  <a:pt x="952958" y="179069"/>
                </a:lnTo>
                <a:lnTo>
                  <a:pt x="1013937" y="204469"/>
                </a:lnTo>
                <a:lnTo>
                  <a:pt x="1026315" y="208279"/>
                </a:lnTo>
                <a:lnTo>
                  <a:pt x="1038752" y="213359"/>
                </a:lnTo>
                <a:lnTo>
                  <a:pt x="1051243" y="217169"/>
                </a:lnTo>
                <a:lnTo>
                  <a:pt x="1063785" y="222249"/>
                </a:lnTo>
                <a:lnTo>
                  <a:pt x="1127225" y="241299"/>
                </a:lnTo>
                <a:lnTo>
                  <a:pt x="1140046" y="243839"/>
                </a:lnTo>
                <a:lnTo>
                  <a:pt x="1152906" y="247649"/>
                </a:lnTo>
                <a:lnTo>
                  <a:pt x="1230782" y="262889"/>
                </a:lnTo>
                <a:lnTo>
                  <a:pt x="1243865" y="264159"/>
                </a:lnTo>
                <a:lnTo>
                  <a:pt x="1256971" y="266699"/>
                </a:lnTo>
                <a:lnTo>
                  <a:pt x="1283243" y="269239"/>
                </a:lnTo>
                <a:lnTo>
                  <a:pt x="1296409" y="271779"/>
                </a:lnTo>
                <a:lnTo>
                  <a:pt x="1309591" y="273049"/>
                </a:lnTo>
                <a:lnTo>
                  <a:pt x="1322785" y="273049"/>
                </a:lnTo>
                <a:lnTo>
                  <a:pt x="1349208" y="275589"/>
                </a:lnTo>
                <a:lnTo>
                  <a:pt x="1375664" y="275589"/>
                </a:lnTo>
                <a:lnTo>
                  <a:pt x="1388897" y="276859"/>
                </a:lnTo>
                <a:lnTo>
                  <a:pt x="1681960" y="276859"/>
                </a:lnTo>
                <a:lnTo>
                  <a:pt x="1659843" y="283209"/>
                </a:lnTo>
                <a:lnTo>
                  <a:pt x="1619749" y="290829"/>
                </a:lnTo>
                <a:lnTo>
                  <a:pt x="1606315" y="294639"/>
                </a:lnTo>
                <a:lnTo>
                  <a:pt x="1592852" y="295909"/>
                </a:lnTo>
                <a:lnTo>
                  <a:pt x="1565840" y="300989"/>
                </a:lnTo>
                <a:lnTo>
                  <a:pt x="1552295" y="302259"/>
                </a:lnTo>
                <a:lnTo>
                  <a:pt x="1538729" y="304799"/>
                </a:lnTo>
                <a:lnTo>
                  <a:pt x="1470625" y="311149"/>
                </a:lnTo>
                <a:close/>
              </a:path>
              <a:path w="3093720" h="1069340">
                <a:moveTo>
                  <a:pt x="1681960" y="276859"/>
                </a:moveTo>
                <a:lnTo>
                  <a:pt x="1415373" y="276859"/>
                </a:lnTo>
                <a:lnTo>
                  <a:pt x="1428606" y="275589"/>
                </a:lnTo>
                <a:lnTo>
                  <a:pt x="1455062" y="275589"/>
                </a:lnTo>
                <a:lnTo>
                  <a:pt x="1481486" y="273049"/>
                </a:lnTo>
                <a:lnTo>
                  <a:pt x="1494679" y="273049"/>
                </a:lnTo>
                <a:lnTo>
                  <a:pt x="1507861" y="271779"/>
                </a:lnTo>
                <a:lnTo>
                  <a:pt x="1521027" y="269239"/>
                </a:lnTo>
                <a:lnTo>
                  <a:pt x="1547300" y="266699"/>
                </a:lnTo>
                <a:lnTo>
                  <a:pt x="1560406" y="264159"/>
                </a:lnTo>
                <a:lnTo>
                  <a:pt x="1573488" y="262889"/>
                </a:lnTo>
                <a:lnTo>
                  <a:pt x="1651365" y="247649"/>
                </a:lnTo>
                <a:lnTo>
                  <a:pt x="1664226" y="243839"/>
                </a:lnTo>
                <a:lnTo>
                  <a:pt x="1677047" y="241299"/>
                </a:lnTo>
                <a:lnTo>
                  <a:pt x="1740489" y="222249"/>
                </a:lnTo>
                <a:lnTo>
                  <a:pt x="1753031" y="217169"/>
                </a:lnTo>
                <a:lnTo>
                  <a:pt x="1765522" y="213359"/>
                </a:lnTo>
                <a:lnTo>
                  <a:pt x="1777959" y="208279"/>
                </a:lnTo>
                <a:lnTo>
                  <a:pt x="1790337" y="204469"/>
                </a:lnTo>
                <a:lnTo>
                  <a:pt x="1851318" y="179069"/>
                </a:lnTo>
                <a:lnTo>
                  <a:pt x="1863319" y="172719"/>
                </a:lnTo>
                <a:lnTo>
                  <a:pt x="1875251" y="167639"/>
                </a:lnTo>
                <a:lnTo>
                  <a:pt x="1898896" y="154939"/>
                </a:lnTo>
                <a:lnTo>
                  <a:pt x="1956675" y="123189"/>
                </a:lnTo>
                <a:lnTo>
                  <a:pt x="1967987" y="115569"/>
                </a:lnTo>
                <a:lnTo>
                  <a:pt x="1979213" y="109219"/>
                </a:lnTo>
                <a:lnTo>
                  <a:pt x="1990352" y="101599"/>
                </a:lnTo>
                <a:lnTo>
                  <a:pt x="2001404" y="95249"/>
                </a:lnTo>
                <a:lnTo>
                  <a:pt x="2012366" y="87629"/>
                </a:lnTo>
                <a:lnTo>
                  <a:pt x="2044690" y="64769"/>
                </a:lnTo>
                <a:lnTo>
                  <a:pt x="2055274" y="55879"/>
                </a:lnTo>
                <a:lnTo>
                  <a:pt x="2065758" y="48259"/>
                </a:lnTo>
                <a:lnTo>
                  <a:pt x="2076143" y="39369"/>
                </a:lnTo>
                <a:lnTo>
                  <a:pt x="2086427" y="31749"/>
                </a:lnTo>
                <a:lnTo>
                  <a:pt x="2106684" y="13969"/>
                </a:lnTo>
                <a:lnTo>
                  <a:pt x="2116653" y="6349"/>
                </a:lnTo>
                <a:lnTo>
                  <a:pt x="2123910" y="0"/>
                </a:lnTo>
                <a:lnTo>
                  <a:pt x="2176940" y="0"/>
                </a:lnTo>
                <a:lnTo>
                  <a:pt x="2170920" y="5079"/>
                </a:lnTo>
                <a:lnTo>
                  <a:pt x="2160954" y="13969"/>
                </a:lnTo>
                <a:lnTo>
                  <a:pt x="2150873" y="24129"/>
                </a:lnTo>
                <a:lnTo>
                  <a:pt x="2130375" y="41909"/>
                </a:lnTo>
                <a:lnTo>
                  <a:pt x="2109439" y="59689"/>
                </a:lnTo>
                <a:lnTo>
                  <a:pt x="2098810" y="68579"/>
                </a:lnTo>
                <a:lnTo>
                  <a:pt x="2088078" y="76199"/>
                </a:lnTo>
                <a:lnTo>
                  <a:pt x="2077243" y="85089"/>
                </a:lnTo>
                <a:lnTo>
                  <a:pt x="2066304" y="92709"/>
                </a:lnTo>
                <a:lnTo>
                  <a:pt x="2055266" y="101599"/>
                </a:lnTo>
                <a:lnTo>
                  <a:pt x="2021571" y="124459"/>
                </a:lnTo>
                <a:lnTo>
                  <a:pt x="1987038" y="147319"/>
                </a:lnTo>
                <a:lnTo>
                  <a:pt x="1975347" y="153669"/>
                </a:lnTo>
                <a:lnTo>
                  <a:pt x="1963570" y="161289"/>
                </a:lnTo>
                <a:lnTo>
                  <a:pt x="1939769" y="173989"/>
                </a:lnTo>
                <a:lnTo>
                  <a:pt x="1927744" y="181609"/>
                </a:lnTo>
                <a:lnTo>
                  <a:pt x="1915640" y="187959"/>
                </a:lnTo>
                <a:lnTo>
                  <a:pt x="1903460" y="193039"/>
                </a:lnTo>
                <a:lnTo>
                  <a:pt x="1878875" y="205739"/>
                </a:lnTo>
                <a:lnTo>
                  <a:pt x="1866473" y="210819"/>
                </a:lnTo>
                <a:lnTo>
                  <a:pt x="1854002" y="217169"/>
                </a:lnTo>
                <a:lnTo>
                  <a:pt x="1764905" y="252729"/>
                </a:lnTo>
                <a:lnTo>
                  <a:pt x="1725864" y="264159"/>
                </a:lnTo>
                <a:lnTo>
                  <a:pt x="1712748" y="269239"/>
                </a:lnTo>
                <a:lnTo>
                  <a:pt x="1699588" y="273049"/>
                </a:lnTo>
                <a:lnTo>
                  <a:pt x="1686383" y="275589"/>
                </a:lnTo>
                <a:lnTo>
                  <a:pt x="1681960" y="276859"/>
                </a:lnTo>
                <a:close/>
              </a:path>
              <a:path w="3093720" h="1069340">
                <a:moveTo>
                  <a:pt x="1736363" y="654049"/>
                </a:moveTo>
                <a:lnTo>
                  <a:pt x="1450274" y="654049"/>
                </a:lnTo>
                <a:lnTo>
                  <a:pt x="1497905" y="651509"/>
                </a:lnTo>
                <a:lnTo>
                  <a:pt x="1545129" y="647699"/>
                </a:lnTo>
                <a:lnTo>
                  <a:pt x="1591921" y="642619"/>
                </a:lnTo>
                <a:lnTo>
                  <a:pt x="1684111" y="627379"/>
                </a:lnTo>
                <a:lnTo>
                  <a:pt x="1774283" y="607059"/>
                </a:lnTo>
                <a:lnTo>
                  <a:pt x="1818552" y="594359"/>
                </a:lnTo>
                <a:lnTo>
                  <a:pt x="1862243" y="580389"/>
                </a:lnTo>
                <a:lnTo>
                  <a:pt x="1905333" y="565149"/>
                </a:lnTo>
                <a:lnTo>
                  <a:pt x="1947797" y="548639"/>
                </a:lnTo>
                <a:lnTo>
                  <a:pt x="1989612" y="530859"/>
                </a:lnTo>
                <a:lnTo>
                  <a:pt x="2030753" y="511809"/>
                </a:lnTo>
                <a:lnTo>
                  <a:pt x="2071196" y="491489"/>
                </a:lnTo>
                <a:lnTo>
                  <a:pt x="2110917" y="469899"/>
                </a:lnTo>
                <a:lnTo>
                  <a:pt x="2149891" y="448309"/>
                </a:lnTo>
                <a:lnTo>
                  <a:pt x="2188095" y="424179"/>
                </a:lnTo>
                <a:lnTo>
                  <a:pt x="2225504" y="398779"/>
                </a:lnTo>
                <a:lnTo>
                  <a:pt x="2262094" y="373379"/>
                </a:lnTo>
                <a:lnTo>
                  <a:pt x="2297840" y="346709"/>
                </a:lnTo>
                <a:lnTo>
                  <a:pt x="2332720" y="317499"/>
                </a:lnTo>
                <a:lnTo>
                  <a:pt x="2366708" y="288289"/>
                </a:lnTo>
                <a:lnTo>
                  <a:pt x="2399781" y="259079"/>
                </a:lnTo>
                <a:lnTo>
                  <a:pt x="2431913" y="227329"/>
                </a:lnTo>
                <a:lnTo>
                  <a:pt x="2463082" y="195579"/>
                </a:lnTo>
                <a:lnTo>
                  <a:pt x="2493263" y="162559"/>
                </a:lnTo>
                <a:lnTo>
                  <a:pt x="2522431" y="128269"/>
                </a:lnTo>
                <a:lnTo>
                  <a:pt x="2550563" y="93979"/>
                </a:lnTo>
                <a:lnTo>
                  <a:pt x="2603620" y="21589"/>
                </a:lnTo>
                <a:lnTo>
                  <a:pt x="2618017" y="0"/>
                </a:lnTo>
                <a:lnTo>
                  <a:pt x="2661899" y="0"/>
                </a:lnTo>
                <a:lnTo>
                  <a:pt x="2617846" y="64769"/>
                </a:lnTo>
                <a:lnTo>
                  <a:pt x="2591071" y="101599"/>
                </a:lnTo>
                <a:lnTo>
                  <a:pt x="2534379" y="171449"/>
                </a:lnTo>
                <a:lnTo>
                  <a:pt x="2504509" y="204469"/>
                </a:lnTo>
                <a:lnTo>
                  <a:pt x="2473654" y="237489"/>
                </a:lnTo>
                <a:lnTo>
                  <a:pt x="2441837" y="269239"/>
                </a:lnTo>
                <a:lnTo>
                  <a:pt x="2409082" y="299719"/>
                </a:lnTo>
                <a:lnTo>
                  <a:pt x="2375413" y="330199"/>
                </a:lnTo>
                <a:lnTo>
                  <a:pt x="2340852" y="359409"/>
                </a:lnTo>
                <a:lnTo>
                  <a:pt x="2305423" y="386079"/>
                </a:lnTo>
                <a:lnTo>
                  <a:pt x="2269149" y="414019"/>
                </a:lnTo>
                <a:lnTo>
                  <a:pt x="2232053" y="439419"/>
                </a:lnTo>
                <a:lnTo>
                  <a:pt x="2194160" y="463549"/>
                </a:lnTo>
                <a:lnTo>
                  <a:pt x="2155492" y="487679"/>
                </a:lnTo>
                <a:lnTo>
                  <a:pt x="2075926" y="530859"/>
                </a:lnTo>
                <a:lnTo>
                  <a:pt x="2035074" y="551179"/>
                </a:lnTo>
                <a:lnTo>
                  <a:pt x="1951351" y="586739"/>
                </a:lnTo>
                <a:lnTo>
                  <a:pt x="1908526" y="603249"/>
                </a:lnTo>
                <a:lnTo>
                  <a:pt x="1865090" y="618489"/>
                </a:lnTo>
                <a:lnTo>
                  <a:pt x="1776478" y="643889"/>
                </a:lnTo>
                <a:lnTo>
                  <a:pt x="1736363" y="654049"/>
                </a:lnTo>
                <a:close/>
              </a:path>
              <a:path w="3093720" h="1069340">
                <a:moveTo>
                  <a:pt x="1772448" y="1032509"/>
                </a:moveTo>
                <a:lnTo>
                  <a:pt x="1450296" y="1032509"/>
                </a:lnTo>
                <a:lnTo>
                  <a:pt x="1545455" y="1027429"/>
                </a:lnTo>
                <a:lnTo>
                  <a:pt x="1592546" y="1023619"/>
                </a:lnTo>
                <a:lnTo>
                  <a:pt x="1685675" y="1010919"/>
                </a:lnTo>
                <a:lnTo>
                  <a:pt x="1731682" y="1003299"/>
                </a:lnTo>
                <a:lnTo>
                  <a:pt x="1777297" y="994409"/>
                </a:lnTo>
                <a:lnTo>
                  <a:pt x="1822505" y="984249"/>
                </a:lnTo>
                <a:lnTo>
                  <a:pt x="1911639" y="961389"/>
                </a:lnTo>
                <a:lnTo>
                  <a:pt x="1998962" y="933449"/>
                </a:lnTo>
                <a:lnTo>
                  <a:pt x="2041906" y="918209"/>
                </a:lnTo>
                <a:lnTo>
                  <a:pt x="2084353" y="901699"/>
                </a:lnTo>
                <a:lnTo>
                  <a:pt x="2126285" y="883919"/>
                </a:lnTo>
                <a:lnTo>
                  <a:pt x="2208548" y="845819"/>
                </a:lnTo>
                <a:lnTo>
                  <a:pt x="2248849" y="825499"/>
                </a:lnTo>
                <a:lnTo>
                  <a:pt x="2327711" y="782319"/>
                </a:lnTo>
                <a:lnTo>
                  <a:pt x="2366242" y="758189"/>
                </a:lnTo>
                <a:lnTo>
                  <a:pt x="2404153" y="734059"/>
                </a:lnTo>
                <a:lnTo>
                  <a:pt x="2441429" y="709929"/>
                </a:lnTo>
                <a:lnTo>
                  <a:pt x="2478053" y="683259"/>
                </a:lnTo>
                <a:lnTo>
                  <a:pt x="2514013" y="656589"/>
                </a:lnTo>
                <a:lnTo>
                  <a:pt x="2549291" y="628649"/>
                </a:lnTo>
                <a:lnTo>
                  <a:pt x="2583872" y="600709"/>
                </a:lnTo>
                <a:lnTo>
                  <a:pt x="2617743" y="571499"/>
                </a:lnTo>
                <a:lnTo>
                  <a:pt x="2650886" y="541019"/>
                </a:lnTo>
                <a:lnTo>
                  <a:pt x="2683288" y="510539"/>
                </a:lnTo>
                <a:lnTo>
                  <a:pt x="2714932" y="478789"/>
                </a:lnTo>
                <a:lnTo>
                  <a:pt x="2745804" y="447039"/>
                </a:lnTo>
                <a:lnTo>
                  <a:pt x="2775888" y="412749"/>
                </a:lnTo>
                <a:lnTo>
                  <a:pt x="2805169" y="379729"/>
                </a:lnTo>
                <a:lnTo>
                  <a:pt x="2833633" y="345439"/>
                </a:lnTo>
                <a:lnTo>
                  <a:pt x="2861262" y="309879"/>
                </a:lnTo>
                <a:lnTo>
                  <a:pt x="2913961" y="237489"/>
                </a:lnTo>
                <a:lnTo>
                  <a:pt x="2939000" y="199389"/>
                </a:lnTo>
                <a:lnTo>
                  <a:pt x="2963144" y="161289"/>
                </a:lnTo>
                <a:lnTo>
                  <a:pt x="2986379" y="123189"/>
                </a:lnTo>
                <a:lnTo>
                  <a:pt x="3008690" y="83819"/>
                </a:lnTo>
                <a:lnTo>
                  <a:pt x="3030060" y="44449"/>
                </a:lnTo>
                <a:lnTo>
                  <a:pt x="3050475" y="3809"/>
                </a:lnTo>
                <a:lnTo>
                  <a:pt x="3052729" y="0"/>
                </a:lnTo>
                <a:lnTo>
                  <a:pt x="3093467" y="0"/>
                </a:lnTo>
                <a:lnTo>
                  <a:pt x="3089149" y="8889"/>
                </a:lnTo>
                <a:lnTo>
                  <a:pt x="3068930" y="49529"/>
                </a:lnTo>
                <a:lnTo>
                  <a:pt x="3047762" y="88899"/>
                </a:lnTo>
                <a:lnTo>
                  <a:pt x="3025660" y="128269"/>
                </a:lnTo>
                <a:lnTo>
                  <a:pt x="3002640" y="167639"/>
                </a:lnTo>
                <a:lnTo>
                  <a:pt x="2978715" y="205739"/>
                </a:lnTo>
                <a:lnTo>
                  <a:pt x="2953902" y="243839"/>
                </a:lnTo>
                <a:lnTo>
                  <a:pt x="2928213" y="280669"/>
                </a:lnTo>
                <a:lnTo>
                  <a:pt x="2901665" y="317499"/>
                </a:lnTo>
                <a:lnTo>
                  <a:pt x="2874273" y="353059"/>
                </a:lnTo>
                <a:lnTo>
                  <a:pt x="2846050" y="387349"/>
                </a:lnTo>
                <a:lnTo>
                  <a:pt x="2817012" y="421639"/>
                </a:lnTo>
                <a:lnTo>
                  <a:pt x="2787174" y="455929"/>
                </a:lnTo>
                <a:lnTo>
                  <a:pt x="2756550" y="488949"/>
                </a:lnTo>
                <a:lnTo>
                  <a:pt x="2725156" y="520699"/>
                </a:lnTo>
                <a:lnTo>
                  <a:pt x="2693006" y="552449"/>
                </a:lnTo>
                <a:lnTo>
                  <a:pt x="2660114" y="582929"/>
                </a:lnTo>
                <a:lnTo>
                  <a:pt x="2626497" y="612139"/>
                </a:lnTo>
                <a:lnTo>
                  <a:pt x="2592167" y="641349"/>
                </a:lnTo>
                <a:lnTo>
                  <a:pt x="2557142" y="669289"/>
                </a:lnTo>
                <a:lnTo>
                  <a:pt x="2521434" y="697229"/>
                </a:lnTo>
                <a:lnTo>
                  <a:pt x="2485059" y="723899"/>
                </a:lnTo>
                <a:lnTo>
                  <a:pt x="2448033" y="749299"/>
                </a:lnTo>
                <a:lnTo>
                  <a:pt x="2410369" y="774699"/>
                </a:lnTo>
                <a:lnTo>
                  <a:pt x="2372082" y="798829"/>
                </a:lnTo>
                <a:lnTo>
                  <a:pt x="2333188" y="821689"/>
                </a:lnTo>
                <a:lnTo>
                  <a:pt x="2253635" y="864869"/>
                </a:lnTo>
                <a:lnTo>
                  <a:pt x="2213006" y="885189"/>
                </a:lnTo>
                <a:lnTo>
                  <a:pt x="2171829" y="904239"/>
                </a:lnTo>
                <a:lnTo>
                  <a:pt x="2087888" y="939799"/>
                </a:lnTo>
                <a:lnTo>
                  <a:pt x="2045155" y="956309"/>
                </a:lnTo>
                <a:lnTo>
                  <a:pt x="2001932" y="971549"/>
                </a:lnTo>
                <a:lnTo>
                  <a:pt x="1958234" y="985519"/>
                </a:lnTo>
                <a:lnTo>
                  <a:pt x="1869476" y="1010919"/>
                </a:lnTo>
                <a:lnTo>
                  <a:pt x="1778998" y="1031239"/>
                </a:lnTo>
                <a:lnTo>
                  <a:pt x="1772448" y="1032509"/>
                </a:lnTo>
                <a:close/>
              </a:path>
              <a:path w="3093720" h="1069340">
                <a:moveTo>
                  <a:pt x="1443294" y="312419"/>
                </a:moveTo>
                <a:lnTo>
                  <a:pt x="1361204" y="312419"/>
                </a:lnTo>
                <a:lnTo>
                  <a:pt x="1347527" y="311149"/>
                </a:lnTo>
                <a:lnTo>
                  <a:pt x="1456964" y="311149"/>
                </a:lnTo>
                <a:lnTo>
                  <a:pt x="1443294" y="312419"/>
                </a:lnTo>
                <a:close/>
              </a:path>
              <a:path w="3093720" h="1069340">
                <a:moveTo>
                  <a:pt x="1450492" y="1069339"/>
                </a:moveTo>
                <a:lnTo>
                  <a:pt x="1354020" y="1069339"/>
                </a:lnTo>
                <a:lnTo>
                  <a:pt x="1258448" y="1064259"/>
                </a:lnTo>
                <a:lnTo>
                  <a:pt x="1211144" y="1060449"/>
                </a:lnTo>
                <a:lnTo>
                  <a:pt x="1117574" y="1047749"/>
                </a:lnTo>
                <a:lnTo>
                  <a:pt x="1071338" y="1040129"/>
                </a:lnTo>
                <a:lnTo>
                  <a:pt x="1025488" y="1031239"/>
                </a:lnTo>
                <a:lnTo>
                  <a:pt x="935004" y="1010919"/>
                </a:lnTo>
                <a:lnTo>
                  <a:pt x="846239" y="985519"/>
                </a:lnTo>
                <a:lnTo>
                  <a:pt x="802539" y="971549"/>
                </a:lnTo>
                <a:lnTo>
                  <a:pt x="759313" y="956309"/>
                </a:lnTo>
                <a:lnTo>
                  <a:pt x="716577" y="939799"/>
                </a:lnTo>
                <a:lnTo>
                  <a:pt x="632632" y="904239"/>
                </a:lnTo>
                <a:lnTo>
                  <a:pt x="591452" y="885189"/>
                </a:lnTo>
                <a:lnTo>
                  <a:pt x="550822" y="864869"/>
                </a:lnTo>
                <a:lnTo>
                  <a:pt x="471265" y="821689"/>
                </a:lnTo>
                <a:lnTo>
                  <a:pt x="432368" y="797559"/>
                </a:lnTo>
                <a:lnTo>
                  <a:pt x="394080" y="774699"/>
                </a:lnTo>
                <a:lnTo>
                  <a:pt x="356414" y="749299"/>
                </a:lnTo>
                <a:lnTo>
                  <a:pt x="319386" y="723899"/>
                </a:lnTo>
                <a:lnTo>
                  <a:pt x="283009" y="697229"/>
                </a:lnTo>
                <a:lnTo>
                  <a:pt x="247300" y="669289"/>
                </a:lnTo>
                <a:lnTo>
                  <a:pt x="212273" y="641349"/>
                </a:lnTo>
                <a:lnTo>
                  <a:pt x="177943" y="612139"/>
                </a:lnTo>
                <a:lnTo>
                  <a:pt x="144324" y="582929"/>
                </a:lnTo>
                <a:lnTo>
                  <a:pt x="111431" y="552449"/>
                </a:lnTo>
                <a:lnTo>
                  <a:pt x="79280" y="520699"/>
                </a:lnTo>
                <a:lnTo>
                  <a:pt x="47884" y="488949"/>
                </a:lnTo>
                <a:lnTo>
                  <a:pt x="17260" y="455929"/>
                </a:lnTo>
                <a:lnTo>
                  <a:pt x="0" y="435609"/>
                </a:lnTo>
                <a:lnTo>
                  <a:pt x="0" y="379729"/>
                </a:lnTo>
                <a:lnTo>
                  <a:pt x="28577" y="412749"/>
                </a:lnTo>
                <a:lnTo>
                  <a:pt x="58663" y="447039"/>
                </a:lnTo>
                <a:lnTo>
                  <a:pt x="89537" y="478789"/>
                </a:lnTo>
                <a:lnTo>
                  <a:pt x="121184" y="510539"/>
                </a:lnTo>
                <a:lnTo>
                  <a:pt x="153588" y="541019"/>
                </a:lnTo>
                <a:lnTo>
                  <a:pt x="186733" y="571499"/>
                </a:lnTo>
                <a:lnTo>
                  <a:pt x="220606" y="600709"/>
                </a:lnTo>
                <a:lnTo>
                  <a:pt x="255189" y="628649"/>
                </a:lnTo>
                <a:lnTo>
                  <a:pt x="290470" y="656589"/>
                </a:lnTo>
                <a:lnTo>
                  <a:pt x="326431" y="683259"/>
                </a:lnTo>
                <a:lnTo>
                  <a:pt x="363058" y="709929"/>
                </a:lnTo>
                <a:lnTo>
                  <a:pt x="400336" y="734059"/>
                </a:lnTo>
                <a:lnTo>
                  <a:pt x="438249" y="758189"/>
                </a:lnTo>
                <a:lnTo>
                  <a:pt x="476782" y="782319"/>
                </a:lnTo>
                <a:lnTo>
                  <a:pt x="555647" y="825499"/>
                </a:lnTo>
                <a:lnTo>
                  <a:pt x="595950" y="845819"/>
                </a:lnTo>
                <a:lnTo>
                  <a:pt x="678216" y="883919"/>
                </a:lnTo>
                <a:lnTo>
                  <a:pt x="720151" y="901699"/>
                </a:lnTo>
                <a:lnTo>
                  <a:pt x="762598" y="918209"/>
                </a:lnTo>
                <a:lnTo>
                  <a:pt x="805544" y="933449"/>
                </a:lnTo>
                <a:lnTo>
                  <a:pt x="892870" y="961389"/>
                </a:lnTo>
                <a:lnTo>
                  <a:pt x="982007" y="984249"/>
                </a:lnTo>
                <a:lnTo>
                  <a:pt x="1027216" y="994409"/>
                </a:lnTo>
                <a:lnTo>
                  <a:pt x="1072832" y="1003299"/>
                </a:lnTo>
                <a:lnTo>
                  <a:pt x="1118839" y="1010919"/>
                </a:lnTo>
                <a:lnTo>
                  <a:pt x="1211969" y="1023619"/>
                </a:lnTo>
                <a:lnTo>
                  <a:pt x="1259060" y="1027429"/>
                </a:lnTo>
                <a:lnTo>
                  <a:pt x="1354220" y="1032509"/>
                </a:lnTo>
                <a:lnTo>
                  <a:pt x="1772448" y="1032509"/>
                </a:lnTo>
                <a:lnTo>
                  <a:pt x="1733151" y="1040129"/>
                </a:lnTo>
                <a:lnTo>
                  <a:pt x="1686918" y="1047749"/>
                </a:lnTo>
                <a:lnTo>
                  <a:pt x="1593356" y="1060449"/>
                </a:lnTo>
                <a:lnTo>
                  <a:pt x="1546056" y="1064259"/>
                </a:lnTo>
                <a:lnTo>
                  <a:pt x="1450492" y="1069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7704" y="3224579"/>
            <a:ext cx="18289905" cy="3458845"/>
            <a:chOff x="17704" y="3224579"/>
            <a:chExt cx="18289905" cy="3458845"/>
          </a:xfrm>
        </p:grpSpPr>
        <p:sp>
          <p:nvSpPr>
            <p:cNvPr id="10" name="object 10" descr=""/>
            <p:cNvSpPr/>
            <p:nvPr/>
          </p:nvSpPr>
          <p:spPr>
            <a:xfrm>
              <a:off x="36754" y="3243629"/>
              <a:ext cx="14403069" cy="2412365"/>
            </a:xfrm>
            <a:custGeom>
              <a:avLst/>
              <a:gdLst/>
              <a:ahLst/>
              <a:cxnLst/>
              <a:rect l="l" t="t" r="r" b="b"/>
              <a:pathLst>
                <a:path w="14403069" h="2412365">
                  <a:moveTo>
                    <a:pt x="0" y="0"/>
                  </a:moveTo>
                  <a:lnTo>
                    <a:pt x="14174230" y="0"/>
                  </a:lnTo>
                  <a:lnTo>
                    <a:pt x="14220300" y="4644"/>
                  </a:lnTo>
                  <a:lnTo>
                    <a:pt x="14263211" y="17964"/>
                  </a:lnTo>
                  <a:lnTo>
                    <a:pt x="14302042" y="39041"/>
                  </a:lnTo>
                  <a:lnTo>
                    <a:pt x="14335874" y="66955"/>
                  </a:lnTo>
                  <a:lnTo>
                    <a:pt x="14363788" y="100787"/>
                  </a:lnTo>
                  <a:lnTo>
                    <a:pt x="14384865" y="139618"/>
                  </a:lnTo>
                  <a:lnTo>
                    <a:pt x="14398185" y="182529"/>
                  </a:lnTo>
                  <a:lnTo>
                    <a:pt x="14402830" y="228599"/>
                  </a:lnTo>
                  <a:lnTo>
                    <a:pt x="14402830" y="2412253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75013" y="3982658"/>
              <a:ext cx="14213205" cy="2681605"/>
            </a:xfrm>
            <a:custGeom>
              <a:avLst/>
              <a:gdLst/>
              <a:ahLst/>
              <a:cxnLst/>
              <a:rect l="l" t="t" r="r" b="b"/>
              <a:pathLst>
                <a:path w="14213205" h="2681604">
                  <a:moveTo>
                    <a:pt x="0" y="0"/>
                  </a:moveTo>
                  <a:lnTo>
                    <a:pt x="0" y="2452698"/>
                  </a:lnTo>
                  <a:lnTo>
                    <a:pt x="4644" y="2498769"/>
                  </a:lnTo>
                  <a:lnTo>
                    <a:pt x="17964" y="2541679"/>
                  </a:lnTo>
                  <a:lnTo>
                    <a:pt x="39041" y="2580510"/>
                  </a:lnTo>
                  <a:lnTo>
                    <a:pt x="66955" y="2614343"/>
                  </a:lnTo>
                  <a:lnTo>
                    <a:pt x="100787" y="2642257"/>
                  </a:lnTo>
                  <a:lnTo>
                    <a:pt x="139618" y="2663333"/>
                  </a:lnTo>
                  <a:lnTo>
                    <a:pt x="182529" y="2676654"/>
                  </a:lnTo>
                  <a:lnTo>
                    <a:pt x="228599" y="2681298"/>
                  </a:lnTo>
                  <a:lnTo>
                    <a:pt x="14212985" y="268129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tharun kunamalla</dc:creator>
  <cp:keywords>DAHGGLgRZZg,BAG-BvW16Yg,0</cp:keywords>
  <dc:title>Hate Speech Detection &amp; Analysis in Healthcare</dc:title>
  <dcterms:created xsi:type="dcterms:W3CDTF">2026-04-07T11:32:55Z</dcterms:created>
  <dcterms:modified xsi:type="dcterms:W3CDTF">2026-04-07T11:32:55Z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2026-04-07T00:00:00Z</vt:filetime>
  </property>
  <property fmtid="{D5CDD505-2E9C-101B-9397-08002B2CF9AE}" pid="5" name="Producer">
    <vt:lpwstr>Canva</vt:lpwstr>
  </property>
</Properties>
</file>